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42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</p:sldIdLst>
  <p:sldSz cx="18288000" cy="10287000"/>
  <p:notesSz cx="6858000" cy="9144000"/>
  <p:embeddedFontLst>
    <p:embeddedFont>
      <p:font typeface="Arial Bold" charset="1" panose="020B0704020202020204"/>
      <p:regular r:id="rId45"/>
    </p:embeddedFont>
    <p:embeddedFont>
      <p:font typeface="Arial" charset="1" panose="020B0604020202020204"/>
      <p:regular r:id="rId46"/>
    </p:embeddedFont>
    <p:embeddedFont>
      <p:font typeface="Poppins Bold" charset="1" panose="00000800000000000000"/>
      <p:regular r:id="rId47"/>
    </p:embeddedFont>
    <p:embeddedFont>
      <p:font typeface="Poppins" charset="1" panose="00000500000000000000"/>
      <p:regular r:id="rId48"/>
    </p:embeddedFont>
    <p:embeddedFont>
      <p:font typeface="Open Sans" charset="1" panose="020B0606030504020204"/>
      <p:regular r:id="rId49"/>
    </p:embeddedFont>
    <p:embeddedFont>
      <p:font typeface="Open Sans Bold" charset="1" panose="020B0806030504020204"/>
      <p:regular r:id="rId50"/>
    </p:embeddedFont>
    <p:embeddedFont>
      <p:font typeface="Archivo Black" charset="1" panose="020B0A03020202020B04"/>
      <p:regular r:id="rId51"/>
    </p:embeddedFont>
    <p:embeddedFont>
      <p:font typeface="Glacial Indifference Bold" charset="1" panose="00000800000000000000"/>
      <p:regular r:id="rId5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notesMasters/notesMaster1.xml" Type="http://schemas.openxmlformats.org/officeDocument/2006/relationships/notesMaster"/><Relationship Id="rId43" Target="theme/theme2.xml" Type="http://schemas.openxmlformats.org/officeDocument/2006/relationships/theme"/><Relationship Id="rId44" Target="notesSlides/notesSlide1.xml" Type="http://schemas.openxmlformats.org/officeDocument/2006/relationships/notesSlide"/><Relationship Id="rId45" Target="fonts/font45.fntdata" Type="http://schemas.openxmlformats.org/officeDocument/2006/relationships/font"/><Relationship Id="rId46" Target="fonts/font46.fntdata" Type="http://schemas.openxmlformats.org/officeDocument/2006/relationships/font"/><Relationship Id="rId47" Target="fonts/font47.fntdata" Type="http://schemas.openxmlformats.org/officeDocument/2006/relationships/font"/><Relationship Id="rId48" Target="fonts/font48.fntdata" Type="http://schemas.openxmlformats.org/officeDocument/2006/relationships/font"/><Relationship Id="rId49" Target="fonts/font49.fntdata" Type="http://schemas.openxmlformats.org/officeDocument/2006/relationships/font"/><Relationship Id="rId5" Target="tableStyles.xml" Type="http://schemas.openxmlformats.org/officeDocument/2006/relationships/tableStyles"/><Relationship Id="rId50" Target="fonts/font50.fntdata" Type="http://schemas.openxmlformats.org/officeDocument/2006/relationships/font"/><Relationship Id="rId51" Target="fonts/font51.fntdata" Type="http://schemas.openxmlformats.org/officeDocument/2006/relationships/font"/><Relationship Id="rId52" Target="fonts/font52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3.jpeg" Type="http://schemas.openxmlformats.org/officeDocument/2006/relationships/image"/><Relationship Id="rId4" Target="../media/image4.jpe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jpeg" Type="http://schemas.openxmlformats.org/officeDocument/2006/relationships/image"/><Relationship Id="rId8" Target="../media/image8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jpeg" Type="http://schemas.openxmlformats.org/officeDocument/2006/relationships/image"/><Relationship Id="rId11" Target="../media/image17.png" Type="http://schemas.openxmlformats.org/officeDocument/2006/relationships/image"/><Relationship Id="rId12" Target="../media/image6.png" Type="http://schemas.openxmlformats.org/officeDocument/2006/relationships/image"/><Relationship Id="rId2" Target="../media/image5.png" Type="http://schemas.openxmlformats.org/officeDocument/2006/relationships/image"/><Relationship Id="rId3" Target="../media/image9.jpeg" Type="http://schemas.openxmlformats.org/officeDocument/2006/relationships/image"/><Relationship Id="rId4" Target="../media/image10.jpe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13.jpe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18.png" Type="http://schemas.openxmlformats.org/officeDocument/2006/relationships/image"/><Relationship Id="rId5" Target="../media/image19.svg" Type="http://schemas.openxmlformats.org/officeDocument/2006/relationships/image"/><Relationship Id="rId6" Target="../media/image20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2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22.png" Type="http://schemas.openxmlformats.org/officeDocument/2006/relationships/image"/><Relationship Id="rId5" Target="../media/image23.svg" Type="http://schemas.openxmlformats.org/officeDocument/2006/relationships/image"/><Relationship Id="rId6" Target="../media/image24.png" Type="http://schemas.openxmlformats.org/officeDocument/2006/relationships/image"/><Relationship Id="rId7" Target="../media/image25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4.png" Type="http://schemas.openxmlformats.org/officeDocument/2006/relationships/image"/><Relationship Id="rId11" Target="../media/image35.svg" Type="http://schemas.openxmlformats.org/officeDocument/2006/relationships/image"/><Relationship Id="rId12" Target="../media/image6.png" Type="http://schemas.openxmlformats.org/officeDocument/2006/relationships/image"/><Relationship Id="rId2" Target="../media/image26.png" Type="http://schemas.openxmlformats.org/officeDocument/2006/relationships/image"/><Relationship Id="rId3" Target="../media/image27.png" Type="http://schemas.openxmlformats.org/officeDocument/2006/relationships/image"/><Relationship Id="rId4" Target="../media/image28.png" Type="http://schemas.openxmlformats.org/officeDocument/2006/relationships/image"/><Relationship Id="rId5" Target="../media/image29.svg" Type="http://schemas.openxmlformats.org/officeDocument/2006/relationships/image"/><Relationship Id="rId6" Target="../media/image30.png" Type="http://schemas.openxmlformats.org/officeDocument/2006/relationships/image"/><Relationship Id="rId7" Target="../media/image31.svg" Type="http://schemas.openxmlformats.org/officeDocument/2006/relationships/image"/><Relationship Id="rId8" Target="../media/image32.png" Type="http://schemas.openxmlformats.org/officeDocument/2006/relationships/image"/><Relationship Id="rId9" Target="../media/image33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36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5.png" Type="http://schemas.openxmlformats.org/officeDocument/2006/relationships/image"/><Relationship Id="rId11" Target="../media/image46.svg" Type="http://schemas.openxmlformats.org/officeDocument/2006/relationships/image"/><Relationship Id="rId12" Target="../media/image47.png" Type="http://schemas.openxmlformats.org/officeDocument/2006/relationships/image"/><Relationship Id="rId13" Target="../media/image48.svg" Type="http://schemas.openxmlformats.org/officeDocument/2006/relationships/image"/><Relationship Id="rId14" Target="../media/image49.png" Type="http://schemas.openxmlformats.org/officeDocument/2006/relationships/image"/><Relationship Id="rId15" Target="../media/image50.svg" Type="http://schemas.openxmlformats.org/officeDocument/2006/relationships/image"/><Relationship Id="rId16" Target="../media/image51.png" Type="http://schemas.openxmlformats.org/officeDocument/2006/relationships/image"/><Relationship Id="rId17" Target="../media/image52.svg" Type="http://schemas.openxmlformats.org/officeDocument/2006/relationships/image"/><Relationship Id="rId18" Target="../media/image53.png" Type="http://schemas.openxmlformats.org/officeDocument/2006/relationships/image"/><Relationship Id="rId19" Target="../media/image54.svg" Type="http://schemas.openxmlformats.org/officeDocument/2006/relationships/image"/><Relationship Id="rId2" Target="../media/image37.png" Type="http://schemas.openxmlformats.org/officeDocument/2006/relationships/image"/><Relationship Id="rId20" Target="../media/image6.png" Type="http://schemas.openxmlformats.org/officeDocument/2006/relationships/image"/><Relationship Id="rId3" Target="../media/image38.svg" Type="http://schemas.openxmlformats.org/officeDocument/2006/relationships/image"/><Relationship Id="rId4" Target="../media/image39.png" Type="http://schemas.openxmlformats.org/officeDocument/2006/relationships/image"/><Relationship Id="rId5" Target="../media/image40.svg" Type="http://schemas.openxmlformats.org/officeDocument/2006/relationships/image"/><Relationship Id="rId6" Target="../media/image41.png" Type="http://schemas.openxmlformats.org/officeDocument/2006/relationships/image"/><Relationship Id="rId7" Target="../media/image42.svg" Type="http://schemas.openxmlformats.org/officeDocument/2006/relationships/image"/><Relationship Id="rId8" Target="../media/image43.png" Type="http://schemas.openxmlformats.org/officeDocument/2006/relationships/image"/><Relationship Id="rId9" Target="../media/image44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5.png" Type="http://schemas.openxmlformats.org/officeDocument/2006/relationships/image"/><Relationship Id="rId3" Target="../media/image26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56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57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58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59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60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6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62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63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64.png" Type="http://schemas.openxmlformats.org/officeDocument/2006/relationships/image"/><Relationship Id="rId5" Target="../media/image65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66.png" Type="http://schemas.openxmlformats.org/officeDocument/2006/relationships/image"/><Relationship Id="rId5" Target="../media/image67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68.png" Type="http://schemas.openxmlformats.org/officeDocument/2006/relationships/image"/><Relationship Id="rId5" Target="../media/image69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70.png" Type="http://schemas.openxmlformats.org/officeDocument/2006/relationships/image"/><Relationship Id="rId5" Target="../media/image71.png" Type="http://schemas.openxmlformats.org/officeDocument/2006/relationships/image"/><Relationship Id="rId6" Target="../media/image72.png" Type="http://schemas.openxmlformats.org/officeDocument/2006/relationships/image"/><Relationship Id="rId7" Target="../media/image73.png" Type="http://schemas.openxmlformats.org/officeDocument/2006/relationships/image"/><Relationship Id="rId8" Target="../media/image74.png" Type="http://schemas.openxmlformats.org/officeDocument/2006/relationships/image"/><Relationship Id="rId9" Target="../media/image75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76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77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78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79.png" Type="http://schemas.openxmlformats.org/officeDocument/2006/relationships/image"/><Relationship Id="rId5" Target="../media/image80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81.pn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6.png" Type="http://schemas.openxmlformats.org/officeDocument/2006/relationships/image"/><Relationship Id="rId4" Target="../media/image82.png" Type="http://schemas.openxmlformats.org/officeDocument/2006/relationships/image"/><Relationship Id="rId5" Target="../media/image83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4.jpe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360"/>
            <a:ext cx="18285758" cy="10285737"/>
            <a:chOff x="0" y="0"/>
            <a:chExt cx="24381011" cy="1371431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0952" cy="13714349"/>
            </a:xfrm>
            <a:custGeom>
              <a:avLst/>
              <a:gdLst/>
              <a:ahLst/>
              <a:cxnLst/>
              <a:rect r="r" b="b" t="t" l="l"/>
              <a:pathLst>
                <a:path h="13714349" w="24380952">
                  <a:moveTo>
                    <a:pt x="0" y="0"/>
                  </a:moveTo>
                  <a:lnTo>
                    <a:pt x="24380952" y="0"/>
                  </a:lnTo>
                  <a:lnTo>
                    <a:pt x="24380952" y="13714349"/>
                  </a:lnTo>
                  <a:lnTo>
                    <a:pt x="0" y="137143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576660" y="8603574"/>
            <a:ext cx="8050680" cy="9505"/>
            <a:chOff x="0" y="0"/>
            <a:chExt cx="10734240" cy="126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6350" y="0"/>
              <a:ext cx="10720959" cy="12700"/>
            </a:xfrm>
            <a:custGeom>
              <a:avLst/>
              <a:gdLst/>
              <a:ahLst/>
              <a:cxnLst/>
              <a:rect r="r" b="b" t="t" l="l"/>
              <a:pathLst>
                <a:path h="12700" w="10720959">
                  <a:moveTo>
                    <a:pt x="0" y="0"/>
                  </a:moveTo>
                  <a:lnTo>
                    <a:pt x="10720959" y="0"/>
                  </a:lnTo>
                  <a:lnTo>
                    <a:pt x="10720959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3390196" y="6933831"/>
            <a:ext cx="7957869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38"/>
              </a:lnSpc>
            </a:pPr>
            <a:r>
              <a:rPr lang="en-US" b="true" sz="5865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Cordillera Pets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390196" y="8553450"/>
            <a:ext cx="7195508" cy="139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50493" indent="-125246" lvl="1">
              <a:lnSpc>
                <a:spcPts val="2739"/>
              </a:lnSpc>
              <a:buFont typeface="Arial"/>
              <a:buChar char="•"/>
            </a:pPr>
            <a:r>
              <a:rPr lang="en-US" sz="2282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Janiz Carreño</a:t>
            </a:r>
          </a:p>
          <a:p>
            <a:pPr algn="l" marL="250493" indent="-125246" lvl="1">
              <a:lnSpc>
                <a:spcPts val="2739"/>
              </a:lnSpc>
              <a:buFont typeface="Arial"/>
              <a:buChar char="•"/>
            </a:pPr>
            <a:r>
              <a:rPr lang="en-US" sz="2282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Nicolas Rocha</a:t>
            </a:r>
          </a:p>
          <a:p>
            <a:pPr algn="l" marL="250506" indent="-125253" lvl="1">
              <a:lnSpc>
                <a:spcPts val="2739"/>
              </a:lnSpc>
              <a:buFont typeface="Arial"/>
              <a:buChar char="•"/>
            </a:pPr>
            <a:r>
              <a:rPr lang="en-US" sz="2282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Carolina Sánchez</a:t>
            </a:r>
          </a:p>
          <a:p>
            <a:pPr algn="l" marL="250506" indent="-125253" lvl="1">
              <a:lnSpc>
                <a:spcPts val="2739"/>
              </a:lnSpc>
            </a:pPr>
            <a:r>
              <a:rPr lang="en-US" b="true" sz="2282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				Maipú, 18 noviembre 2025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837869" y="3150313"/>
            <a:ext cx="4262779" cy="860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48"/>
              </a:lnSpc>
            </a:pPr>
            <a:r>
              <a:rPr lang="en-US" b="true" sz="5457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CAPSTONE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-6861209" y="7752702"/>
            <a:ext cx="20763300" cy="4614067"/>
            <a:chOff x="0" y="0"/>
            <a:chExt cx="18288000" cy="4064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56876"/>
              <a:ext cx="18288000" cy="4007124"/>
            </a:xfrm>
            <a:custGeom>
              <a:avLst/>
              <a:gdLst/>
              <a:ahLst/>
              <a:cxnLst/>
              <a:rect r="r" b="b" t="t" l="l"/>
              <a:pathLst>
                <a:path h="4007124" w="18288000">
                  <a:moveTo>
                    <a:pt x="0" y="1123302"/>
                  </a:moveTo>
                  <a:cubicBezTo>
                    <a:pt x="3048000" y="1123302"/>
                    <a:pt x="3048000" y="2164503"/>
                    <a:pt x="6096000" y="2164503"/>
                  </a:cubicBezTo>
                  <a:cubicBezTo>
                    <a:pt x="9144000" y="2164503"/>
                    <a:pt x="9144000" y="0"/>
                    <a:pt x="12192000" y="0"/>
                  </a:cubicBezTo>
                  <a:cubicBezTo>
                    <a:pt x="15240000" y="0"/>
                    <a:pt x="15240000" y="1146780"/>
                    <a:pt x="18288000" y="1146780"/>
                  </a:cubicBezTo>
                  <a:lnTo>
                    <a:pt x="18288000" y="4007124"/>
                  </a:lnTo>
                  <a:lnTo>
                    <a:pt x="0" y="4007124"/>
                  </a:lnTo>
                  <a:close/>
                </a:path>
              </a:pathLst>
            </a:custGeom>
            <a:solidFill>
              <a:srgbClr val="0866FF">
                <a:alpha val="7843"/>
              </a:srgbClr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184917" y="1444917"/>
            <a:ext cx="647992" cy="647992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7259300" y="4482954"/>
            <a:ext cx="463550" cy="463550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7491075" y="869660"/>
            <a:ext cx="3088153" cy="3088153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57BE0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139470" y="1883847"/>
            <a:ext cx="2961539" cy="2961539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0" r="-33333" b="0"/>
              </a:stretch>
            </a:blipFill>
            <a:ln w="142875" cap="sq">
              <a:solidFill>
                <a:srgbClr val="257BE0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7705755" y="4610188"/>
            <a:ext cx="2961539" cy="2961539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  <a:ln w="142875" cap="sq">
              <a:solidFill>
                <a:srgbClr val="257BE0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2806676" y="1883847"/>
            <a:ext cx="2961539" cy="2961539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-1056135">
              <a:off x="-109" y="-109"/>
              <a:ext cx="813018" cy="813018"/>
            </a:xfrm>
            <a:custGeom>
              <a:avLst/>
              <a:gdLst/>
              <a:ahLst/>
              <a:cxnLst/>
              <a:rect r="r" b="b" t="t" l="l"/>
              <a:pathLst>
                <a:path h="813018" w="813018">
                  <a:moveTo>
                    <a:pt x="529407" y="19137"/>
                  </a:moveTo>
                  <a:cubicBezTo>
                    <a:pt x="315468" y="-48738"/>
                    <a:pt x="87012" y="69671"/>
                    <a:pt x="19137" y="283611"/>
                  </a:cubicBezTo>
                  <a:cubicBezTo>
                    <a:pt x="-48738" y="497550"/>
                    <a:pt x="69671" y="726006"/>
                    <a:pt x="283611" y="793881"/>
                  </a:cubicBezTo>
                  <a:cubicBezTo>
                    <a:pt x="497550" y="861756"/>
                    <a:pt x="726006" y="743347"/>
                    <a:pt x="793881" y="529407"/>
                  </a:cubicBezTo>
                  <a:cubicBezTo>
                    <a:pt x="861756" y="315468"/>
                    <a:pt x="743347" y="87012"/>
                    <a:pt x="529407" y="19137"/>
                  </a:cubicBezTo>
                  <a:close/>
                </a:path>
              </a:pathLst>
            </a:custGeom>
            <a:blipFill>
              <a:blip r:embed="rId4"/>
              <a:stretch>
                <a:fillRect l="-6440" t="0" r="-324" b="-42590"/>
              </a:stretch>
            </a:blipFill>
            <a:ln w="142875" cap="sq">
              <a:solidFill>
                <a:srgbClr val="257BE0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6096314" y="717260"/>
            <a:ext cx="6095373" cy="984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67"/>
              </a:lnSpc>
              <a:spcBef>
                <a:spcPct val="0"/>
              </a:spcBef>
            </a:pPr>
            <a:r>
              <a:rPr lang="en-US" b="true" sz="54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NUESTRO EQUIPO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139470" y="5265207"/>
            <a:ext cx="3212942" cy="387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5"/>
              </a:lnSpc>
              <a:spcBef>
                <a:spcPct val="0"/>
              </a:spcBef>
            </a:pPr>
            <a:r>
              <a:rPr lang="en-US" b="true" sz="2196" spc="-43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JANIZ CARREÑO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139470" y="5852227"/>
            <a:ext cx="3212942" cy="387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5"/>
              </a:lnSpc>
              <a:spcBef>
                <a:spcPct val="0"/>
              </a:spcBef>
            </a:pPr>
            <a:r>
              <a:rPr lang="en-US" sz="2196" spc="-43">
                <a:solidFill>
                  <a:srgbClr val="28346D"/>
                </a:solidFill>
                <a:latin typeface="Poppins"/>
                <a:ea typeface="Poppins"/>
                <a:cs typeface="Poppins"/>
                <a:sym typeface="Poppins"/>
              </a:rPr>
              <a:t>ROL: DISEÑADORA  UX/UI 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580053" y="7770626"/>
            <a:ext cx="3212942" cy="387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5"/>
              </a:lnSpc>
              <a:spcBef>
                <a:spcPct val="0"/>
              </a:spcBef>
            </a:pPr>
            <a:r>
              <a:rPr lang="en-US" b="true" sz="2196" spc="-43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NICOLAS ROCHA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580053" y="8357647"/>
            <a:ext cx="3212942" cy="387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5"/>
              </a:lnSpc>
              <a:spcBef>
                <a:spcPct val="0"/>
              </a:spcBef>
            </a:pPr>
            <a:r>
              <a:rPr lang="en-US" sz="2196" spc="-43">
                <a:solidFill>
                  <a:srgbClr val="28346D"/>
                </a:solidFill>
                <a:latin typeface="Poppins"/>
                <a:ea typeface="Poppins"/>
                <a:cs typeface="Poppins"/>
                <a:sym typeface="Poppins"/>
              </a:rPr>
              <a:t>ROL: DEV BACKEND 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680974" y="5044285"/>
            <a:ext cx="3212942" cy="387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5"/>
              </a:lnSpc>
              <a:spcBef>
                <a:spcPct val="0"/>
              </a:spcBef>
            </a:pPr>
            <a:r>
              <a:rPr lang="en-US" b="true" sz="2196" spc="-43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CAROLINA SÁNCHEZ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680974" y="5631306"/>
            <a:ext cx="3212942" cy="387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5"/>
              </a:lnSpc>
              <a:spcBef>
                <a:spcPct val="0"/>
              </a:spcBef>
            </a:pPr>
            <a:r>
              <a:rPr lang="en-US" sz="2196" spc="-43">
                <a:solidFill>
                  <a:srgbClr val="28346D"/>
                </a:solidFill>
                <a:latin typeface="Poppins"/>
                <a:ea typeface="Poppins"/>
                <a:cs typeface="Poppins"/>
                <a:sym typeface="Poppins"/>
              </a:rPr>
              <a:t>ROL: SCRUM MASTER </a:t>
            </a:r>
          </a:p>
        </p:txBody>
      </p:sp>
      <p:sp>
        <p:nvSpPr>
          <p:cNvPr name="Freeform 26" id="26"/>
          <p:cNvSpPr/>
          <p:nvPr/>
        </p:nvSpPr>
        <p:spPr>
          <a:xfrm flipH="true" flipV="false" rot="0">
            <a:off x="9186524" y="682086"/>
            <a:ext cx="10602948" cy="10012740"/>
          </a:xfrm>
          <a:custGeom>
            <a:avLst/>
            <a:gdLst/>
            <a:ahLst/>
            <a:cxnLst/>
            <a:rect r="r" b="b" t="t" l="l"/>
            <a:pathLst>
              <a:path h="10012740" w="10602948">
                <a:moveTo>
                  <a:pt x="10602948" y="0"/>
                </a:moveTo>
                <a:lnTo>
                  <a:pt x="0" y="0"/>
                </a:lnTo>
                <a:lnTo>
                  <a:pt x="0" y="10012740"/>
                </a:lnTo>
                <a:lnTo>
                  <a:pt x="10602948" y="10012740"/>
                </a:lnTo>
                <a:lnTo>
                  <a:pt x="10602948" y="0"/>
                </a:lnTo>
                <a:close/>
              </a:path>
            </a:pathLst>
          </a:custGeom>
          <a:blipFill>
            <a:blip r:embed="rId5"/>
            <a:stretch>
              <a:fillRect l="0" t="-3549" r="0" b="-3549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5666340" y="86074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024" t="-67794" r="0" b="-46912"/>
            </a:stretch>
          </a:blipFill>
        </p:spPr>
      </p:sp>
      <p:grpSp>
        <p:nvGrpSpPr>
          <p:cNvPr name="Group 28" id="28"/>
          <p:cNvGrpSpPr>
            <a:grpSpLocks noChangeAspect="true"/>
          </p:cNvGrpSpPr>
          <p:nvPr/>
        </p:nvGrpSpPr>
        <p:grpSpPr>
          <a:xfrm rot="0">
            <a:off x="3252546" y="1996929"/>
            <a:ext cx="2717811" cy="2717801"/>
            <a:chOff x="0" y="0"/>
            <a:chExt cx="6350000" cy="6349975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7"/>
              <a:stretch>
                <a:fillRect l="0" t="-49074" r="0" b="-29003"/>
              </a:stretch>
            </a:blipFill>
          </p:spPr>
        </p:sp>
      </p:grpSp>
      <p:sp>
        <p:nvSpPr>
          <p:cNvPr name="Freeform 30" id="30"/>
          <p:cNvSpPr/>
          <p:nvPr/>
        </p:nvSpPr>
        <p:spPr>
          <a:xfrm flipH="false" flipV="false" rot="0">
            <a:off x="-664872" y="4487522"/>
            <a:ext cx="8370627" cy="7010400"/>
          </a:xfrm>
          <a:custGeom>
            <a:avLst/>
            <a:gdLst/>
            <a:ahLst/>
            <a:cxnLst/>
            <a:rect r="r" b="b" t="t" l="l"/>
            <a:pathLst>
              <a:path h="7010400" w="8370627">
                <a:moveTo>
                  <a:pt x="0" y="0"/>
                </a:moveTo>
                <a:lnTo>
                  <a:pt x="8370627" y="0"/>
                </a:lnTo>
                <a:lnTo>
                  <a:pt x="8370627" y="7010400"/>
                </a:lnTo>
                <a:lnTo>
                  <a:pt x="0" y="7010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-1111354" y="3957813"/>
            <a:ext cx="7888527" cy="7010400"/>
          </a:xfrm>
          <a:custGeom>
            <a:avLst/>
            <a:gdLst/>
            <a:ahLst/>
            <a:cxnLst/>
            <a:rect r="r" b="b" t="t" l="l"/>
            <a:pathLst>
              <a:path h="7010400" w="7888527">
                <a:moveTo>
                  <a:pt x="0" y="0"/>
                </a:moveTo>
                <a:lnTo>
                  <a:pt x="7888526" y="0"/>
                </a:lnTo>
                <a:lnTo>
                  <a:pt x="7888526" y="7010400"/>
                </a:lnTo>
                <a:lnTo>
                  <a:pt x="0" y="70104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12577" r="-32803" b="-12577"/>
            </a:stretch>
          </a:blipFill>
        </p:spPr>
      </p: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8416800" y="-293370"/>
            <a:ext cx="12116845" cy="11442367"/>
          </a:xfrm>
          <a:custGeom>
            <a:avLst/>
            <a:gdLst/>
            <a:ahLst/>
            <a:cxnLst/>
            <a:rect r="r" b="b" t="t" l="l"/>
            <a:pathLst>
              <a:path h="11442367" w="12116845">
                <a:moveTo>
                  <a:pt x="12116845" y="0"/>
                </a:moveTo>
                <a:lnTo>
                  <a:pt x="0" y="0"/>
                </a:lnTo>
                <a:lnTo>
                  <a:pt x="0" y="11442367"/>
                </a:lnTo>
                <a:lnTo>
                  <a:pt x="12116845" y="11442367"/>
                </a:lnTo>
                <a:lnTo>
                  <a:pt x="12116845" y="0"/>
                </a:lnTo>
                <a:close/>
              </a:path>
            </a:pathLst>
          </a:custGeom>
          <a:blipFill>
            <a:blip r:embed="rId2"/>
            <a:stretch>
              <a:fillRect l="0" t="-3549" r="0" b="-354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338351" y="4413405"/>
            <a:ext cx="4360318" cy="4241041"/>
            <a:chOff x="0" y="0"/>
            <a:chExt cx="859842" cy="83632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59842" cy="836321"/>
            </a:xfrm>
            <a:custGeom>
              <a:avLst/>
              <a:gdLst/>
              <a:ahLst/>
              <a:cxnLst/>
              <a:rect r="r" b="b" t="t" l="l"/>
              <a:pathLst>
                <a:path h="836321" w="859842">
                  <a:moveTo>
                    <a:pt x="429921" y="0"/>
                  </a:moveTo>
                  <a:cubicBezTo>
                    <a:pt x="192482" y="0"/>
                    <a:pt x="0" y="187217"/>
                    <a:pt x="0" y="418161"/>
                  </a:cubicBezTo>
                  <a:cubicBezTo>
                    <a:pt x="0" y="649104"/>
                    <a:pt x="192482" y="836321"/>
                    <a:pt x="429921" y="836321"/>
                  </a:cubicBezTo>
                  <a:cubicBezTo>
                    <a:pt x="667360" y="836321"/>
                    <a:pt x="859842" y="649104"/>
                    <a:pt x="859842" y="418161"/>
                  </a:cubicBezTo>
                  <a:cubicBezTo>
                    <a:pt x="859842" y="187217"/>
                    <a:pt x="667360" y="0"/>
                    <a:pt x="429921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1406" r="0" b="-1406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753669" y="1357246"/>
            <a:ext cx="3245733" cy="6112319"/>
          </a:xfrm>
          <a:custGeom>
            <a:avLst/>
            <a:gdLst/>
            <a:ahLst/>
            <a:cxnLst/>
            <a:rect r="r" b="b" t="t" l="l"/>
            <a:pathLst>
              <a:path h="6112319" w="3245733">
                <a:moveTo>
                  <a:pt x="0" y="0"/>
                </a:moveTo>
                <a:lnTo>
                  <a:pt x="3245733" y="0"/>
                </a:lnTo>
                <a:lnTo>
                  <a:pt x="3245733" y="6112319"/>
                </a:lnTo>
                <a:lnTo>
                  <a:pt x="0" y="61123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4443" r="0" b="-10525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900522" y="6993552"/>
            <a:ext cx="952026" cy="952026"/>
          </a:xfrm>
          <a:custGeom>
            <a:avLst/>
            <a:gdLst/>
            <a:ahLst/>
            <a:cxnLst/>
            <a:rect r="r" b="b" t="t" l="l"/>
            <a:pathLst>
              <a:path h="952026" w="952026">
                <a:moveTo>
                  <a:pt x="0" y="0"/>
                </a:moveTo>
                <a:lnTo>
                  <a:pt x="952026" y="0"/>
                </a:lnTo>
                <a:lnTo>
                  <a:pt x="952026" y="952026"/>
                </a:lnTo>
                <a:lnTo>
                  <a:pt x="0" y="95202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243073" y="1357246"/>
            <a:ext cx="3245733" cy="6112319"/>
          </a:xfrm>
          <a:custGeom>
            <a:avLst/>
            <a:gdLst/>
            <a:ahLst/>
            <a:cxnLst/>
            <a:rect r="r" b="b" t="t" l="l"/>
            <a:pathLst>
              <a:path h="6112319" w="3245733">
                <a:moveTo>
                  <a:pt x="0" y="0"/>
                </a:moveTo>
                <a:lnTo>
                  <a:pt x="3245732" y="0"/>
                </a:lnTo>
                <a:lnTo>
                  <a:pt x="3245732" y="6112319"/>
                </a:lnTo>
                <a:lnTo>
                  <a:pt x="0" y="61123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-7491" r="0" b="-7491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339623" y="7033472"/>
            <a:ext cx="907131" cy="912106"/>
          </a:xfrm>
          <a:custGeom>
            <a:avLst/>
            <a:gdLst/>
            <a:ahLst/>
            <a:cxnLst/>
            <a:rect r="r" b="b" t="t" l="l"/>
            <a:pathLst>
              <a:path h="912106" w="907131">
                <a:moveTo>
                  <a:pt x="0" y="0"/>
                </a:moveTo>
                <a:lnTo>
                  <a:pt x="907131" y="0"/>
                </a:lnTo>
                <a:lnTo>
                  <a:pt x="907131" y="912106"/>
                </a:lnTo>
                <a:lnTo>
                  <a:pt x="0" y="91210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586975" y="1357246"/>
            <a:ext cx="3245733" cy="6112319"/>
          </a:xfrm>
          <a:custGeom>
            <a:avLst/>
            <a:gdLst/>
            <a:ahLst/>
            <a:cxnLst/>
            <a:rect r="r" b="b" t="t" l="l"/>
            <a:pathLst>
              <a:path h="6112319" w="3245733">
                <a:moveTo>
                  <a:pt x="0" y="0"/>
                </a:moveTo>
                <a:lnTo>
                  <a:pt x="3245732" y="0"/>
                </a:lnTo>
                <a:lnTo>
                  <a:pt x="3245732" y="6112319"/>
                </a:lnTo>
                <a:lnTo>
                  <a:pt x="0" y="611231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-4159" r="0" b="-10824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753788" y="7013512"/>
            <a:ext cx="912106" cy="912106"/>
          </a:xfrm>
          <a:custGeom>
            <a:avLst/>
            <a:gdLst/>
            <a:ahLst/>
            <a:cxnLst/>
            <a:rect r="r" b="b" t="t" l="l"/>
            <a:pathLst>
              <a:path h="912106" w="912106">
                <a:moveTo>
                  <a:pt x="0" y="0"/>
                </a:moveTo>
                <a:lnTo>
                  <a:pt x="912106" y="0"/>
                </a:lnTo>
                <a:lnTo>
                  <a:pt x="912106" y="912106"/>
                </a:lnTo>
                <a:lnTo>
                  <a:pt x="0" y="9121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5666340" y="11953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2024" t="-67794" r="0" b="-46912"/>
            </a:stretch>
          </a:blipFill>
        </p:spPr>
      </p:sp>
      <p:grpSp>
        <p:nvGrpSpPr>
          <p:cNvPr name="Group 12" id="12"/>
          <p:cNvGrpSpPr>
            <a:grpSpLocks noChangeAspect="true"/>
          </p:cNvGrpSpPr>
          <p:nvPr/>
        </p:nvGrpSpPr>
        <p:grpSpPr>
          <a:xfrm rot="0">
            <a:off x="7732476" y="1896202"/>
            <a:ext cx="771700" cy="771700"/>
            <a:chOff x="0" y="0"/>
            <a:chExt cx="8909050" cy="89090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-10398" y="9480"/>
              <a:ext cx="8929847" cy="8890089"/>
            </a:xfrm>
            <a:custGeom>
              <a:avLst/>
              <a:gdLst/>
              <a:ahLst/>
              <a:cxnLst/>
              <a:rect r="r" b="b" t="t" l="l"/>
              <a:pathLst>
                <a:path h="8890089" w="8929847">
                  <a:moveTo>
                    <a:pt x="4464923" y="45"/>
                  </a:moveTo>
                  <a:cubicBezTo>
                    <a:pt x="2872142" y="-7078"/>
                    <a:pt x="1397294" y="838573"/>
                    <a:pt x="598840" y="2216787"/>
                  </a:cubicBezTo>
                  <a:cubicBezTo>
                    <a:pt x="-199614" y="3595001"/>
                    <a:pt x="-199614" y="5295089"/>
                    <a:pt x="598840" y="6673304"/>
                  </a:cubicBezTo>
                  <a:cubicBezTo>
                    <a:pt x="1397294" y="8051517"/>
                    <a:pt x="2872142" y="8897168"/>
                    <a:pt x="4464923" y="8890045"/>
                  </a:cubicBezTo>
                  <a:cubicBezTo>
                    <a:pt x="6057704" y="8897168"/>
                    <a:pt x="7532552" y="8051517"/>
                    <a:pt x="8331006" y="6673304"/>
                  </a:cubicBezTo>
                  <a:cubicBezTo>
                    <a:pt x="9129460" y="5295089"/>
                    <a:pt x="9129460" y="3595001"/>
                    <a:pt x="8331006" y="2216787"/>
                  </a:cubicBezTo>
                  <a:cubicBezTo>
                    <a:pt x="7532552" y="838573"/>
                    <a:pt x="6057704" y="-7078"/>
                    <a:pt x="4464923" y="45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251757" y="270468"/>
              <a:ext cx="8405537" cy="8368114"/>
            </a:xfrm>
            <a:custGeom>
              <a:avLst/>
              <a:gdLst/>
              <a:ahLst/>
              <a:cxnLst/>
              <a:rect r="r" b="b" t="t" l="l"/>
              <a:pathLst>
                <a:path h="8368114" w="8405537">
                  <a:moveTo>
                    <a:pt x="4202768" y="42"/>
                  </a:moveTo>
                  <a:cubicBezTo>
                    <a:pt x="2703506" y="-6663"/>
                    <a:pt x="1315253" y="789336"/>
                    <a:pt x="563679" y="2086629"/>
                  </a:cubicBezTo>
                  <a:cubicBezTo>
                    <a:pt x="-187894" y="3383923"/>
                    <a:pt x="-187894" y="4984191"/>
                    <a:pt x="563679" y="6281485"/>
                  </a:cubicBezTo>
                  <a:cubicBezTo>
                    <a:pt x="1315253" y="7578778"/>
                    <a:pt x="2703506" y="8374777"/>
                    <a:pt x="4202768" y="8368072"/>
                  </a:cubicBezTo>
                  <a:cubicBezTo>
                    <a:pt x="5702030" y="8374777"/>
                    <a:pt x="7090283" y="7578778"/>
                    <a:pt x="7841857" y="6281485"/>
                  </a:cubicBezTo>
                  <a:cubicBezTo>
                    <a:pt x="8593429" y="4984191"/>
                    <a:pt x="8593429" y="3383923"/>
                    <a:pt x="7841857" y="2086629"/>
                  </a:cubicBezTo>
                  <a:cubicBezTo>
                    <a:pt x="7090283" y="789336"/>
                    <a:pt x="5702030" y="-6663"/>
                    <a:pt x="4202768" y="42"/>
                  </a:cubicBezTo>
                  <a:close/>
                </a:path>
              </a:pathLst>
            </a:custGeom>
            <a:blipFill>
              <a:blip r:embed="rId3"/>
              <a:stretch>
                <a:fillRect l="223" t="0" r="223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909050" cy="8909050"/>
            </a:xfrm>
            <a:custGeom>
              <a:avLst/>
              <a:gdLst/>
              <a:ahLst/>
              <a:cxnLst/>
              <a:rect r="r" b="b" t="t" l="l"/>
              <a:pathLst>
                <a:path h="8909050" w="8909050">
                  <a:moveTo>
                    <a:pt x="4454525" y="8909050"/>
                  </a:moveTo>
                  <a:cubicBezTo>
                    <a:pt x="3264662" y="8909050"/>
                    <a:pt x="2146046" y="8445500"/>
                    <a:pt x="1304544" y="7603744"/>
                  </a:cubicBezTo>
                  <a:cubicBezTo>
                    <a:pt x="895477" y="7194550"/>
                    <a:pt x="574294" y="6718173"/>
                    <a:pt x="350012" y="6187694"/>
                  </a:cubicBezTo>
                  <a:cubicBezTo>
                    <a:pt x="117729" y="5638673"/>
                    <a:pt x="0" y="5055489"/>
                    <a:pt x="0" y="4454525"/>
                  </a:cubicBezTo>
                  <a:cubicBezTo>
                    <a:pt x="0" y="3854704"/>
                    <a:pt x="117475" y="3272282"/>
                    <a:pt x="349377" y="2723642"/>
                  </a:cubicBezTo>
                  <a:cubicBezTo>
                    <a:pt x="573405" y="2193163"/>
                    <a:pt x="894207" y="1716786"/>
                    <a:pt x="1302766" y="1307338"/>
                  </a:cubicBezTo>
                  <a:cubicBezTo>
                    <a:pt x="2144141" y="464312"/>
                    <a:pt x="3263519" y="0"/>
                    <a:pt x="4454525" y="0"/>
                  </a:cubicBezTo>
                  <a:cubicBezTo>
                    <a:pt x="5055362" y="0"/>
                    <a:pt x="5638419" y="117729"/>
                    <a:pt x="6187440" y="350012"/>
                  </a:cubicBezTo>
                  <a:cubicBezTo>
                    <a:pt x="6717792" y="574294"/>
                    <a:pt x="7194296" y="895477"/>
                    <a:pt x="7603490" y="1304544"/>
                  </a:cubicBezTo>
                  <a:cubicBezTo>
                    <a:pt x="8445373" y="2146046"/>
                    <a:pt x="8909050" y="3264789"/>
                    <a:pt x="8909050" y="4454652"/>
                  </a:cubicBezTo>
                  <a:cubicBezTo>
                    <a:pt x="8909050" y="5644769"/>
                    <a:pt x="8445246" y="6763766"/>
                    <a:pt x="7602982" y="7605268"/>
                  </a:cubicBezTo>
                  <a:cubicBezTo>
                    <a:pt x="7193789" y="8014208"/>
                    <a:pt x="6717285" y="8335138"/>
                    <a:pt x="6186932" y="8559419"/>
                  </a:cubicBezTo>
                  <a:cubicBezTo>
                    <a:pt x="5637911" y="8791321"/>
                    <a:pt x="5055108" y="8909050"/>
                    <a:pt x="4454525" y="8909050"/>
                  </a:cubicBezTo>
                  <a:close/>
                  <a:moveTo>
                    <a:pt x="4454525" y="19050"/>
                  </a:moveTo>
                  <a:cubicBezTo>
                    <a:pt x="3268599" y="19050"/>
                    <a:pt x="2154047" y="481330"/>
                    <a:pt x="1316228" y="1320800"/>
                  </a:cubicBezTo>
                  <a:cubicBezTo>
                    <a:pt x="909447" y="1728343"/>
                    <a:pt x="590042" y="2202815"/>
                    <a:pt x="366903" y="2731008"/>
                  </a:cubicBezTo>
                  <a:cubicBezTo>
                    <a:pt x="136017" y="3277362"/>
                    <a:pt x="19050" y="3857244"/>
                    <a:pt x="19050" y="4454525"/>
                  </a:cubicBezTo>
                  <a:cubicBezTo>
                    <a:pt x="19050" y="5052949"/>
                    <a:pt x="136271" y="5633593"/>
                    <a:pt x="367538" y="6180328"/>
                  </a:cubicBezTo>
                  <a:cubicBezTo>
                    <a:pt x="590931" y="6708522"/>
                    <a:pt x="910717" y="7182866"/>
                    <a:pt x="1318006" y="7590282"/>
                  </a:cubicBezTo>
                  <a:cubicBezTo>
                    <a:pt x="2155825" y="8428355"/>
                    <a:pt x="3269742" y="8890000"/>
                    <a:pt x="4454525" y="8890000"/>
                  </a:cubicBezTo>
                  <a:cubicBezTo>
                    <a:pt x="5052568" y="8890000"/>
                    <a:pt x="5632958" y="8772779"/>
                    <a:pt x="6179439" y="8541766"/>
                  </a:cubicBezTo>
                  <a:cubicBezTo>
                    <a:pt x="6707632" y="8318500"/>
                    <a:pt x="7181977" y="7998841"/>
                    <a:pt x="7589520" y="7591679"/>
                  </a:cubicBezTo>
                  <a:cubicBezTo>
                    <a:pt x="8428101" y="6753733"/>
                    <a:pt x="8890000" y="5639562"/>
                    <a:pt x="8890000" y="4454525"/>
                  </a:cubicBezTo>
                  <a:cubicBezTo>
                    <a:pt x="8890000" y="3269742"/>
                    <a:pt x="8428355" y="2155825"/>
                    <a:pt x="7590028" y="1317879"/>
                  </a:cubicBezTo>
                  <a:cubicBezTo>
                    <a:pt x="7182612" y="910590"/>
                    <a:pt x="6708140" y="590931"/>
                    <a:pt x="6180074" y="367538"/>
                  </a:cubicBezTo>
                  <a:cubicBezTo>
                    <a:pt x="5633339" y="136271"/>
                    <a:pt x="5052822" y="19050"/>
                    <a:pt x="4454525" y="19050"/>
                  </a:cubicBezTo>
                  <a:close/>
                  <a:moveTo>
                    <a:pt x="4454525" y="8648065"/>
                  </a:moveTo>
                  <a:cubicBezTo>
                    <a:pt x="3334385" y="8648065"/>
                    <a:pt x="2281301" y="8211693"/>
                    <a:pt x="1489075" y="7419213"/>
                  </a:cubicBezTo>
                  <a:cubicBezTo>
                    <a:pt x="697103" y="6626987"/>
                    <a:pt x="260985" y="5574157"/>
                    <a:pt x="260985" y="4454525"/>
                  </a:cubicBezTo>
                  <a:cubicBezTo>
                    <a:pt x="260985" y="3889756"/>
                    <a:pt x="371602" y="3341497"/>
                    <a:pt x="589788" y="2824988"/>
                  </a:cubicBezTo>
                  <a:cubicBezTo>
                    <a:pt x="800735" y="2325624"/>
                    <a:pt x="1102741" y="1877060"/>
                    <a:pt x="1487297" y="1491742"/>
                  </a:cubicBezTo>
                  <a:cubicBezTo>
                    <a:pt x="2279396" y="698119"/>
                    <a:pt x="3333242" y="260985"/>
                    <a:pt x="4454398" y="260985"/>
                  </a:cubicBezTo>
                  <a:cubicBezTo>
                    <a:pt x="5573776" y="260985"/>
                    <a:pt x="6626606" y="697103"/>
                    <a:pt x="7418832" y="1488948"/>
                  </a:cubicBezTo>
                  <a:cubicBezTo>
                    <a:pt x="8211438" y="2281174"/>
                    <a:pt x="8647937" y="3334385"/>
                    <a:pt x="8647937" y="4454398"/>
                  </a:cubicBezTo>
                  <a:cubicBezTo>
                    <a:pt x="8647937" y="5574792"/>
                    <a:pt x="8211311" y="6628130"/>
                    <a:pt x="7418450" y="7420356"/>
                  </a:cubicBezTo>
                  <a:cubicBezTo>
                    <a:pt x="6626225" y="8212074"/>
                    <a:pt x="5573522" y="8648065"/>
                    <a:pt x="4454525" y="8648065"/>
                  </a:cubicBezTo>
                  <a:close/>
                  <a:moveTo>
                    <a:pt x="4454525" y="280035"/>
                  </a:moveTo>
                  <a:cubicBezTo>
                    <a:pt x="3338449" y="280035"/>
                    <a:pt x="2289429" y="715137"/>
                    <a:pt x="1500886" y="1505204"/>
                  </a:cubicBezTo>
                  <a:cubicBezTo>
                    <a:pt x="713613" y="2294001"/>
                    <a:pt x="280035" y="3341370"/>
                    <a:pt x="280035" y="4454525"/>
                  </a:cubicBezTo>
                  <a:cubicBezTo>
                    <a:pt x="280035" y="5569077"/>
                    <a:pt x="714248" y="6617081"/>
                    <a:pt x="1502537" y="7405751"/>
                  </a:cubicBezTo>
                  <a:cubicBezTo>
                    <a:pt x="2291080" y="8194548"/>
                    <a:pt x="3339465" y="8629015"/>
                    <a:pt x="4454525" y="8629015"/>
                  </a:cubicBezTo>
                  <a:cubicBezTo>
                    <a:pt x="5568442" y="8629015"/>
                    <a:pt x="6616319" y="8195056"/>
                    <a:pt x="7405116" y="7407021"/>
                  </a:cubicBezTo>
                  <a:cubicBezTo>
                    <a:pt x="8194422" y="6618477"/>
                    <a:pt x="8629015" y="5569839"/>
                    <a:pt x="8629015" y="4454525"/>
                  </a:cubicBezTo>
                  <a:cubicBezTo>
                    <a:pt x="8629015" y="3339465"/>
                    <a:pt x="8194548" y="2291080"/>
                    <a:pt x="7405497" y="1502537"/>
                  </a:cubicBezTo>
                  <a:cubicBezTo>
                    <a:pt x="6616827" y="714121"/>
                    <a:pt x="5568823" y="280035"/>
                    <a:pt x="4454525" y="280035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1262151" y="1026457"/>
            <a:ext cx="6438345" cy="1027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47"/>
              </a:lnSpc>
              <a:spcBef>
                <a:spcPct val="0"/>
              </a:spcBef>
            </a:pPr>
            <a:r>
              <a:rPr lang="en-US" b="true" sz="5676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CORDILLERA PETS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338351" y="2624426"/>
            <a:ext cx="6343095" cy="1998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8"/>
              </a:lnSpc>
            </a:pPr>
            <a:r>
              <a:rPr lang="en-US" sz="1927">
                <a:solidFill>
                  <a:srgbClr val="1E1112"/>
                </a:solidFill>
                <a:latin typeface="Poppins"/>
                <a:ea typeface="Poppins"/>
                <a:cs typeface="Poppins"/>
                <a:sym typeface="Poppins"/>
              </a:rPr>
              <a:t>Cordillera Pets es una pyme que se dedica a la venta al por menor de alimentos, arenas sanitarias y  accesorios para mascotas, actualmente gestiona sus ventas a través de Instagram, WhatsApp y Marketplace a través de anuncios.</a:t>
            </a:r>
          </a:p>
          <a:p>
            <a:pPr algn="l">
              <a:lnSpc>
                <a:spcPts val="2698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9144000" y="2072886"/>
            <a:ext cx="11149203" cy="10528588"/>
          </a:xfrm>
          <a:custGeom>
            <a:avLst/>
            <a:gdLst/>
            <a:ahLst/>
            <a:cxnLst/>
            <a:rect r="r" b="b" t="t" l="l"/>
            <a:pathLst>
              <a:path h="10528588" w="11149203">
                <a:moveTo>
                  <a:pt x="11149203" y="0"/>
                </a:moveTo>
                <a:lnTo>
                  <a:pt x="0" y="0"/>
                </a:lnTo>
                <a:lnTo>
                  <a:pt x="0" y="10528588"/>
                </a:lnTo>
                <a:lnTo>
                  <a:pt x="11149203" y="10528588"/>
                </a:lnTo>
                <a:lnTo>
                  <a:pt x="11149203" y="0"/>
                </a:lnTo>
                <a:close/>
              </a:path>
            </a:pathLst>
          </a:custGeom>
          <a:blipFill>
            <a:blip r:embed="rId2"/>
            <a:stretch>
              <a:fillRect l="0" t="-3549" r="0" b="-3549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-4016289" y="-286223"/>
            <a:ext cx="11217616" cy="11345250"/>
          </a:xfrm>
          <a:custGeom>
            <a:avLst/>
            <a:gdLst/>
            <a:ahLst/>
            <a:cxnLst/>
            <a:rect r="r" b="b" t="t" l="l"/>
            <a:pathLst>
              <a:path h="11345250" w="11217616">
                <a:moveTo>
                  <a:pt x="0" y="11345250"/>
                </a:moveTo>
                <a:lnTo>
                  <a:pt x="11217615" y="11345250"/>
                </a:lnTo>
                <a:lnTo>
                  <a:pt x="11217615" y="0"/>
                </a:lnTo>
                <a:lnTo>
                  <a:pt x="0" y="0"/>
                </a:lnTo>
                <a:lnTo>
                  <a:pt x="0" y="1134525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666340" y="11953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141294" y="6341715"/>
            <a:ext cx="1740145" cy="2490369"/>
          </a:xfrm>
          <a:custGeom>
            <a:avLst/>
            <a:gdLst/>
            <a:ahLst/>
            <a:cxnLst/>
            <a:rect r="r" b="b" t="t" l="l"/>
            <a:pathLst>
              <a:path h="2490369" w="1740145">
                <a:moveTo>
                  <a:pt x="0" y="0"/>
                </a:moveTo>
                <a:lnTo>
                  <a:pt x="1740145" y="0"/>
                </a:lnTo>
                <a:lnTo>
                  <a:pt x="1740145" y="2490369"/>
                </a:lnTo>
                <a:lnTo>
                  <a:pt x="0" y="249036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26392" y="3557601"/>
            <a:ext cx="7032645" cy="5274484"/>
          </a:xfrm>
          <a:custGeom>
            <a:avLst/>
            <a:gdLst/>
            <a:ahLst/>
            <a:cxnLst/>
            <a:rect r="r" b="b" t="t" l="l"/>
            <a:pathLst>
              <a:path h="5274484" w="7032645">
                <a:moveTo>
                  <a:pt x="0" y="0"/>
                </a:moveTo>
                <a:lnTo>
                  <a:pt x="7032645" y="0"/>
                </a:lnTo>
                <a:lnTo>
                  <a:pt x="7032645" y="5274483"/>
                </a:lnTo>
                <a:lnTo>
                  <a:pt x="0" y="52744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9792194" y="1473472"/>
            <a:ext cx="6438345" cy="1027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47"/>
              </a:lnSpc>
              <a:spcBef>
                <a:spcPct val="0"/>
              </a:spcBef>
            </a:pPr>
            <a:r>
              <a:rPr lang="en-US" b="true" sz="5676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CORDILLERA PETS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88724" y="3509976"/>
            <a:ext cx="5645284" cy="233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98"/>
              </a:lnSpc>
            </a:pPr>
          </a:p>
          <a:p>
            <a:pPr algn="l">
              <a:lnSpc>
                <a:spcPts val="2698"/>
              </a:lnSpc>
            </a:pPr>
            <a:r>
              <a:rPr lang="en-US" sz="1927">
                <a:solidFill>
                  <a:srgbClr val="1E1112"/>
                </a:solidFill>
                <a:latin typeface="Poppins"/>
                <a:ea typeface="Poppins"/>
                <a:cs typeface="Poppins"/>
                <a:sym typeface="Poppins"/>
              </a:rPr>
              <a:t>No cuentan con tienda física. </a:t>
            </a:r>
          </a:p>
          <a:p>
            <a:pPr algn="l">
              <a:lnSpc>
                <a:spcPts val="2698"/>
              </a:lnSpc>
              <a:spcBef>
                <a:spcPct val="0"/>
              </a:spcBef>
            </a:pPr>
          </a:p>
          <a:p>
            <a:pPr algn="l">
              <a:lnSpc>
                <a:spcPts val="2698"/>
              </a:lnSpc>
              <a:spcBef>
                <a:spcPct val="0"/>
              </a:spcBef>
            </a:pPr>
            <a:r>
              <a:rPr lang="en-US" sz="1927">
                <a:solidFill>
                  <a:srgbClr val="1E1112"/>
                </a:solidFill>
                <a:latin typeface="Poppins"/>
                <a:ea typeface="Poppins"/>
                <a:cs typeface="Poppins"/>
                <a:sym typeface="Poppins"/>
              </a:rPr>
              <a:t>Cordillera Pets funciona desde una bodega ubicada en la comuna de San Miguel</a:t>
            </a:r>
          </a:p>
          <a:p>
            <a:pPr algn="l">
              <a:lnSpc>
                <a:spcPts val="2698"/>
              </a:lnSpc>
              <a:spcBef>
                <a:spcPct val="0"/>
              </a:spcBef>
            </a:pPr>
          </a:p>
          <a:p>
            <a:pPr algn="l">
              <a:lnSpc>
                <a:spcPts val="2698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8887673" y="1625872"/>
            <a:ext cx="11149203" cy="10528588"/>
          </a:xfrm>
          <a:custGeom>
            <a:avLst/>
            <a:gdLst/>
            <a:ahLst/>
            <a:cxnLst/>
            <a:rect r="r" b="b" t="t" l="l"/>
            <a:pathLst>
              <a:path h="10528588" w="11149203">
                <a:moveTo>
                  <a:pt x="11149203" y="0"/>
                </a:moveTo>
                <a:lnTo>
                  <a:pt x="0" y="0"/>
                </a:lnTo>
                <a:lnTo>
                  <a:pt x="0" y="10528588"/>
                </a:lnTo>
                <a:lnTo>
                  <a:pt x="11149203" y="10528588"/>
                </a:lnTo>
                <a:lnTo>
                  <a:pt x="11149203" y="0"/>
                </a:lnTo>
                <a:close/>
              </a:path>
            </a:pathLst>
          </a:custGeom>
          <a:blipFill>
            <a:blip r:embed="rId2"/>
            <a:stretch>
              <a:fillRect l="0" t="-3549" r="0" b="-3549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-3102780" y="-671059"/>
            <a:ext cx="11217616" cy="11345250"/>
          </a:xfrm>
          <a:custGeom>
            <a:avLst/>
            <a:gdLst/>
            <a:ahLst/>
            <a:cxnLst/>
            <a:rect r="r" b="b" t="t" l="l"/>
            <a:pathLst>
              <a:path h="11345250" w="11217616">
                <a:moveTo>
                  <a:pt x="0" y="11345250"/>
                </a:moveTo>
                <a:lnTo>
                  <a:pt x="11217615" y="11345250"/>
                </a:lnTo>
                <a:lnTo>
                  <a:pt x="11217615" y="0"/>
                </a:lnTo>
                <a:lnTo>
                  <a:pt x="0" y="0"/>
                </a:lnTo>
                <a:lnTo>
                  <a:pt x="0" y="1134525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666340" y="11953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51363" y="3688857"/>
            <a:ext cx="5139954" cy="5030126"/>
          </a:xfrm>
          <a:custGeom>
            <a:avLst/>
            <a:gdLst/>
            <a:ahLst/>
            <a:cxnLst/>
            <a:rect r="r" b="b" t="t" l="l"/>
            <a:pathLst>
              <a:path h="5030126" w="5139954">
                <a:moveTo>
                  <a:pt x="0" y="0"/>
                </a:moveTo>
                <a:lnTo>
                  <a:pt x="5139955" y="0"/>
                </a:lnTo>
                <a:lnTo>
                  <a:pt x="5139955" y="5030126"/>
                </a:lnTo>
                <a:lnTo>
                  <a:pt x="0" y="50301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782116" y="2057642"/>
            <a:ext cx="6438345" cy="1027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47"/>
              </a:lnSpc>
              <a:spcBef>
                <a:spcPct val="0"/>
              </a:spcBef>
            </a:pPr>
            <a:r>
              <a:rPr lang="en-US" b="true" sz="5676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CORDILLERA PETS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782116" y="3653170"/>
            <a:ext cx="8195054" cy="32746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58"/>
              </a:lnSpc>
            </a:pPr>
            <a:r>
              <a:rPr lang="en-US" sz="2327">
                <a:solidFill>
                  <a:srgbClr val="1E1112"/>
                </a:solidFill>
                <a:latin typeface="Poppins"/>
                <a:ea typeface="Poppins"/>
                <a:cs typeface="Poppins"/>
                <a:sym typeface="Poppins"/>
              </a:rPr>
              <a:t>La </a:t>
            </a:r>
            <a:r>
              <a:rPr lang="en-US" sz="2327">
                <a:solidFill>
                  <a:srgbClr val="1E1112"/>
                </a:solidFill>
                <a:latin typeface="Poppins"/>
                <a:ea typeface="Poppins"/>
                <a:cs typeface="Poppins"/>
                <a:sym typeface="Poppins"/>
              </a:rPr>
              <a:t>operación está compuesta por un equipo pequeño:</a:t>
            </a:r>
          </a:p>
          <a:p>
            <a:pPr algn="l" marL="502431" indent="-251215" lvl="1">
              <a:lnSpc>
                <a:spcPts val="3258"/>
              </a:lnSpc>
              <a:buFont typeface="Arial"/>
              <a:buChar char="•"/>
            </a:pPr>
            <a:r>
              <a:rPr lang="en-US" sz="2327">
                <a:solidFill>
                  <a:srgbClr val="1E1112"/>
                </a:solidFill>
                <a:latin typeface="Poppins"/>
                <a:ea typeface="Poppins"/>
                <a:cs typeface="Poppins"/>
                <a:sym typeface="Poppins"/>
              </a:rPr>
              <a:t>Mario, dueño del negocio, quien se encarga de la gestión general, coordinación de pedidos, abastecimiento y reparto de pedidos.</a:t>
            </a:r>
          </a:p>
          <a:p>
            <a:pPr algn="l" marL="502431" indent="-251215" lvl="1">
              <a:lnSpc>
                <a:spcPts val="3258"/>
              </a:lnSpc>
              <a:buFont typeface="Arial"/>
              <a:buChar char="•"/>
            </a:pPr>
            <a:r>
              <a:rPr lang="en-US" sz="2327">
                <a:solidFill>
                  <a:srgbClr val="1E1112"/>
                </a:solidFill>
                <a:latin typeface="Poppins"/>
                <a:ea typeface="Poppins"/>
                <a:cs typeface="Poppins"/>
                <a:sym typeface="Poppins"/>
              </a:rPr>
              <a:t>Fabiola, vendedora, responsable de la atención directa a los clientes, la preparación de pedidos y reparto de pedidos.</a:t>
            </a:r>
          </a:p>
          <a:p>
            <a:pPr algn="l">
              <a:lnSpc>
                <a:spcPts val="3258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8887673" y="1625872"/>
            <a:ext cx="11149203" cy="10528588"/>
          </a:xfrm>
          <a:custGeom>
            <a:avLst/>
            <a:gdLst/>
            <a:ahLst/>
            <a:cxnLst/>
            <a:rect r="r" b="b" t="t" l="l"/>
            <a:pathLst>
              <a:path h="10528588" w="11149203">
                <a:moveTo>
                  <a:pt x="11149203" y="0"/>
                </a:moveTo>
                <a:lnTo>
                  <a:pt x="0" y="0"/>
                </a:lnTo>
                <a:lnTo>
                  <a:pt x="0" y="10528588"/>
                </a:lnTo>
                <a:lnTo>
                  <a:pt x="11149203" y="10528588"/>
                </a:lnTo>
                <a:lnTo>
                  <a:pt x="11149203" y="0"/>
                </a:lnTo>
                <a:close/>
              </a:path>
            </a:pathLst>
          </a:custGeom>
          <a:blipFill>
            <a:blip r:embed="rId2"/>
            <a:stretch>
              <a:fillRect l="0" t="-3549" r="0" b="-3549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-3049555" y="-529125"/>
            <a:ext cx="11217616" cy="11345250"/>
          </a:xfrm>
          <a:custGeom>
            <a:avLst/>
            <a:gdLst/>
            <a:ahLst/>
            <a:cxnLst/>
            <a:rect r="r" b="b" t="t" l="l"/>
            <a:pathLst>
              <a:path h="11345250" w="11217616">
                <a:moveTo>
                  <a:pt x="0" y="11345250"/>
                </a:moveTo>
                <a:lnTo>
                  <a:pt x="11217616" y="11345250"/>
                </a:lnTo>
                <a:lnTo>
                  <a:pt x="11217616" y="0"/>
                </a:lnTo>
                <a:lnTo>
                  <a:pt x="0" y="0"/>
                </a:lnTo>
                <a:lnTo>
                  <a:pt x="0" y="1134525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666340" y="11953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924827" y="1203249"/>
            <a:ext cx="6438345" cy="1027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47"/>
              </a:lnSpc>
              <a:spcBef>
                <a:spcPct val="0"/>
              </a:spcBef>
            </a:pPr>
            <a:r>
              <a:rPr lang="en-US" b="true" sz="5676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VIDEO CLIENTE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8663946" y="1078215"/>
            <a:ext cx="11149203" cy="10528588"/>
          </a:xfrm>
          <a:custGeom>
            <a:avLst/>
            <a:gdLst/>
            <a:ahLst/>
            <a:cxnLst/>
            <a:rect r="r" b="b" t="t" l="l"/>
            <a:pathLst>
              <a:path h="10528588" w="11149203">
                <a:moveTo>
                  <a:pt x="11149203" y="0"/>
                </a:moveTo>
                <a:lnTo>
                  <a:pt x="0" y="0"/>
                </a:lnTo>
                <a:lnTo>
                  <a:pt x="0" y="10528588"/>
                </a:lnTo>
                <a:lnTo>
                  <a:pt x="11149203" y="10528588"/>
                </a:lnTo>
                <a:lnTo>
                  <a:pt x="11149203" y="0"/>
                </a:lnTo>
                <a:close/>
              </a:path>
            </a:pathLst>
          </a:custGeom>
          <a:blipFill>
            <a:blip r:embed="rId2"/>
            <a:stretch>
              <a:fillRect l="0" t="-3549" r="0" b="-3549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-2794230" y="-1358765"/>
            <a:ext cx="11217616" cy="11345250"/>
          </a:xfrm>
          <a:custGeom>
            <a:avLst/>
            <a:gdLst/>
            <a:ahLst/>
            <a:cxnLst/>
            <a:rect r="r" b="b" t="t" l="l"/>
            <a:pathLst>
              <a:path h="11345250" w="11217616">
                <a:moveTo>
                  <a:pt x="0" y="11345250"/>
                </a:moveTo>
                <a:lnTo>
                  <a:pt x="11217616" y="11345250"/>
                </a:lnTo>
                <a:lnTo>
                  <a:pt x="11217616" y="0"/>
                </a:lnTo>
                <a:lnTo>
                  <a:pt x="0" y="0"/>
                </a:lnTo>
                <a:lnTo>
                  <a:pt x="0" y="1134525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641297" y="-15594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814578" y="1902322"/>
            <a:ext cx="5849367" cy="1027366"/>
            <a:chOff x="0" y="0"/>
            <a:chExt cx="2166432" cy="38050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66432" cy="380506"/>
            </a:xfrm>
            <a:custGeom>
              <a:avLst/>
              <a:gdLst/>
              <a:ahLst/>
              <a:cxnLst/>
              <a:rect r="r" b="b" t="t" l="l"/>
              <a:pathLst>
                <a:path h="380506" w="2166432">
                  <a:moveTo>
                    <a:pt x="13235" y="0"/>
                  </a:moveTo>
                  <a:lnTo>
                    <a:pt x="2153197" y="0"/>
                  </a:lnTo>
                  <a:cubicBezTo>
                    <a:pt x="2156707" y="0"/>
                    <a:pt x="2160074" y="1394"/>
                    <a:pt x="2162556" y="3877"/>
                  </a:cubicBezTo>
                  <a:cubicBezTo>
                    <a:pt x="2165038" y="6359"/>
                    <a:pt x="2166432" y="9725"/>
                    <a:pt x="2166432" y="13235"/>
                  </a:cubicBezTo>
                  <a:lnTo>
                    <a:pt x="2166432" y="367270"/>
                  </a:lnTo>
                  <a:cubicBezTo>
                    <a:pt x="2166432" y="370781"/>
                    <a:pt x="2165038" y="374147"/>
                    <a:pt x="2162556" y="376629"/>
                  </a:cubicBezTo>
                  <a:cubicBezTo>
                    <a:pt x="2160074" y="379111"/>
                    <a:pt x="2156707" y="380506"/>
                    <a:pt x="2153197" y="380506"/>
                  </a:cubicBezTo>
                  <a:lnTo>
                    <a:pt x="13235" y="380506"/>
                  </a:lnTo>
                  <a:cubicBezTo>
                    <a:pt x="9725" y="380506"/>
                    <a:pt x="6359" y="379111"/>
                    <a:pt x="3877" y="376629"/>
                  </a:cubicBezTo>
                  <a:cubicBezTo>
                    <a:pt x="1394" y="374147"/>
                    <a:pt x="0" y="370781"/>
                    <a:pt x="0" y="367270"/>
                  </a:cubicBezTo>
                  <a:lnTo>
                    <a:pt x="0" y="13235"/>
                  </a:lnTo>
                  <a:cubicBezTo>
                    <a:pt x="0" y="9725"/>
                    <a:pt x="1394" y="6359"/>
                    <a:pt x="3877" y="3877"/>
                  </a:cubicBezTo>
                  <a:cubicBezTo>
                    <a:pt x="6359" y="1394"/>
                    <a:pt x="9725" y="0"/>
                    <a:pt x="13235" y="0"/>
                  </a:cubicBezTo>
                  <a:close/>
                </a:path>
              </a:pathLst>
            </a:custGeom>
            <a:solidFill>
              <a:srgbClr val="00285D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2166432" cy="4567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2999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Tipos de clientes</a:t>
              </a:r>
            </a:p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960281" y="1902322"/>
            <a:ext cx="5849367" cy="1027366"/>
            <a:chOff x="0" y="0"/>
            <a:chExt cx="2166432" cy="38050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66432" cy="380506"/>
            </a:xfrm>
            <a:custGeom>
              <a:avLst/>
              <a:gdLst/>
              <a:ahLst/>
              <a:cxnLst/>
              <a:rect r="r" b="b" t="t" l="l"/>
              <a:pathLst>
                <a:path h="380506" w="2166432">
                  <a:moveTo>
                    <a:pt x="13235" y="0"/>
                  </a:moveTo>
                  <a:lnTo>
                    <a:pt x="2153197" y="0"/>
                  </a:lnTo>
                  <a:cubicBezTo>
                    <a:pt x="2156707" y="0"/>
                    <a:pt x="2160074" y="1394"/>
                    <a:pt x="2162556" y="3877"/>
                  </a:cubicBezTo>
                  <a:cubicBezTo>
                    <a:pt x="2165038" y="6359"/>
                    <a:pt x="2166432" y="9725"/>
                    <a:pt x="2166432" y="13235"/>
                  </a:cubicBezTo>
                  <a:lnTo>
                    <a:pt x="2166432" y="367270"/>
                  </a:lnTo>
                  <a:cubicBezTo>
                    <a:pt x="2166432" y="370781"/>
                    <a:pt x="2165038" y="374147"/>
                    <a:pt x="2162556" y="376629"/>
                  </a:cubicBezTo>
                  <a:cubicBezTo>
                    <a:pt x="2160074" y="379111"/>
                    <a:pt x="2156707" y="380506"/>
                    <a:pt x="2153197" y="380506"/>
                  </a:cubicBezTo>
                  <a:lnTo>
                    <a:pt x="13235" y="380506"/>
                  </a:lnTo>
                  <a:cubicBezTo>
                    <a:pt x="9725" y="380506"/>
                    <a:pt x="6359" y="379111"/>
                    <a:pt x="3877" y="376629"/>
                  </a:cubicBezTo>
                  <a:cubicBezTo>
                    <a:pt x="1394" y="374147"/>
                    <a:pt x="0" y="370781"/>
                    <a:pt x="0" y="367270"/>
                  </a:cubicBezTo>
                  <a:lnTo>
                    <a:pt x="0" y="13235"/>
                  </a:lnTo>
                  <a:cubicBezTo>
                    <a:pt x="0" y="9725"/>
                    <a:pt x="1394" y="6359"/>
                    <a:pt x="3877" y="3877"/>
                  </a:cubicBezTo>
                  <a:cubicBezTo>
                    <a:pt x="6359" y="1394"/>
                    <a:pt x="9725" y="0"/>
                    <a:pt x="13235" y="0"/>
                  </a:cubicBezTo>
                  <a:close/>
                </a:path>
              </a:pathLst>
            </a:custGeom>
            <a:solidFill>
              <a:srgbClr val="00285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2166432" cy="4567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99"/>
                </a:lnSpc>
              </a:pPr>
              <a:r>
                <a:rPr lang="en-US" sz="2999" b="true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Datos de mercado</a:t>
              </a:r>
            </a:p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2814578" y="3551932"/>
            <a:ext cx="5849367" cy="5581154"/>
            <a:chOff x="0" y="0"/>
            <a:chExt cx="2166432" cy="206709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66432" cy="2067094"/>
            </a:xfrm>
            <a:custGeom>
              <a:avLst/>
              <a:gdLst/>
              <a:ahLst/>
              <a:cxnLst/>
              <a:rect r="r" b="b" t="t" l="l"/>
              <a:pathLst>
                <a:path h="2067094" w="2166432">
                  <a:moveTo>
                    <a:pt x="5294" y="0"/>
                  </a:moveTo>
                  <a:lnTo>
                    <a:pt x="2161138" y="0"/>
                  </a:lnTo>
                  <a:cubicBezTo>
                    <a:pt x="2162542" y="0"/>
                    <a:pt x="2163889" y="558"/>
                    <a:pt x="2164882" y="1551"/>
                  </a:cubicBezTo>
                  <a:cubicBezTo>
                    <a:pt x="2165875" y="2543"/>
                    <a:pt x="2166432" y="3890"/>
                    <a:pt x="2166432" y="5294"/>
                  </a:cubicBezTo>
                  <a:lnTo>
                    <a:pt x="2166432" y="2061800"/>
                  </a:lnTo>
                  <a:cubicBezTo>
                    <a:pt x="2166432" y="2063204"/>
                    <a:pt x="2165875" y="2064551"/>
                    <a:pt x="2164882" y="2065543"/>
                  </a:cubicBezTo>
                  <a:cubicBezTo>
                    <a:pt x="2163889" y="2066536"/>
                    <a:pt x="2162542" y="2067094"/>
                    <a:pt x="2161138" y="2067094"/>
                  </a:cubicBezTo>
                  <a:lnTo>
                    <a:pt x="5294" y="2067094"/>
                  </a:lnTo>
                  <a:cubicBezTo>
                    <a:pt x="3890" y="2067094"/>
                    <a:pt x="2543" y="2066536"/>
                    <a:pt x="1551" y="2065543"/>
                  </a:cubicBezTo>
                  <a:cubicBezTo>
                    <a:pt x="558" y="2064551"/>
                    <a:pt x="0" y="2063204"/>
                    <a:pt x="0" y="2061800"/>
                  </a:cubicBezTo>
                  <a:lnTo>
                    <a:pt x="0" y="5294"/>
                  </a:lnTo>
                  <a:cubicBezTo>
                    <a:pt x="0" y="3890"/>
                    <a:pt x="558" y="2543"/>
                    <a:pt x="1551" y="1551"/>
                  </a:cubicBezTo>
                  <a:cubicBezTo>
                    <a:pt x="2543" y="558"/>
                    <a:pt x="3890" y="0"/>
                    <a:pt x="5294" y="0"/>
                  </a:cubicBezTo>
                  <a:close/>
                </a:path>
              </a:pathLst>
            </a:custGeom>
            <a:solidFill>
              <a:srgbClr val="5D759D"/>
            </a:solidFill>
            <a:ln w="19050" cap="sq">
              <a:solidFill>
                <a:srgbClr val="F9FCFC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2166432" cy="21147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08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708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960281" y="3551932"/>
            <a:ext cx="5849367" cy="5581154"/>
            <a:chOff x="0" y="0"/>
            <a:chExt cx="2166432" cy="206709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66432" cy="2067094"/>
            </a:xfrm>
            <a:custGeom>
              <a:avLst/>
              <a:gdLst/>
              <a:ahLst/>
              <a:cxnLst/>
              <a:rect r="r" b="b" t="t" l="l"/>
              <a:pathLst>
                <a:path h="2067094" w="2166432">
                  <a:moveTo>
                    <a:pt x="5294" y="0"/>
                  </a:moveTo>
                  <a:lnTo>
                    <a:pt x="2161138" y="0"/>
                  </a:lnTo>
                  <a:cubicBezTo>
                    <a:pt x="2162542" y="0"/>
                    <a:pt x="2163889" y="558"/>
                    <a:pt x="2164882" y="1551"/>
                  </a:cubicBezTo>
                  <a:cubicBezTo>
                    <a:pt x="2165875" y="2543"/>
                    <a:pt x="2166432" y="3890"/>
                    <a:pt x="2166432" y="5294"/>
                  </a:cubicBezTo>
                  <a:lnTo>
                    <a:pt x="2166432" y="2061800"/>
                  </a:lnTo>
                  <a:cubicBezTo>
                    <a:pt x="2166432" y="2063204"/>
                    <a:pt x="2165875" y="2064551"/>
                    <a:pt x="2164882" y="2065543"/>
                  </a:cubicBezTo>
                  <a:cubicBezTo>
                    <a:pt x="2163889" y="2066536"/>
                    <a:pt x="2162542" y="2067094"/>
                    <a:pt x="2161138" y="2067094"/>
                  </a:cubicBezTo>
                  <a:lnTo>
                    <a:pt x="5294" y="2067094"/>
                  </a:lnTo>
                  <a:cubicBezTo>
                    <a:pt x="3890" y="2067094"/>
                    <a:pt x="2543" y="2066536"/>
                    <a:pt x="1551" y="2065543"/>
                  </a:cubicBezTo>
                  <a:cubicBezTo>
                    <a:pt x="558" y="2064551"/>
                    <a:pt x="0" y="2063204"/>
                    <a:pt x="0" y="2061800"/>
                  </a:cubicBezTo>
                  <a:lnTo>
                    <a:pt x="0" y="5294"/>
                  </a:lnTo>
                  <a:cubicBezTo>
                    <a:pt x="0" y="3890"/>
                    <a:pt x="558" y="2543"/>
                    <a:pt x="1551" y="1551"/>
                  </a:cubicBezTo>
                  <a:cubicBezTo>
                    <a:pt x="2543" y="558"/>
                    <a:pt x="3890" y="0"/>
                    <a:pt x="5294" y="0"/>
                  </a:cubicBezTo>
                  <a:close/>
                </a:path>
              </a:pathLst>
            </a:custGeom>
            <a:solidFill>
              <a:srgbClr val="5D759D"/>
            </a:solidFill>
            <a:ln w="19050" cap="sq">
              <a:solidFill>
                <a:srgbClr val="F9FCFC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2166432" cy="21147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08"/>
                </a:lnSpc>
                <a:spcBef>
                  <a:spcPct val="0"/>
                </a:spcBef>
              </a:pPr>
            </a:p>
            <a:p>
              <a:pPr algn="ctr" marL="0" indent="0" lvl="0">
                <a:lnSpc>
                  <a:spcPts val="1708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948691" y="7845213"/>
            <a:ext cx="2229197" cy="2225144"/>
          </a:xfrm>
          <a:custGeom>
            <a:avLst/>
            <a:gdLst/>
            <a:ahLst/>
            <a:cxnLst/>
            <a:rect r="r" b="b" t="t" l="l"/>
            <a:pathLst>
              <a:path h="2225144" w="2229197">
                <a:moveTo>
                  <a:pt x="0" y="0"/>
                </a:moveTo>
                <a:lnTo>
                  <a:pt x="2229198" y="0"/>
                </a:lnTo>
                <a:lnTo>
                  <a:pt x="2229198" y="2225144"/>
                </a:lnTo>
                <a:lnTo>
                  <a:pt x="0" y="22251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4238547" y="8245762"/>
            <a:ext cx="2560440" cy="2025075"/>
          </a:xfrm>
          <a:custGeom>
            <a:avLst/>
            <a:gdLst/>
            <a:ahLst/>
            <a:cxnLst/>
            <a:rect r="r" b="b" t="t" l="l"/>
            <a:pathLst>
              <a:path h="2025075" w="2560440">
                <a:moveTo>
                  <a:pt x="0" y="0"/>
                </a:moveTo>
                <a:lnTo>
                  <a:pt x="2560440" y="0"/>
                </a:lnTo>
                <a:lnTo>
                  <a:pt x="2560440" y="2025076"/>
                </a:lnTo>
                <a:lnTo>
                  <a:pt x="0" y="20250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2814578" y="3740596"/>
            <a:ext cx="5831824" cy="5137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Dueños de mascotas.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Personas que buscan productos de calidad.</a:t>
            </a:r>
          </a:p>
          <a:p>
            <a:pPr algn="l" marL="712470" indent="-356235" lvl="1">
              <a:lnSpc>
                <a:spcPts val="4620"/>
              </a:lnSpc>
              <a:buFont typeface="Arial"/>
              <a:buChar char="•"/>
            </a:pPr>
            <a:r>
              <a:rPr lang="en-US" sz="33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Clientes que utilizan redes sociales.</a:t>
            </a:r>
          </a:p>
          <a:p>
            <a:pPr algn="l" marL="690881" indent="-345440" lvl="1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Consumidores principalmente de Santiago, con potencial expansión a regiones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960281" y="3846322"/>
            <a:ext cx="5831824" cy="4827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69291" indent="-334646" lvl="1">
              <a:lnSpc>
                <a:spcPts val="4340"/>
              </a:lnSpc>
              <a:buFont typeface="Arial"/>
              <a:buChar char="•"/>
            </a:pPr>
            <a:r>
              <a:rPr lang="en-US" sz="3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72% de los hogares chilenos tienen mascotas.</a:t>
            </a:r>
          </a:p>
          <a:p>
            <a:pPr algn="l" marL="669291" indent="-334646" lvl="1">
              <a:lnSpc>
                <a:spcPts val="4340"/>
              </a:lnSpc>
              <a:buFont typeface="Arial"/>
              <a:buChar char="•"/>
            </a:pPr>
            <a:r>
              <a:rPr lang="en-US" sz="3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mercado de producto y servicio de mascotas crece un 10% anual en chile.</a:t>
            </a:r>
          </a:p>
          <a:p>
            <a:pPr algn="l" marL="647702" indent="-323851" lvl="1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Las compras digitales en tienda para mascotas subieron un 30% desde el 2020.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179193" y="1028700"/>
            <a:ext cx="14797977" cy="8229600"/>
            <a:chOff x="0" y="0"/>
            <a:chExt cx="3897409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97409" cy="2167467"/>
            </a:xfrm>
            <a:custGeom>
              <a:avLst/>
              <a:gdLst/>
              <a:ahLst/>
              <a:cxnLst/>
              <a:rect r="r" b="b" t="t" l="l"/>
              <a:pathLst>
                <a:path h="2167467" w="3897409">
                  <a:moveTo>
                    <a:pt x="0" y="0"/>
                  </a:moveTo>
                  <a:lnTo>
                    <a:pt x="3897409" y="0"/>
                  </a:lnTo>
                  <a:lnTo>
                    <a:pt x="3897409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897409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true" flipV="true" rot="0">
            <a:off x="8699695" y="-574941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1130800" y="850013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487634" y="2235446"/>
            <a:ext cx="2360201" cy="2196438"/>
          </a:xfrm>
          <a:custGeom>
            <a:avLst/>
            <a:gdLst/>
            <a:ahLst/>
            <a:cxnLst/>
            <a:rect r="r" b="b" t="t" l="l"/>
            <a:pathLst>
              <a:path h="2196438" w="2360201">
                <a:moveTo>
                  <a:pt x="0" y="0"/>
                </a:moveTo>
                <a:lnTo>
                  <a:pt x="2360202" y="0"/>
                </a:lnTo>
                <a:lnTo>
                  <a:pt x="2360202" y="2196438"/>
                </a:lnTo>
                <a:lnTo>
                  <a:pt x="0" y="21964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7275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766349" y="3421250"/>
            <a:ext cx="1899991" cy="2021267"/>
          </a:xfrm>
          <a:custGeom>
            <a:avLst/>
            <a:gdLst/>
            <a:ahLst/>
            <a:cxnLst/>
            <a:rect r="r" b="b" t="t" l="l"/>
            <a:pathLst>
              <a:path h="2021267" w="1899991">
                <a:moveTo>
                  <a:pt x="0" y="0"/>
                </a:moveTo>
                <a:lnTo>
                  <a:pt x="1899991" y="0"/>
                </a:lnTo>
                <a:lnTo>
                  <a:pt x="1899991" y="2021268"/>
                </a:lnTo>
                <a:lnTo>
                  <a:pt x="0" y="20212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625945" y="5056790"/>
            <a:ext cx="2314521" cy="2311628"/>
          </a:xfrm>
          <a:custGeom>
            <a:avLst/>
            <a:gdLst/>
            <a:ahLst/>
            <a:cxnLst/>
            <a:rect r="r" b="b" t="t" l="l"/>
            <a:pathLst>
              <a:path h="2311628" w="2314521">
                <a:moveTo>
                  <a:pt x="0" y="0"/>
                </a:moveTo>
                <a:lnTo>
                  <a:pt x="2314522" y="0"/>
                </a:lnTo>
                <a:lnTo>
                  <a:pt x="2314522" y="2311629"/>
                </a:lnTo>
                <a:lnTo>
                  <a:pt x="0" y="231162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2851791" y="5018020"/>
            <a:ext cx="2215134" cy="2625344"/>
          </a:xfrm>
          <a:custGeom>
            <a:avLst/>
            <a:gdLst/>
            <a:ahLst/>
            <a:cxnLst/>
            <a:rect r="r" b="b" t="t" l="l"/>
            <a:pathLst>
              <a:path h="2625344" w="2215134">
                <a:moveTo>
                  <a:pt x="0" y="0"/>
                </a:moveTo>
                <a:lnTo>
                  <a:pt x="2215134" y="0"/>
                </a:lnTo>
                <a:lnTo>
                  <a:pt x="2215134" y="2625345"/>
                </a:lnTo>
                <a:lnTo>
                  <a:pt x="0" y="26253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46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4161278" y="6550207"/>
            <a:ext cx="2386156" cy="2186315"/>
          </a:xfrm>
          <a:custGeom>
            <a:avLst/>
            <a:gdLst/>
            <a:ahLst/>
            <a:cxnLst/>
            <a:rect r="r" b="b" t="t" l="l"/>
            <a:pathLst>
              <a:path h="2186315" w="2386156">
                <a:moveTo>
                  <a:pt x="0" y="0"/>
                </a:moveTo>
                <a:lnTo>
                  <a:pt x="2386156" y="0"/>
                </a:lnTo>
                <a:lnTo>
                  <a:pt x="2386156" y="2186315"/>
                </a:lnTo>
                <a:lnTo>
                  <a:pt x="0" y="218631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261675" y="1115000"/>
            <a:ext cx="7764651" cy="81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07"/>
              </a:lnSpc>
              <a:spcBef>
                <a:spcPct val="0"/>
              </a:spcBef>
            </a:pPr>
            <a:r>
              <a:rPr lang="en-US" b="true" sz="45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PROBLEMAS DETECTADOS: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940467" y="2459270"/>
            <a:ext cx="6695094" cy="1682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</a:p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b="true" sz="2399">
                <a:solidFill>
                  <a:srgbClr val="152540"/>
                </a:solidFill>
                <a:latin typeface="Poppins Bold"/>
                <a:ea typeface="Poppins Bold"/>
                <a:cs typeface="Poppins Bold"/>
                <a:sym typeface="Poppins Bold"/>
              </a:rPr>
              <a:t>Alcance limitado por la gestión manual</a:t>
            </a:r>
          </a:p>
          <a:p>
            <a:pPr algn="l">
              <a:lnSpc>
                <a:spcPts val="3359"/>
              </a:lnSpc>
            </a:pPr>
          </a:p>
          <a:p>
            <a:pPr algn="l">
              <a:lnSpc>
                <a:spcPts val="3359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6457195" y="3862114"/>
            <a:ext cx="6695094" cy="1682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</a:p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b="true" sz="2399">
                <a:solidFill>
                  <a:srgbClr val="152540"/>
                </a:solidFill>
                <a:latin typeface="Poppins Bold"/>
                <a:ea typeface="Poppins Bold"/>
                <a:cs typeface="Poppins Bold"/>
                <a:sym typeface="Poppins Bold"/>
              </a:rPr>
              <a:t> Demoras y errores en pedidos y pagos</a:t>
            </a:r>
          </a:p>
          <a:p>
            <a:pPr algn="l">
              <a:lnSpc>
                <a:spcPts val="3359"/>
              </a:lnSpc>
            </a:pPr>
          </a:p>
          <a:p>
            <a:pPr algn="l">
              <a:lnSpc>
                <a:spcPts val="3359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5190750" y="5509193"/>
            <a:ext cx="8269756" cy="1263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</a:p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b="true" sz="2399">
                <a:solidFill>
                  <a:srgbClr val="152540"/>
                </a:solidFill>
                <a:latin typeface="Poppins Bold"/>
                <a:ea typeface="Poppins Bold"/>
                <a:cs typeface="Poppins Bold"/>
                <a:sym typeface="Poppins Bold"/>
              </a:rPr>
              <a:t> Falta de control actualizado del inventario</a:t>
            </a:r>
          </a:p>
          <a:p>
            <a:pPr algn="l">
              <a:lnSpc>
                <a:spcPts val="3359"/>
              </a:lnSpc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5695856" y="7038908"/>
            <a:ext cx="8217772" cy="1682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</a:p>
          <a:p>
            <a:pPr algn="l" marL="518157" indent="-259078" lvl="1">
              <a:lnSpc>
                <a:spcPts val="3359"/>
              </a:lnSpc>
              <a:buFont typeface="Arial"/>
              <a:buChar char="•"/>
            </a:pPr>
            <a:r>
              <a:rPr lang="en-US" b="true" sz="2399">
                <a:solidFill>
                  <a:srgbClr val="152540"/>
                </a:solidFill>
                <a:latin typeface="Poppins Bold"/>
                <a:ea typeface="Poppins Bold"/>
                <a:cs typeface="Poppins Bold"/>
                <a:sym typeface="Poppins Bold"/>
              </a:rPr>
              <a:t>Ausencia de reportes de ventas para la toma de decisiones</a:t>
            </a:r>
          </a:p>
          <a:p>
            <a:pPr algn="l">
              <a:lnSpc>
                <a:spcPts val="3359"/>
              </a:lnSpc>
            </a:pP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2024" t="-67794" r="0" b="-46912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179193" y="1028700"/>
            <a:ext cx="14797977" cy="8229600"/>
            <a:chOff x="0" y="0"/>
            <a:chExt cx="3897409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97409" cy="2167467"/>
            </a:xfrm>
            <a:custGeom>
              <a:avLst/>
              <a:gdLst/>
              <a:ahLst/>
              <a:cxnLst/>
              <a:rect r="r" b="b" t="t" l="l"/>
              <a:pathLst>
                <a:path h="2167467" w="3897409">
                  <a:moveTo>
                    <a:pt x="0" y="0"/>
                  </a:moveTo>
                  <a:lnTo>
                    <a:pt x="3897409" y="0"/>
                  </a:lnTo>
                  <a:lnTo>
                    <a:pt x="3897409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897409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true" flipV="true" rot="0">
            <a:off x="8699695" y="-574941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1103843" y="818374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10"/>
                </a:lnTo>
                <a:lnTo>
                  <a:pt x="0" y="94517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190751" y="1340100"/>
            <a:ext cx="9880594" cy="81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07"/>
              </a:lnSpc>
              <a:spcBef>
                <a:spcPct val="0"/>
              </a:spcBef>
            </a:pPr>
            <a:r>
              <a:rPr lang="en-US" b="true" sz="45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METRICAS NEGOCIO ACTUAL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800792" y="1057255"/>
            <a:ext cx="7079630" cy="984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67"/>
              </a:lnSpc>
              <a:spcBef>
                <a:spcPct val="0"/>
              </a:spcBef>
            </a:pPr>
            <a:r>
              <a:rPr lang="en-US" b="true" sz="54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METRICAS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343823" y="8080432"/>
            <a:ext cx="2807083" cy="323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3"/>
              </a:lnSpc>
            </a:pPr>
            <a:r>
              <a:rPr lang="en-US" sz="183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Tiempo de compra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717381" y="8080432"/>
            <a:ext cx="2807083" cy="6463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3"/>
              </a:lnSpc>
            </a:pPr>
            <a:r>
              <a:rPr lang="en-US" sz="183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Errores en pedidos o stock</a:t>
            </a:r>
          </a:p>
        </p:txBody>
      </p:sp>
      <p:sp>
        <p:nvSpPr>
          <p:cNvPr name="Freeform 5" id="5"/>
          <p:cNvSpPr/>
          <p:nvPr/>
        </p:nvSpPr>
        <p:spPr>
          <a:xfrm flipH="true" flipV="false" rot="0">
            <a:off x="8887673" y="1625872"/>
            <a:ext cx="11149203" cy="10528588"/>
          </a:xfrm>
          <a:custGeom>
            <a:avLst/>
            <a:gdLst/>
            <a:ahLst/>
            <a:cxnLst/>
            <a:rect r="r" b="b" t="t" l="l"/>
            <a:pathLst>
              <a:path h="10528588" w="11149203">
                <a:moveTo>
                  <a:pt x="11149203" y="0"/>
                </a:moveTo>
                <a:lnTo>
                  <a:pt x="0" y="0"/>
                </a:lnTo>
                <a:lnTo>
                  <a:pt x="0" y="10528588"/>
                </a:lnTo>
                <a:lnTo>
                  <a:pt x="11149203" y="10528588"/>
                </a:lnTo>
                <a:lnTo>
                  <a:pt x="11149203" y="0"/>
                </a:lnTo>
                <a:close/>
              </a:path>
            </a:pathLst>
          </a:custGeom>
          <a:blipFill>
            <a:blip r:embed="rId2"/>
            <a:stretch>
              <a:fillRect l="0" t="-3549" r="0" b="-3549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3562843" y="8033928"/>
            <a:ext cx="2807083" cy="6463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3"/>
              </a:lnSpc>
            </a:pPr>
            <a:r>
              <a:rPr lang="en-US" sz="183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Precisión en las decisiones de gestión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086565" y="8033928"/>
            <a:ext cx="2807083" cy="323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3"/>
              </a:lnSpc>
            </a:pPr>
            <a:r>
              <a:rPr lang="en-US" sz="183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Gestión manual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77131" y="2488495"/>
            <a:ext cx="17933737" cy="5915682"/>
          </a:xfrm>
          <a:custGeom>
            <a:avLst/>
            <a:gdLst/>
            <a:ahLst/>
            <a:cxnLst/>
            <a:rect r="r" b="b" t="t" l="l"/>
            <a:pathLst>
              <a:path h="5915682" w="17933737">
                <a:moveTo>
                  <a:pt x="0" y="0"/>
                </a:moveTo>
                <a:lnTo>
                  <a:pt x="17933738" y="0"/>
                </a:lnTo>
                <a:lnTo>
                  <a:pt x="17933738" y="5915682"/>
                </a:lnTo>
                <a:lnTo>
                  <a:pt x="0" y="5915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707" t="-25640" r="-2877" b="-24167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024" t="-67794" r="0" b="-46912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true" rot="0">
            <a:off x="-4416823" y="-88229"/>
            <a:ext cx="11217616" cy="11345250"/>
          </a:xfrm>
          <a:custGeom>
            <a:avLst/>
            <a:gdLst/>
            <a:ahLst/>
            <a:cxnLst/>
            <a:rect r="r" b="b" t="t" l="l"/>
            <a:pathLst>
              <a:path h="11345250" w="11217616">
                <a:moveTo>
                  <a:pt x="0" y="11345249"/>
                </a:moveTo>
                <a:lnTo>
                  <a:pt x="11217615" y="11345249"/>
                </a:lnTo>
                <a:lnTo>
                  <a:pt x="11217615" y="0"/>
                </a:lnTo>
                <a:lnTo>
                  <a:pt x="0" y="0"/>
                </a:lnTo>
                <a:lnTo>
                  <a:pt x="0" y="11345249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537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72619" y="1028700"/>
            <a:ext cx="3607399" cy="6714238"/>
            <a:chOff x="0" y="0"/>
            <a:chExt cx="2752159" cy="512243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52159" cy="5122431"/>
            </a:xfrm>
            <a:custGeom>
              <a:avLst/>
              <a:gdLst/>
              <a:ahLst/>
              <a:cxnLst/>
              <a:rect r="r" b="b" t="t" l="l"/>
              <a:pathLst>
                <a:path h="5122431" w="2752159">
                  <a:moveTo>
                    <a:pt x="0" y="0"/>
                  </a:moveTo>
                  <a:lnTo>
                    <a:pt x="2752159" y="0"/>
                  </a:lnTo>
                  <a:lnTo>
                    <a:pt x="2752159" y="5122431"/>
                  </a:lnTo>
                  <a:lnTo>
                    <a:pt x="0" y="5122431"/>
                  </a:lnTo>
                  <a:close/>
                </a:path>
              </a:pathLst>
            </a:custGeom>
            <a:solidFill>
              <a:srgbClr val="F1F1F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4460530" y="1028700"/>
            <a:ext cx="3554851" cy="6714238"/>
            <a:chOff x="0" y="0"/>
            <a:chExt cx="2712069" cy="512243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712070" cy="5122431"/>
            </a:xfrm>
            <a:custGeom>
              <a:avLst/>
              <a:gdLst/>
              <a:ahLst/>
              <a:cxnLst/>
              <a:rect r="r" b="b" t="t" l="l"/>
              <a:pathLst>
                <a:path h="5122431" w="2712070">
                  <a:moveTo>
                    <a:pt x="0" y="0"/>
                  </a:moveTo>
                  <a:lnTo>
                    <a:pt x="2712070" y="0"/>
                  </a:lnTo>
                  <a:lnTo>
                    <a:pt x="2712070" y="5122431"/>
                  </a:lnTo>
                  <a:lnTo>
                    <a:pt x="0" y="5122431"/>
                  </a:lnTo>
                  <a:close/>
                </a:path>
              </a:pathLst>
            </a:custGeom>
            <a:solidFill>
              <a:srgbClr val="F1F1F1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72619" y="7931636"/>
            <a:ext cx="8783965" cy="2093394"/>
            <a:chOff x="0" y="0"/>
            <a:chExt cx="3707150" cy="88348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707150" cy="883488"/>
            </a:xfrm>
            <a:custGeom>
              <a:avLst/>
              <a:gdLst/>
              <a:ahLst/>
              <a:cxnLst/>
              <a:rect r="r" b="b" t="t" l="l"/>
              <a:pathLst>
                <a:path h="883488" w="3707150">
                  <a:moveTo>
                    <a:pt x="0" y="0"/>
                  </a:moveTo>
                  <a:lnTo>
                    <a:pt x="3707150" y="0"/>
                  </a:lnTo>
                  <a:lnTo>
                    <a:pt x="3707150" y="883488"/>
                  </a:lnTo>
                  <a:lnTo>
                    <a:pt x="0" y="883488"/>
                  </a:lnTo>
                  <a:close/>
                </a:path>
              </a:pathLst>
            </a:custGeom>
            <a:solidFill>
              <a:srgbClr val="F1F1F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231417" y="7931636"/>
            <a:ext cx="8783965" cy="2093394"/>
            <a:chOff x="0" y="0"/>
            <a:chExt cx="3707150" cy="8834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707150" cy="883488"/>
            </a:xfrm>
            <a:custGeom>
              <a:avLst/>
              <a:gdLst/>
              <a:ahLst/>
              <a:cxnLst/>
              <a:rect r="r" b="b" t="t" l="l"/>
              <a:pathLst>
                <a:path h="883488" w="3707150">
                  <a:moveTo>
                    <a:pt x="0" y="0"/>
                  </a:moveTo>
                  <a:lnTo>
                    <a:pt x="3707150" y="0"/>
                  </a:lnTo>
                  <a:lnTo>
                    <a:pt x="3707150" y="883488"/>
                  </a:lnTo>
                  <a:lnTo>
                    <a:pt x="0" y="883488"/>
                  </a:lnTo>
                  <a:close/>
                </a:path>
              </a:pathLst>
            </a:custGeom>
            <a:solidFill>
              <a:srgbClr val="F1F1F1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104803" y="1028700"/>
            <a:ext cx="3152519" cy="3326432"/>
            <a:chOff x="0" y="0"/>
            <a:chExt cx="2405122" cy="253780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05122" cy="2537804"/>
            </a:xfrm>
            <a:custGeom>
              <a:avLst/>
              <a:gdLst/>
              <a:ahLst/>
              <a:cxnLst/>
              <a:rect r="r" b="b" t="t" l="l"/>
              <a:pathLst>
                <a:path h="2537804" w="2405122">
                  <a:moveTo>
                    <a:pt x="0" y="0"/>
                  </a:moveTo>
                  <a:lnTo>
                    <a:pt x="2405122" y="0"/>
                  </a:lnTo>
                  <a:lnTo>
                    <a:pt x="2405122" y="2537804"/>
                  </a:lnTo>
                  <a:lnTo>
                    <a:pt x="0" y="2537804"/>
                  </a:lnTo>
                  <a:close/>
                </a:path>
              </a:pathLst>
            </a:custGeom>
            <a:solidFill>
              <a:srgbClr val="F1F1F1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104803" y="4482993"/>
            <a:ext cx="3152519" cy="3259945"/>
            <a:chOff x="0" y="0"/>
            <a:chExt cx="2405122" cy="24870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405122" cy="2487080"/>
            </a:xfrm>
            <a:custGeom>
              <a:avLst/>
              <a:gdLst/>
              <a:ahLst/>
              <a:cxnLst/>
              <a:rect r="r" b="b" t="t" l="l"/>
              <a:pathLst>
                <a:path h="2487080" w="2405122">
                  <a:moveTo>
                    <a:pt x="0" y="0"/>
                  </a:moveTo>
                  <a:lnTo>
                    <a:pt x="2405122" y="0"/>
                  </a:lnTo>
                  <a:lnTo>
                    <a:pt x="2405122" y="2487080"/>
                  </a:lnTo>
                  <a:lnTo>
                    <a:pt x="0" y="2487080"/>
                  </a:lnTo>
                  <a:close/>
                </a:path>
              </a:pathLst>
            </a:custGeom>
            <a:solidFill>
              <a:srgbClr val="F1F1F1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7381033" y="1028700"/>
            <a:ext cx="3525935" cy="6714238"/>
            <a:chOff x="0" y="0"/>
            <a:chExt cx="2690009" cy="512243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690009" cy="5122431"/>
            </a:xfrm>
            <a:custGeom>
              <a:avLst/>
              <a:gdLst/>
              <a:ahLst/>
              <a:cxnLst/>
              <a:rect r="r" b="b" t="t" l="l"/>
              <a:pathLst>
                <a:path h="5122431" w="2690009">
                  <a:moveTo>
                    <a:pt x="0" y="0"/>
                  </a:moveTo>
                  <a:lnTo>
                    <a:pt x="2690009" y="0"/>
                  </a:lnTo>
                  <a:lnTo>
                    <a:pt x="2690009" y="5122431"/>
                  </a:lnTo>
                  <a:lnTo>
                    <a:pt x="0" y="5122431"/>
                  </a:lnTo>
                  <a:close/>
                </a:path>
              </a:pathLst>
            </a:custGeom>
            <a:solidFill>
              <a:srgbClr val="F1F1F1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4030678" y="1028700"/>
            <a:ext cx="3152519" cy="3326432"/>
            <a:chOff x="0" y="0"/>
            <a:chExt cx="2405122" cy="253780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405122" cy="2537804"/>
            </a:xfrm>
            <a:custGeom>
              <a:avLst/>
              <a:gdLst/>
              <a:ahLst/>
              <a:cxnLst/>
              <a:rect r="r" b="b" t="t" l="l"/>
              <a:pathLst>
                <a:path h="2537804" w="2405122">
                  <a:moveTo>
                    <a:pt x="0" y="0"/>
                  </a:moveTo>
                  <a:lnTo>
                    <a:pt x="2405122" y="0"/>
                  </a:lnTo>
                  <a:lnTo>
                    <a:pt x="2405122" y="2537804"/>
                  </a:lnTo>
                  <a:lnTo>
                    <a:pt x="0" y="2537804"/>
                  </a:lnTo>
                  <a:close/>
                </a:path>
              </a:pathLst>
            </a:custGeom>
            <a:solidFill>
              <a:srgbClr val="F1F1F1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4030678" y="4482993"/>
            <a:ext cx="3152519" cy="3259945"/>
            <a:chOff x="0" y="0"/>
            <a:chExt cx="2405122" cy="24870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405122" cy="2487080"/>
            </a:xfrm>
            <a:custGeom>
              <a:avLst/>
              <a:gdLst/>
              <a:ahLst/>
              <a:cxnLst/>
              <a:rect r="r" b="b" t="t" l="l"/>
              <a:pathLst>
                <a:path h="2487080" w="2405122">
                  <a:moveTo>
                    <a:pt x="0" y="0"/>
                  </a:moveTo>
                  <a:lnTo>
                    <a:pt x="2405122" y="0"/>
                  </a:lnTo>
                  <a:lnTo>
                    <a:pt x="2405122" y="2487080"/>
                  </a:lnTo>
                  <a:lnTo>
                    <a:pt x="0" y="2487080"/>
                  </a:lnTo>
                  <a:close/>
                </a:path>
              </a:pathLst>
            </a:custGeom>
            <a:solidFill>
              <a:srgbClr val="F1F1F1"/>
            </a:solidFill>
          </p:spPr>
        </p:sp>
      </p:grpSp>
      <p:sp>
        <p:nvSpPr>
          <p:cNvPr name="Freeform 20" id="20"/>
          <p:cNvSpPr/>
          <p:nvPr/>
        </p:nvSpPr>
        <p:spPr>
          <a:xfrm flipH="false" flipV="false" rot="0">
            <a:off x="427914" y="1309955"/>
            <a:ext cx="589650" cy="459190"/>
          </a:xfrm>
          <a:custGeom>
            <a:avLst/>
            <a:gdLst/>
            <a:ahLst/>
            <a:cxnLst/>
            <a:rect r="r" b="b" t="t" l="l"/>
            <a:pathLst>
              <a:path h="459190" w="589650">
                <a:moveTo>
                  <a:pt x="0" y="0"/>
                </a:moveTo>
                <a:lnTo>
                  <a:pt x="589650" y="0"/>
                </a:lnTo>
                <a:lnTo>
                  <a:pt x="589650" y="459189"/>
                </a:lnTo>
                <a:lnTo>
                  <a:pt x="0" y="4591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1267542" y="1344276"/>
            <a:ext cx="403625" cy="424869"/>
          </a:xfrm>
          <a:custGeom>
            <a:avLst/>
            <a:gdLst/>
            <a:ahLst/>
            <a:cxnLst/>
            <a:rect r="r" b="b" t="t" l="l"/>
            <a:pathLst>
              <a:path h="424869" w="403625">
                <a:moveTo>
                  <a:pt x="0" y="0"/>
                </a:moveTo>
                <a:lnTo>
                  <a:pt x="403625" y="0"/>
                </a:lnTo>
                <a:lnTo>
                  <a:pt x="403625" y="424868"/>
                </a:lnTo>
                <a:lnTo>
                  <a:pt x="0" y="4248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4201461" y="1417056"/>
            <a:ext cx="508576" cy="545390"/>
          </a:xfrm>
          <a:custGeom>
            <a:avLst/>
            <a:gdLst/>
            <a:ahLst/>
            <a:cxnLst/>
            <a:rect r="r" b="b" t="t" l="l"/>
            <a:pathLst>
              <a:path h="545390" w="508576">
                <a:moveTo>
                  <a:pt x="0" y="0"/>
                </a:moveTo>
                <a:lnTo>
                  <a:pt x="508576" y="0"/>
                </a:lnTo>
                <a:lnTo>
                  <a:pt x="508576" y="545390"/>
                </a:lnTo>
                <a:lnTo>
                  <a:pt x="0" y="5453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4201461" y="4669457"/>
            <a:ext cx="482231" cy="576659"/>
          </a:xfrm>
          <a:custGeom>
            <a:avLst/>
            <a:gdLst/>
            <a:ahLst/>
            <a:cxnLst/>
            <a:rect r="r" b="b" t="t" l="l"/>
            <a:pathLst>
              <a:path h="576659" w="482231">
                <a:moveTo>
                  <a:pt x="0" y="0"/>
                </a:moveTo>
                <a:lnTo>
                  <a:pt x="482231" y="0"/>
                </a:lnTo>
                <a:lnTo>
                  <a:pt x="482231" y="576659"/>
                </a:lnTo>
                <a:lnTo>
                  <a:pt x="0" y="57665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7507047" y="1394112"/>
            <a:ext cx="565476" cy="511285"/>
          </a:xfrm>
          <a:custGeom>
            <a:avLst/>
            <a:gdLst/>
            <a:ahLst/>
            <a:cxnLst/>
            <a:rect r="r" b="b" t="t" l="l"/>
            <a:pathLst>
              <a:path h="511285" w="565476">
                <a:moveTo>
                  <a:pt x="0" y="0"/>
                </a:moveTo>
                <a:lnTo>
                  <a:pt x="565476" y="0"/>
                </a:lnTo>
                <a:lnTo>
                  <a:pt x="565476" y="511285"/>
                </a:lnTo>
                <a:lnTo>
                  <a:pt x="0" y="51128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1313052" y="4710904"/>
            <a:ext cx="547657" cy="422381"/>
          </a:xfrm>
          <a:custGeom>
            <a:avLst/>
            <a:gdLst/>
            <a:ahLst/>
            <a:cxnLst/>
            <a:rect r="r" b="b" t="t" l="l"/>
            <a:pathLst>
              <a:path h="422381" w="547657">
                <a:moveTo>
                  <a:pt x="0" y="0"/>
                </a:moveTo>
                <a:lnTo>
                  <a:pt x="547657" y="0"/>
                </a:lnTo>
                <a:lnTo>
                  <a:pt x="547657" y="422380"/>
                </a:lnTo>
                <a:lnTo>
                  <a:pt x="0" y="42238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4663406" y="1271550"/>
            <a:ext cx="480784" cy="608587"/>
          </a:xfrm>
          <a:custGeom>
            <a:avLst/>
            <a:gdLst/>
            <a:ahLst/>
            <a:cxnLst/>
            <a:rect r="r" b="b" t="t" l="l"/>
            <a:pathLst>
              <a:path h="608587" w="480784">
                <a:moveTo>
                  <a:pt x="0" y="0"/>
                </a:moveTo>
                <a:lnTo>
                  <a:pt x="480784" y="0"/>
                </a:lnTo>
                <a:lnTo>
                  <a:pt x="480784" y="608587"/>
                </a:lnTo>
                <a:lnTo>
                  <a:pt x="0" y="60858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9388987" y="8099215"/>
            <a:ext cx="385902" cy="518859"/>
          </a:xfrm>
          <a:custGeom>
            <a:avLst/>
            <a:gdLst/>
            <a:ahLst/>
            <a:cxnLst/>
            <a:rect r="r" b="b" t="t" l="l"/>
            <a:pathLst>
              <a:path h="518859" w="385902">
                <a:moveTo>
                  <a:pt x="0" y="0"/>
                </a:moveTo>
                <a:lnTo>
                  <a:pt x="385901" y="0"/>
                </a:lnTo>
                <a:lnTo>
                  <a:pt x="385901" y="518860"/>
                </a:lnTo>
                <a:lnTo>
                  <a:pt x="0" y="51886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357675" y="8193053"/>
            <a:ext cx="507489" cy="425022"/>
          </a:xfrm>
          <a:custGeom>
            <a:avLst/>
            <a:gdLst/>
            <a:ahLst/>
            <a:cxnLst/>
            <a:rect r="r" b="b" t="t" l="l"/>
            <a:pathLst>
              <a:path h="425022" w="507489">
                <a:moveTo>
                  <a:pt x="0" y="0"/>
                </a:moveTo>
                <a:lnTo>
                  <a:pt x="507489" y="0"/>
                </a:lnTo>
                <a:lnTo>
                  <a:pt x="507489" y="425022"/>
                </a:lnTo>
                <a:lnTo>
                  <a:pt x="0" y="42502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0" y="232173"/>
            <a:ext cx="18288000" cy="529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96"/>
              </a:lnSpc>
            </a:pPr>
            <a:r>
              <a:rPr lang="en-US" b="true" sz="314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MODELO CANVAS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928363" y="8070640"/>
            <a:ext cx="7863181" cy="233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356" b="true">
                <a:solidFill>
                  <a:srgbClr val="2B382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Fuente de Ingresos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17564" y="8101878"/>
            <a:ext cx="7947162" cy="233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356" b="true">
                <a:solidFill>
                  <a:srgbClr val="2B382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Estructura de Costos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4862437" y="4614486"/>
            <a:ext cx="2145938" cy="233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356" b="true">
                <a:solidFill>
                  <a:srgbClr val="2B382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Recursos Clave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20869" y="2255768"/>
            <a:ext cx="3103724" cy="405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Cliente (Dueño de la Pyme)</a:t>
            </a:r>
          </a:p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Proveedor cloud: DigitalOcean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11419" y="8745801"/>
            <a:ext cx="3103724" cy="5892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54102" indent="-127051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Hosting: $24 USD</a:t>
            </a:r>
          </a:p>
          <a:p>
            <a:pPr algn="l" marL="254102" indent="-127051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Base de datos: $15.15 USD</a:t>
            </a:r>
          </a:p>
          <a:p>
            <a:pPr algn="l" marL="254102" indent="-127051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Object Storage: $5 USD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534706" y="8745801"/>
            <a:ext cx="3103724" cy="405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Capital del Cliente</a:t>
            </a:r>
          </a:p>
          <a:p>
            <a:pPr algn="l">
              <a:lnSpc>
                <a:spcPts val="1647"/>
              </a:lnSpc>
            </a:pPr>
          </a:p>
        </p:txBody>
      </p:sp>
      <p:sp>
        <p:nvSpPr>
          <p:cNvPr name="TextBox 36" id="36"/>
          <p:cNvSpPr txBox="true"/>
          <p:nvPr/>
        </p:nvSpPr>
        <p:spPr>
          <a:xfrm rot="0">
            <a:off x="4185708" y="2151644"/>
            <a:ext cx="2789240" cy="1706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2513" indent="-116256" lvl="1">
              <a:lnSpc>
                <a:spcPts val="1507"/>
              </a:lnSpc>
              <a:buFont typeface="Arial"/>
              <a:buChar char="•"/>
            </a:pPr>
            <a:r>
              <a:rPr lang="en-US" sz="10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Levantamiento de requerimientos</a:t>
            </a:r>
          </a:p>
          <a:p>
            <a:pPr algn="l" marL="232513" indent="-116256" lvl="1">
              <a:lnSpc>
                <a:spcPts val="1507"/>
              </a:lnSpc>
              <a:buFont typeface="Arial"/>
              <a:buChar char="•"/>
            </a:pPr>
            <a:r>
              <a:rPr lang="en-US" sz="10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Definición y planificación del proyecto</a:t>
            </a:r>
          </a:p>
          <a:p>
            <a:pPr algn="l" marL="232513" indent="-116256" lvl="1">
              <a:lnSpc>
                <a:spcPts val="1507"/>
              </a:lnSpc>
              <a:buFont typeface="Arial"/>
              <a:buChar char="•"/>
            </a:pPr>
            <a:r>
              <a:rPr lang="en-US" sz="10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Diseño UI/UX</a:t>
            </a:r>
          </a:p>
          <a:p>
            <a:pPr algn="l" marL="232513" indent="-116256" lvl="1">
              <a:lnSpc>
                <a:spcPts val="1507"/>
              </a:lnSpc>
              <a:buFont typeface="Arial"/>
              <a:buChar char="•"/>
            </a:pPr>
            <a:r>
              <a:rPr lang="en-US" sz="10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Desarrollo del sitio web</a:t>
            </a:r>
          </a:p>
          <a:p>
            <a:pPr algn="l" marL="232513" indent="-116256" lvl="1">
              <a:lnSpc>
                <a:spcPts val="1507"/>
              </a:lnSpc>
              <a:buFont typeface="Arial"/>
              <a:buChar char="•"/>
            </a:pPr>
            <a:r>
              <a:rPr lang="en-US" sz="10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Pruebas y validación</a:t>
            </a:r>
          </a:p>
          <a:p>
            <a:pPr algn="l" marL="232513" indent="-116256" lvl="1">
              <a:lnSpc>
                <a:spcPts val="1507"/>
              </a:lnSpc>
              <a:buFont typeface="Arial"/>
              <a:buChar char="•"/>
            </a:pPr>
            <a:r>
              <a:rPr lang="en-US" sz="10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Implementación y capacitación</a:t>
            </a:r>
          </a:p>
          <a:p>
            <a:pPr algn="l" marL="232513" indent="-116256" lvl="1">
              <a:lnSpc>
                <a:spcPts val="1507"/>
              </a:lnSpc>
              <a:buFont typeface="Arial"/>
              <a:buChar char="•"/>
            </a:pPr>
            <a:r>
              <a:rPr lang="en-US" sz="10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Soporte, mantenimiento y análisis de métricas</a:t>
            </a:r>
          </a:p>
          <a:p>
            <a:pPr algn="l">
              <a:lnSpc>
                <a:spcPts val="1507"/>
              </a:lnSpc>
            </a:pPr>
          </a:p>
        </p:txBody>
      </p:sp>
      <p:sp>
        <p:nvSpPr>
          <p:cNvPr name="TextBox 37" id="37"/>
          <p:cNvSpPr txBox="true"/>
          <p:nvPr/>
        </p:nvSpPr>
        <p:spPr>
          <a:xfrm rot="0">
            <a:off x="11267542" y="2255768"/>
            <a:ext cx="2789240" cy="1655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Atención personalizada mediante  redes sociales.</a:t>
            </a:r>
          </a:p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Comunicación automatizada (confirmaciones, seguimiento de pedidos, recomendaciones).</a:t>
            </a:r>
          </a:p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Servicio postventa y soporte rápido en línea.</a:t>
            </a:r>
          </a:p>
          <a:p>
            <a:pPr algn="l">
              <a:lnSpc>
                <a:spcPts val="1647"/>
              </a:lnSpc>
            </a:pPr>
          </a:p>
        </p:txBody>
      </p:sp>
      <p:sp>
        <p:nvSpPr>
          <p:cNvPr name="TextBox 38" id="38"/>
          <p:cNvSpPr txBox="true"/>
          <p:nvPr/>
        </p:nvSpPr>
        <p:spPr>
          <a:xfrm rot="0">
            <a:off x="11313052" y="5522762"/>
            <a:ext cx="2789240" cy="405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Correo electrónico y WhatsApp</a:t>
            </a:r>
          </a:p>
          <a:p>
            <a:pPr algn="l">
              <a:lnSpc>
                <a:spcPts val="1647"/>
              </a:lnSpc>
            </a:pPr>
          </a:p>
        </p:txBody>
      </p:sp>
      <p:sp>
        <p:nvSpPr>
          <p:cNvPr name="TextBox 39" id="39"/>
          <p:cNvSpPr txBox="true"/>
          <p:nvPr/>
        </p:nvSpPr>
        <p:spPr>
          <a:xfrm rot="0">
            <a:off x="4185708" y="5507815"/>
            <a:ext cx="2789240" cy="1238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Plataforma cloud DigitalOcean</a:t>
            </a:r>
          </a:p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Base de datos de productos, clientes y ventas.</a:t>
            </a:r>
          </a:p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Personal técnico (desarrollo y administración).</a:t>
            </a:r>
          </a:p>
          <a:p>
            <a:pPr algn="l">
              <a:lnSpc>
                <a:spcPts val="1647"/>
              </a:lnSpc>
            </a:pPr>
          </a:p>
        </p:txBody>
      </p:sp>
      <p:sp>
        <p:nvSpPr>
          <p:cNvPr name="TextBox 40" id="40"/>
          <p:cNvSpPr txBox="true"/>
          <p:nvPr/>
        </p:nvSpPr>
        <p:spPr>
          <a:xfrm rot="0">
            <a:off x="7589281" y="2255768"/>
            <a:ext cx="3036756" cy="5515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7489" indent="-118744" lvl="1">
              <a:lnSpc>
                <a:spcPts val="1539"/>
              </a:lnSpc>
              <a:buFont typeface="Arial"/>
              <a:buChar char="•"/>
            </a:pPr>
            <a:r>
              <a:rPr lang="en-US" sz="1099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Digitalización del proceso de venta para mejorar la eficiencia y el control del negocio.</a:t>
            </a:r>
          </a:p>
          <a:p>
            <a:pPr algn="l" marL="237489" indent="-118744" lvl="1">
              <a:lnSpc>
                <a:spcPts val="1539"/>
              </a:lnSpc>
              <a:buFont typeface="Arial"/>
              <a:buChar char="•"/>
            </a:pPr>
            <a:r>
              <a:rPr lang="en-US" sz="1099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Plataforma e-commerce disponible 24/7 con catálogo actualizado, pagos seguros y gestión automatizada.</a:t>
            </a:r>
          </a:p>
          <a:p>
            <a:pPr algn="l" marL="237489" indent="-118744" lvl="1">
              <a:lnSpc>
                <a:spcPts val="1539"/>
              </a:lnSpc>
              <a:buFont typeface="Arial"/>
              <a:buChar char="•"/>
            </a:pPr>
            <a:r>
              <a:rPr lang="en-US" sz="1099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Experiencia de compra rápida, confiable y moderna para los clientes.</a:t>
            </a:r>
          </a:p>
          <a:p>
            <a:pPr algn="l" marL="237489" indent="-118744" lvl="1">
              <a:lnSpc>
                <a:spcPts val="1539"/>
              </a:lnSpc>
              <a:buFont typeface="Arial"/>
              <a:buChar char="•"/>
            </a:pPr>
            <a:r>
              <a:rPr lang="en-US" sz="1099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Panel administrativo que permite obtener reportes de ventas y tomar decisiones.</a:t>
            </a:r>
          </a:p>
          <a:p>
            <a:pPr algn="l" marL="237489" indent="-118744" lvl="1">
              <a:lnSpc>
                <a:spcPts val="1539"/>
              </a:lnSpc>
              <a:buFont typeface="Arial"/>
              <a:buChar char="•"/>
            </a:pPr>
            <a:r>
              <a:rPr lang="en-US" sz="1099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 Asesoría continua, soporte técnico y capacitación al personal de Cordillera Pets, garantizando que comprendan y aprovechen todas las funciones del sistema.</a:t>
            </a:r>
          </a:p>
          <a:p>
            <a:pPr algn="l" marL="237489" indent="-118744" lvl="1">
              <a:lnSpc>
                <a:spcPts val="1539"/>
              </a:lnSpc>
              <a:buFont typeface="Arial"/>
              <a:buChar char="•"/>
            </a:pPr>
            <a:r>
              <a:rPr lang="en-US" sz="1099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Diseño de la pagina personalizado según la identidad visual, valores y estilo comunicativo de la marca, fortaleciendo su presencia digital.</a:t>
            </a:r>
          </a:p>
          <a:p>
            <a:pPr algn="l" marL="237489" indent="-118744" lvl="1">
              <a:lnSpc>
                <a:spcPts val="1539"/>
              </a:lnSpc>
              <a:buFont typeface="Arial"/>
              <a:buChar char="•"/>
            </a:pPr>
            <a:r>
              <a:rPr lang="en-US" sz="1099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 Solución integral, no solo una página web.</a:t>
            </a:r>
          </a:p>
          <a:p>
            <a:pPr algn="l" marL="237489" indent="-118744" lvl="1">
              <a:lnSpc>
                <a:spcPts val="1539"/>
              </a:lnSpc>
              <a:buFont typeface="Arial"/>
              <a:buChar char="•"/>
            </a:pPr>
            <a:r>
              <a:rPr lang="en-US" sz="1099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Escalabilidad futura (posibilidad de agregar módulos nuevos, sucursales, despacho con empresas externas, entre otros)</a:t>
            </a:r>
          </a:p>
          <a:p>
            <a:pPr algn="l" marL="237489" indent="-118744" lvl="1">
              <a:lnSpc>
                <a:spcPts val="1539"/>
              </a:lnSpc>
              <a:buFont typeface="Arial"/>
              <a:buChar char="•"/>
            </a:pPr>
            <a:r>
              <a:rPr lang="en-US" sz="1099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Nuestro enfoque combina tecnología, diseño y acompañamiento humano, algo que los diferenció frente a otras propuestas más genéricas.</a:t>
            </a:r>
          </a:p>
          <a:p>
            <a:pPr algn="l">
              <a:lnSpc>
                <a:spcPts val="1539"/>
              </a:lnSpc>
            </a:pPr>
          </a:p>
        </p:txBody>
      </p:sp>
      <p:sp>
        <p:nvSpPr>
          <p:cNvPr name="TextBox 41" id="41"/>
          <p:cNvSpPr txBox="true"/>
          <p:nvPr/>
        </p:nvSpPr>
        <p:spPr>
          <a:xfrm rot="0">
            <a:off x="14663406" y="2255768"/>
            <a:ext cx="3036756" cy="20716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Dueños de mascotas que buscan productos de forma rápida y segura.</a:t>
            </a:r>
          </a:p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Clientes recurrentes que valoran la comodidad de comprar en línea.</a:t>
            </a:r>
          </a:p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Nuevos clientes atraídos por redes sociales y campañas digitales.</a:t>
            </a:r>
          </a:p>
          <a:p>
            <a:pPr algn="l" marL="254103" indent="-127052" lvl="1">
              <a:lnSpc>
                <a:spcPts val="1647"/>
              </a:lnSpc>
              <a:buFont typeface="Arial"/>
              <a:buChar char="•"/>
            </a:pPr>
            <a:r>
              <a:rPr lang="en-US" sz="1176">
                <a:solidFill>
                  <a:srgbClr val="2B3825"/>
                </a:solidFill>
                <a:latin typeface="Open Sans"/>
                <a:ea typeface="Open Sans"/>
                <a:cs typeface="Open Sans"/>
                <a:sym typeface="Open Sans"/>
              </a:rPr>
              <a:t>Personal interno que usa el panel administrativo para gestionar stock y ventas.</a:t>
            </a:r>
          </a:p>
          <a:p>
            <a:pPr algn="l">
              <a:lnSpc>
                <a:spcPts val="1647"/>
              </a:lnSpc>
            </a:pPr>
          </a:p>
        </p:txBody>
      </p:sp>
      <p:sp>
        <p:nvSpPr>
          <p:cNvPr name="TextBox 42" id="42"/>
          <p:cNvSpPr txBox="true"/>
          <p:nvPr/>
        </p:nvSpPr>
        <p:spPr>
          <a:xfrm rot="0">
            <a:off x="4862437" y="1268235"/>
            <a:ext cx="2310347" cy="233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356" b="true">
                <a:solidFill>
                  <a:srgbClr val="2B382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Actividades Clave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8214642" y="1268235"/>
            <a:ext cx="2734591" cy="233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356" b="true">
                <a:solidFill>
                  <a:srgbClr val="2B382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Propuesta de Valor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1865705" y="1311172"/>
            <a:ext cx="2391617" cy="233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356" b="true">
                <a:solidFill>
                  <a:srgbClr val="2B382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Relación con Clientes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2068913" y="4620944"/>
            <a:ext cx="2188409" cy="233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356" b="true">
                <a:solidFill>
                  <a:srgbClr val="2B382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Canales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5204713" y="1252970"/>
            <a:ext cx="2774115" cy="233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356" b="true">
                <a:solidFill>
                  <a:srgbClr val="2B382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Segmento de Clientes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286556" y="1268235"/>
            <a:ext cx="2233914" cy="233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"/>
              </a:lnSpc>
            </a:pPr>
            <a:r>
              <a:rPr lang="en-US" sz="1356" b="true">
                <a:solidFill>
                  <a:srgbClr val="2B382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Socios Clave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-2024" t="-67794" r="0" b="-46912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537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142575" y="1693432"/>
            <a:ext cx="7906427" cy="7652736"/>
          </a:xfrm>
          <a:custGeom>
            <a:avLst/>
            <a:gdLst/>
            <a:ahLst/>
            <a:cxnLst/>
            <a:rect r="r" b="b" t="t" l="l"/>
            <a:pathLst>
              <a:path h="7652736" w="7906427">
                <a:moveTo>
                  <a:pt x="0" y="0"/>
                </a:moveTo>
                <a:lnTo>
                  <a:pt x="7906428" y="0"/>
                </a:lnTo>
                <a:lnTo>
                  <a:pt x="7906428" y="7652736"/>
                </a:lnTo>
                <a:lnTo>
                  <a:pt x="0" y="76527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539" r="0" b="-5115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-257740" y="711907"/>
            <a:ext cx="18545740" cy="557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52"/>
              </a:lnSpc>
            </a:pPr>
            <a:r>
              <a:rPr lang="en-US" sz="3180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OBJETIVO ESPECIFICOS DE CORDILLERA PETS 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1104514" y="124430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10"/>
                </a:lnTo>
                <a:lnTo>
                  <a:pt x="0" y="94517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9324958" y="-706371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024" t="-67794" r="0" b="-46912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749573" y="-55211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388855" y="693113"/>
            <a:ext cx="13510289" cy="984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67"/>
              </a:lnSpc>
              <a:spcBef>
                <a:spcPct val="0"/>
              </a:spcBef>
            </a:pPr>
            <a:r>
              <a:rPr lang="en-US" b="true" sz="54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OBJETIVOS GENERALES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1812041" y="183771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676972" y="2447924"/>
            <a:ext cx="4692895" cy="6304018"/>
            <a:chOff x="0" y="0"/>
            <a:chExt cx="1235989" cy="166031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5989" cy="1660317"/>
            </a:xfrm>
            <a:custGeom>
              <a:avLst/>
              <a:gdLst/>
              <a:ahLst/>
              <a:cxnLst/>
              <a:rect r="r" b="b" t="t" l="l"/>
              <a:pathLst>
                <a:path h="1660317" w="1235989">
                  <a:moveTo>
                    <a:pt x="32994" y="0"/>
                  </a:moveTo>
                  <a:lnTo>
                    <a:pt x="1202995" y="0"/>
                  </a:lnTo>
                  <a:cubicBezTo>
                    <a:pt x="1211745" y="0"/>
                    <a:pt x="1220138" y="3476"/>
                    <a:pt x="1226325" y="9664"/>
                  </a:cubicBezTo>
                  <a:cubicBezTo>
                    <a:pt x="1232513" y="15851"/>
                    <a:pt x="1235989" y="24244"/>
                    <a:pt x="1235989" y="32994"/>
                  </a:cubicBezTo>
                  <a:lnTo>
                    <a:pt x="1235989" y="1627323"/>
                  </a:lnTo>
                  <a:cubicBezTo>
                    <a:pt x="1235989" y="1636074"/>
                    <a:pt x="1232513" y="1644466"/>
                    <a:pt x="1226325" y="1650654"/>
                  </a:cubicBezTo>
                  <a:cubicBezTo>
                    <a:pt x="1220138" y="1656841"/>
                    <a:pt x="1211745" y="1660317"/>
                    <a:pt x="1202995" y="1660317"/>
                  </a:cubicBezTo>
                  <a:lnTo>
                    <a:pt x="32994" y="1660317"/>
                  </a:lnTo>
                  <a:cubicBezTo>
                    <a:pt x="14772" y="1660317"/>
                    <a:pt x="0" y="1645545"/>
                    <a:pt x="0" y="1627323"/>
                  </a:cubicBezTo>
                  <a:lnTo>
                    <a:pt x="0" y="32994"/>
                  </a:lnTo>
                  <a:cubicBezTo>
                    <a:pt x="0" y="24244"/>
                    <a:pt x="3476" y="15851"/>
                    <a:pt x="9664" y="9664"/>
                  </a:cubicBezTo>
                  <a:cubicBezTo>
                    <a:pt x="15851" y="3476"/>
                    <a:pt x="24244" y="0"/>
                    <a:pt x="32994" y="0"/>
                  </a:cubicBezTo>
                  <a:close/>
                </a:path>
              </a:pathLst>
            </a:custGeom>
            <a:solidFill>
              <a:srgbClr val="00285D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235989" cy="17174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797552" y="2447924"/>
            <a:ext cx="4692895" cy="6304018"/>
            <a:chOff x="0" y="0"/>
            <a:chExt cx="1235989" cy="166031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5989" cy="1660317"/>
            </a:xfrm>
            <a:custGeom>
              <a:avLst/>
              <a:gdLst/>
              <a:ahLst/>
              <a:cxnLst/>
              <a:rect r="r" b="b" t="t" l="l"/>
              <a:pathLst>
                <a:path h="1660317" w="1235989">
                  <a:moveTo>
                    <a:pt x="32994" y="0"/>
                  </a:moveTo>
                  <a:lnTo>
                    <a:pt x="1202995" y="0"/>
                  </a:lnTo>
                  <a:cubicBezTo>
                    <a:pt x="1211745" y="0"/>
                    <a:pt x="1220138" y="3476"/>
                    <a:pt x="1226325" y="9664"/>
                  </a:cubicBezTo>
                  <a:cubicBezTo>
                    <a:pt x="1232513" y="15851"/>
                    <a:pt x="1235989" y="24244"/>
                    <a:pt x="1235989" y="32994"/>
                  </a:cubicBezTo>
                  <a:lnTo>
                    <a:pt x="1235989" y="1627323"/>
                  </a:lnTo>
                  <a:cubicBezTo>
                    <a:pt x="1235989" y="1636074"/>
                    <a:pt x="1232513" y="1644466"/>
                    <a:pt x="1226325" y="1650654"/>
                  </a:cubicBezTo>
                  <a:cubicBezTo>
                    <a:pt x="1220138" y="1656841"/>
                    <a:pt x="1211745" y="1660317"/>
                    <a:pt x="1202995" y="1660317"/>
                  </a:cubicBezTo>
                  <a:lnTo>
                    <a:pt x="32994" y="1660317"/>
                  </a:lnTo>
                  <a:cubicBezTo>
                    <a:pt x="14772" y="1660317"/>
                    <a:pt x="0" y="1645545"/>
                    <a:pt x="0" y="1627323"/>
                  </a:cubicBezTo>
                  <a:lnTo>
                    <a:pt x="0" y="32994"/>
                  </a:lnTo>
                  <a:cubicBezTo>
                    <a:pt x="0" y="24244"/>
                    <a:pt x="3476" y="15851"/>
                    <a:pt x="9664" y="9664"/>
                  </a:cubicBezTo>
                  <a:cubicBezTo>
                    <a:pt x="15851" y="3476"/>
                    <a:pt x="24244" y="0"/>
                    <a:pt x="32994" y="0"/>
                  </a:cubicBezTo>
                  <a:close/>
                </a:path>
              </a:pathLst>
            </a:custGeom>
            <a:solidFill>
              <a:srgbClr val="00285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235989" cy="17174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919073" y="2447924"/>
            <a:ext cx="4692895" cy="6304018"/>
            <a:chOff x="0" y="0"/>
            <a:chExt cx="1235989" cy="166031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235989" cy="1660317"/>
            </a:xfrm>
            <a:custGeom>
              <a:avLst/>
              <a:gdLst/>
              <a:ahLst/>
              <a:cxnLst/>
              <a:rect r="r" b="b" t="t" l="l"/>
              <a:pathLst>
                <a:path h="1660317" w="1235989">
                  <a:moveTo>
                    <a:pt x="32994" y="0"/>
                  </a:moveTo>
                  <a:lnTo>
                    <a:pt x="1202995" y="0"/>
                  </a:lnTo>
                  <a:cubicBezTo>
                    <a:pt x="1211745" y="0"/>
                    <a:pt x="1220138" y="3476"/>
                    <a:pt x="1226325" y="9664"/>
                  </a:cubicBezTo>
                  <a:cubicBezTo>
                    <a:pt x="1232513" y="15851"/>
                    <a:pt x="1235989" y="24244"/>
                    <a:pt x="1235989" y="32994"/>
                  </a:cubicBezTo>
                  <a:lnTo>
                    <a:pt x="1235989" y="1627323"/>
                  </a:lnTo>
                  <a:cubicBezTo>
                    <a:pt x="1235989" y="1636074"/>
                    <a:pt x="1232513" y="1644466"/>
                    <a:pt x="1226325" y="1650654"/>
                  </a:cubicBezTo>
                  <a:cubicBezTo>
                    <a:pt x="1220138" y="1656841"/>
                    <a:pt x="1211745" y="1660317"/>
                    <a:pt x="1202995" y="1660317"/>
                  </a:cubicBezTo>
                  <a:lnTo>
                    <a:pt x="32994" y="1660317"/>
                  </a:lnTo>
                  <a:cubicBezTo>
                    <a:pt x="14772" y="1660317"/>
                    <a:pt x="0" y="1645545"/>
                    <a:pt x="0" y="1627323"/>
                  </a:cubicBezTo>
                  <a:lnTo>
                    <a:pt x="0" y="32994"/>
                  </a:lnTo>
                  <a:cubicBezTo>
                    <a:pt x="0" y="24244"/>
                    <a:pt x="3476" y="15851"/>
                    <a:pt x="9664" y="9664"/>
                  </a:cubicBezTo>
                  <a:cubicBezTo>
                    <a:pt x="15851" y="3476"/>
                    <a:pt x="24244" y="0"/>
                    <a:pt x="32994" y="0"/>
                  </a:cubicBezTo>
                  <a:close/>
                </a:path>
              </a:pathLst>
            </a:custGeom>
            <a:solidFill>
              <a:srgbClr val="00285D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1235989" cy="17174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928144" y="2813779"/>
            <a:ext cx="4202658" cy="535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Objetivo Estratégico (El d</a:t>
            </a:r>
            <a:r>
              <a:rPr lang="en-US" sz="18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 mayor impacto)</a:t>
            </a:r>
          </a:p>
          <a:p>
            <a:pPr algn="l">
              <a:lnSpc>
                <a:spcPts val="2520"/>
              </a:lnSpc>
            </a:pPr>
          </a:p>
          <a:p>
            <a:pPr algn="l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Posicionar a Cordillera Pets en el entorno digital mediante la implementación de una plataforma e-commerce  que:</a:t>
            </a:r>
          </a:p>
          <a:p>
            <a:pPr algn="l">
              <a:lnSpc>
                <a:spcPts val="2520"/>
              </a:lnSpc>
            </a:pPr>
          </a:p>
          <a:p>
            <a:pPr algn="l">
              <a:lnSpc>
                <a:spcPts val="2520"/>
              </a:lnSpc>
            </a:pP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Amplíe su alcance de mercado.</a:t>
            </a: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Aumente sus ingresos.</a:t>
            </a: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Modernice sus procesos de venta.</a:t>
            </a: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b="true" sz="18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Asegure la sostenibilidad y competitividad frente al comercio electrónico.</a:t>
            </a:r>
          </a:p>
          <a:p>
            <a:pPr algn="l">
              <a:lnSpc>
                <a:spcPts val="2520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7067233" y="2813779"/>
            <a:ext cx="4153534" cy="5354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179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Objetivo General del Desarrollo (El propósito central del proyecto)</a:t>
            </a:r>
          </a:p>
          <a:p>
            <a:pPr algn="l">
              <a:lnSpc>
                <a:spcPts val="2519"/>
              </a:lnSpc>
            </a:pPr>
          </a:p>
          <a:p>
            <a:pPr algn="l">
              <a:lnSpc>
                <a:spcPts val="2519"/>
              </a:lnSpc>
            </a:pPr>
            <a:r>
              <a:rPr lang="en-US" sz="179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Diseñar, desarrollar e implementar una plataforma web e-commerce funcional para Cordillera Pets  que permita:</a:t>
            </a:r>
          </a:p>
          <a:p>
            <a:pPr algn="l">
              <a:lnSpc>
                <a:spcPts val="2519"/>
              </a:lnSpc>
            </a:pPr>
          </a:p>
          <a:p>
            <a:pPr algn="l">
              <a:lnSpc>
                <a:spcPts val="2519"/>
              </a:lnSpc>
            </a:pPr>
          </a:p>
          <a:p>
            <a:pPr algn="l" marL="388576" indent="-194288" lvl="1">
              <a:lnSpc>
                <a:spcPts val="2519"/>
              </a:lnSpc>
              <a:buFont typeface="Arial"/>
              <a:buChar char="•"/>
            </a:pPr>
            <a:r>
              <a:rPr lang="en-US" b="true" sz="17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Digitalizar sus procesos de venta.</a:t>
            </a:r>
          </a:p>
          <a:p>
            <a:pPr algn="l" marL="388576" indent="-194288" lvl="1">
              <a:lnSpc>
                <a:spcPts val="2519"/>
              </a:lnSpc>
              <a:buFont typeface="Arial"/>
              <a:buChar char="•"/>
            </a:pPr>
            <a:r>
              <a:rPr lang="en-US" b="true" sz="17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Automatizar la gestión de pedidos.</a:t>
            </a:r>
          </a:p>
          <a:p>
            <a:pPr algn="l" marL="388576" indent="-194288" lvl="1">
              <a:lnSpc>
                <a:spcPts val="2519"/>
              </a:lnSpc>
              <a:buFont typeface="Arial"/>
              <a:buChar char="•"/>
            </a:pPr>
            <a:r>
              <a:rPr lang="en-US" b="true" sz="17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Ofrecer a los clientes una experiencia de compra accesible, ágil y segura desde cualquier dispositivo.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157198" y="2813779"/>
            <a:ext cx="4209330" cy="5515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14"/>
              </a:lnSpc>
            </a:pPr>
            <a:r>
              <a:rPr lang="en-US" sz="1867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Objetivo Específicos Priorizados (Entregables y funcionalidades claves)</a:t>
            </a:r>
          </a:p>
          <a:p>
            <a:pPr algn="l">
              <a:lnSpc>
                <a:spcPts val="2614"/>
              </a:lnSpc>
            </a:pPr>
          </a:p>
          <a:p>
            <a:pPr algn="l">
              <a:lnSpc>
                <a:spcPts val="2614"/>
              </a:lnSpc>
            </a:pPr>
            <a:r>
              <a:rPr lang="en-US" sz="1867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Estos objetivos definen las capacidades esenciales de la plataforma, ordenandos  por su importancia estructural y funcional:</a:t>
            </a:r>
          </a:p>
          <a:p>
            <a:pPr algn="l">
              <a:lnSpc>
                <a:spcPts val="2614"/>
              </a:lnSpc>
            </a:pPr>
          </a:p>
          <a:p>
            <a:pPr algn="l" marL="403263" indent="-201631" lvl="1">
              <a:lnSpc>
                <a:spcPts val="2614"/>
              </a:lnSpc>
              <a:buFont typeface="Arial"/>
              <a:buChar char="•"/>
            </a:pPr>
            <a:r>
              <a:rPr lang="en-US" b="true" sz="186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Plataforma Web funcional y Tecnología Base.</a:t>
            </a:r>
          </a:p>
          <a:p>
            <a:pPr algn="l" marL="403263" indent="-201631" lvl="1">
              <a:lnSpc>
                <a:spcPts val="2614"/>
              </a:lnSpc>
              <a:buFont typeface="Arial"/>
              <a:buChar char="•"/>
            </a:pPr>
            <a:r>
              <a:rPr lang="en-US" b="true" sz="186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Transacción y Pago.</a:t>
            </a:r>
          </a:p>
          <a:p>
            <a:pPr algn="l" marL="403263" indent="-201631" lvl="1">
              <a:lnSpc>
                <a:spcPts val="2614"/>
              </a:lnSpc>
              <a:buFont typeface="Arial"/>
              <a:buChar char="•"/>
            </a:pPr>
            <a:r>
              <a:rPr lang="en-US" b="true" sz="186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Gestión de catálogo y Stock.</a:t>
            </a:r>
          </a:p>
          <a:p>
            <a:pPr algn="l" marL="403263" indent="-201631" lvl="1">
              <a:lnSpc>
                <a:spcPts val="2614"/>
              </a:lnSpc>
              <a:buFont typeface="Arial"/>
              <a:buChar char="•"/>
            </a:pPr>
            <a:r>
              <a:rPr lang="en-US" b="true" sz="186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Gestión de clientes y Operaciones.</a:t>
            </a:r>
          </a:p>
          <a:p>
            <a:pPr algn="l" marL="403263" indent="-201631" lvl="1">
              <a:lnSpc>
                <a:spcPts val="2614"/>
              </a:lnSpc>
              <a:buFont typeface="Arial"/>
              <a:buChar char="•"/>
            </a:pPr>
            <a:r>
              <a:rPr lang="en-US" b="true" sz="186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Análisis de Marketing Básico.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749573" y="-55211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508634" y="613261"/>
            <a:ext cx="13510289" cy="984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67"/>
              </a:lnSpc>
              <a:spcBef>
                <a:spcPct val="0"/>
              </a:spcBef>
            </a:pPr>
            <a:r>
              <a:rPr lang="en-US" b="true" sz="54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ALCANCES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1812041" y="183771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740470" y="2235613"/>
            <a:ext cx="7236700" cy="7022687"/>
            <a:chOff x="0" y="0"/>
            <a:chExt cx="1905962" cy="18495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05962" cy="1849596"/>
            </a:xfrm>
            <a:custGeom>
              <a:avLst/>
              <a:gdLst/>
              <a:ahLst/>
              <a:cxnLst/>
              <a:rect r="r" b="b" t="t" l="l"/>
              <a:pathLst>
                <a:path h="1849596" w="1905962">
                  <a:moveTo>
                    <a:pt x="21396" y="0"/>
                  </a:moveTo>
                  <a:lnTo>
                    <a:pt x="1884566" y="0"/>
                  </a:lnTo>
                  <a:cubicBezTo>
                    <a:pt x="1896383" y="0"/>
                    <a:pt x="1905962" y="9579"/>
                    <a:pt x="1905962" y="21396"/>
                  </a:cubicBezTo>
                  <a:lnTo>
                    <a:pt x="1905962" y="1828200"/>
                  </a:lnTo>
                  <a:cubicBezTo>
                    <a:pt x="1905962" y="1833875"/>
                    <a:pt x="1903708" y="1839317"/>
                    <a:pt x="1899695" y="1843330"/>
                  </a:cubicBezTo>
                  <a:cubicBezTo>
                    <a:pt x="1895683" y="1847342"/>
                    <a:pt x="1890240" y="1849596"/>
                    <a:pt x="1884566" y="1849596"/>
                  </a:cubicBezTo>
                  <a:lnTo>
                    <a:pt x="21396" y="1849596"/>
                  </a:lnTo>
                  <a:cubicBezTo>
                    <a:pt x="9579" y="1849596"/>
                    <a:pt x="0" y="1840017"/>
                    <a:pt x="0" y="1828200"/>
                  </a:cubicBezTo>
                  <a:lnTo>
                    <a:pt x="0" y="21396"/>
                  </a:lnTo>
                  <a:cubicBezTo>
                    <a:pt x="0" y="9579"/>
                    <a:pt x="9579" y="0"/>
                    <a:pt x="21396" y="0"/>
                  </a:cubicBezTo>
                  <a:close/>
                </a:path>
              </a:pathLst>
            </a:custGeom>
            <a:solidFill>
              <a:srgbClr val="00285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905962" cy="19067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9944696" y="2516077"/>
            <a:ext cx="6828247" cy="5737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Alcances del software:</a:t>
            </a:r>
          </a:p>
          <a:p>
            <a:pPr algn="l">
              <a:lnSpc>
                <a:spcPts val="2659"/>
              </a:lnSpc>
            </a:pPr>
          </a:p>
          <a:p>
            <a:pPr algn="l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Desarrollo de una página web responsiva, accesible desde computador, tablet y smartphone.</a:t>
            </a:r>
          </a:p>
          <a:p>
            <a:pPr algn="l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El sistema incluirá módulos de: Ventas, catálogo digital, carrito de compras y proceso de checkout</a:t>
            </a:r>
          </a:p>
          <a:p>
            <a:pPr algn="l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Dashboard administrativo para gestión de productos, pedidos y stock</a:t>
            </a:r>
          </a:p>
          <a:p>
            <a:pPr algn="l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El e-commerce permitirá pagos en línea a través de Webpay/Transbank y con excepción de transferencia bancaria.</a:t>
            </a:r>
          </a:p>
          <a:p>
            <a:pPr algn="l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El software contará con notificaciones automáticas, historial de compras y manejo de usuarios registrados.</a:t>
            </a:r>
          </a:p>
          <a:p>
            <a:pPr algn="l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La solución garantizará seguridad, encriptación de datos y disponibilidad 24/7.</a:t>
            </a:r>
          </a:p>
          <a:p>
            <a:pPr algn="l">
              <a:lnSpc>
                <a:spcPts val="2659"/>
              </a:lnSpc>
            </a:pPr>
          </a:p>
        </p:txBody>
      </p:sp>
      <p:grpSp>
        <p:nvGrpSpPr>
          <p:cNvPr name="Group 10" id="10"/>
          <p:cNvGrpSpPr/>
          <p:nvPr/>
        </p:nvGrpSpPr>
        <p:grpSpPr>
          <a:xfrm rot="0">
            <a:off x="1768556" y="2235613"/>
            <a:ext cx="7081304" cy="7022687"/>
            <a:chOff x="0" y="0"/>
            <a:chExt cx="1865035" cy="18495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865035" cy="1849596"/>
            </a:xfrm>
            <a:custGeom>
              <a:avLst/>
              <a:gdLst/>
              <a:ahLst/>
              <a:cxnLst/>
              <a:rect r="r" b="b" t="t" l="l"/>
              <a:pathLst>
                <a:path h="1849596" w="1865035">
                  <a:moveTo>
                    <a:pt x="21866" y="0"/>
                  </a:moveTo>
                  <a:lnTo>
                    <a:pt x="1843169" y="0"/>
                  </a:lnTo>
                  <a:cubicBezTo>
                    <a:pt x="1855245" y="0"/>
                    <a:pt x="1865035" y="9790"/>
                    <a:pt x="1865035" y="21866"/>
                  </a:cubicBezTo>
                  <a:lnTo>
                    <a:pt x="1865035" y="1827731"/>
                  </a:lnTo>
                  <a:cubicBezTo>
                    <a:pt x="1865035" y="1833530"/>
                    <a:pt x="1862731" y="1839091"/>
                    <a:pt x="1858631" y="1843192"/>
                  </a:cubicBezTo>
                  <a:cubicBezTo>
                    <a:pt x="1854530" y="1847293"/>
                    <a:pt x="1848968" y="1849596"/>
                    <a:pt x="1843169" y="1849596"/>
                  </a:cubicBezTo>
                  <a:lnTo>
                    <a:pt x="21866" y="1849596"/>
                  </a:lnTo>
                  <a:cubicBezTo>
                    <a:pt x="9790" y="1849596"/>
                    <a:pt x="0" y="1839807"/>
                    <a:pt x="0" y="1827731"/>
                  </a:cubicBezTo>
                  <a:lnTo>
                    <a:pt x="0" y="21866"/>
                  </a:lnTo>
                  <a:cubicBezTo>
                    <a:pt x="0" y="16067"/>
                    <a:pt x="2304" y="10505"/>
                    <a:pt x="6404" y="6404"/>
                  </a:cubicBezTo>
                  <a:cubicBezTo>
                    <a:pt x="10505" y="2304"/>
                    <a:pt x="16067" y="0"/>
                    <a:pt x="21866" y="0"/>
                  </a:cubicBezTo>
                  <a:close/>
                </a:path>
              </a:pathLst>
            </a:custGeom>
            <a:solidFill>
              <a:srgbClr val="00285D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1865035" cy="19067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2184548" y="2516077"/>
            <a:ext cx="6249320" cy="6062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Alcances del proyecto:</a:t>
            </a:r>
          </a:p>
          <a:p>
            <a:pPr algn="l">
              <a:lnSpc>
                <a:spcPts val="2659"/>
              </a:lnSpc>
            </a:pPr>
          </a:p>
          <a:p>
            <a:pPr algn="l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Desarrollo e implementación de una plataforma e-commerce completa para Cordillera Pets.</a:t>
            </a:r>
          </a:p>
          <a:p>
            <a:pPr algn="l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Incluye diseño UI/UX, desarrollo frontend y backend, integración de pasarela de pago y panel administrativo.</a:t>
            </a:r>
          </a:p>
          <a:p>
            <a:pPr algn="l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El proyecto contempla pruebas funcionales, de integración y de usabilidad, además del despliegue en un entorno cloud.</a:t>
            </a:r>
          </a:p>
          <a:p>
            <a:pPr algn="l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La pyme Cordillera Pets asumirá los costos asociados al hosting, servicios cloud y puesta en producción.</a:t>
            </a:r>
          </a:p>
          <a:p>
            <a:pPr algn="l" marL="410209" indent="-205105" lvl="1">
              <a:lnSpc>
                <a:spcPts val="2659"/>
              </a:lnSpc>
              <a:buFont typeface="Arial"/>
              <a:buChar char="•"/>
            </a:pPr>
            <a:r>
              <a:rPr lang="en-US" b="true" sz="18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Se capacitará al dueño y al personal en el uso del panel administrativo y en la gestión del e-commerce.</a:t>
            </a:r>
          </a:p>
          <a:p>
            <a:pPr algn="l">
              <a:lnSpc>
                <a:spcPts val="2659"/>
              </a:lnSpc>
            </a:pP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49435" y="2721805"/>
            <a:ext cx="10465695" cy="7565195"/>
          </a:xfrm>
          <a:custGeom>
            <a:avLst/>
            <a:gdLst/>
            <a:ahLst/>
            <a:cxnLst/>
            <a:rect r="r" b="b" t="t" l="l"/>
            <a:pathLst>
              <a:path h="7565195" w="10465695">
                <a:moveTo>
                  <a:pt x="0" y="0"/>
                </a:moveTo>
                <a:lnTo>
                  <a:pt x="10465695" y="0"/>
                </a:lnTo>
                <a:lnTo>
                  <a:pt x="10465695" y="7565195"/>
                </a:lnTo>
                <a:lnTo>
                  <a:pt x="0" y="75651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854" r="0" b="-10515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887142" y="2211200"/>
            <a:ext cx="10742431" cy="7306079"/>
            <a:chOff x="0" y="0"/>
            <a:chExt cx="2829282" cy="192423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829282" cy="1924235"/>
            </a:xfrm>
            <a:custGeom>
              <a:avLst/>
              <a:gdLst/>
              <a:ahLst/>
              <a:cxnLst/>
              <a:rect r="r" b="b" t="t" l="l"/>
              <a:pathLst>
                <a:path h="1924235" w="2829282">
                  <a:moveTo>
                    <a:pt x="14414" y="0"/>
                  </a:moveTo>
                  <a:lnTo>
                    <a:pt x="2814868" y="0"/>
                  </a:lnTo>
                  <a:cubicBezTo>
                    <a:pt x="2818691" y="0"/>
                    <a:pt x="2822357" y="1519"/>
                    <a:pt x="2825061" y="4222"/>
                  </a:cubicBezTo>
                  <a:cubicBezTo>
                    <a:pt x="2827764" y="6925"/>
                    <a:pt x="2829282" y="10591"/>
                    <a:pt x="2829282" y="14414"/>
                  </a:cubicBezTo>
                  <a:lnTo>
                    <a:pt x="2829282" y="1909821"/>
                  </a:lnTo>
                  <a:cubicBezTo>
                    <a:pt x="2829282" y="1917782"/>
                    <a:pt x="2822829" y="1924235"/>
                    <a:pt x="2814868" y="1924235"/>
                  </a:cubicBezTo>
                  <a:lnTo>
                    <a:pt x="14414" y="1924235"/>
                  </a:lnTo>
                  <a:cubicBezTo>
                    <a:pt x="10591" y="1924235"/>
                    <a:pt x="6925" y="1922716"/>
                    <a:pt x="4222" y="1920013"/>
                  </a:cubicBezTo>
                  <a:cubicBezTo>
                    <a:pt x="1519" y="1917310"/>
                    <a:pt x="0" y="1913644"/>
                    <a:pt x="0" y="1909821"/>
                  </a:cubicBezTo>
                  <a:lnTo>
                    <a:pt x="0" y="14414"/>
                  </a:lnTo>
                  <a:cubicBezTo>
                    <a:pt x="0" y="10591"/>
                    <a:pt x="1519" y="6925"/>
                    <a:pt x="4222" y="4222"/>
                  </a:cubicBezTo>
                  <a:cubicBezTo>
                    <a:pt x="6925" y="1519"/>
                    <a:pt x="10591" y="0"/>
                    <a:pt x="14414" y="0"/>
                  </a:cubicBezTo>
                  <a:close/>
                </a:path>
              </a:pathLst>
            </a:custGeom>
            <a:solidFill>
              <a:srgbClr val="28346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829282" cy="19813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401212" y="2636080"/>
            <a:ext cx="9858088" cy="5977987"/>
          </a:xfrm>
          <a:custGeom>
            <a:avLst/>
            <a:gdLst/>
            <a:ahLst/>
            <a:cxnLst/>
            <a:rect r="r" b="b" t="t" l="l"/>
            <a:pathLst>
              <a:path h="5977987" w="9858088">
                <a:moveTo>
                  <a:pt x="0" y="0"/>
                </a:moveTo>
                <a:lnTo>
                  <a:pt x="9858088" y="0"/>
                </a:lnTo>
                <a:lnTo>
                  <a:pt x="9858088" y="5977987"/>
                </a:lnTo>
                <a:lnTo>
                  <a:pt x="0" y="59779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9965" r="0" b="-9965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3749011" y="348459"/>
            <a:ext cx="11134498" cy="984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67"/>
              </a:lnSpc>
              <a:spcBef>
                <a:spcPct val="0"/>
              </a:spcBef>
            </a:pPr>
            <a:r>
              <a:rPr lang="en-US" b="true" sz="54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METODOLOGÍA DEL PROYECTO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04043" y="3608909"/>
            <a:ext cx="4358842" cy="353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 b="true">
                <a:solidFill>
                  <a:srgbClr val="00285D"/>
                </a:solidFill>
                <a:latin typeface="Poppins Bold"/>
                <a:ea typeface="Poppins Bold"/>
                <a:cs typeface="Poppins Bold"/>
                <a:sym typeface="Poppins Bold"/>
              </a:rPr>
              <a:t>Metodología de trabajo: </a:t>
            </a:r>
          </a:p>
          <a:p>
            <a:pPr algn="l">
              <a:lnSpc>
                <a:spcPts val="2799"/>
              </a:lnSpc>
            </a:pP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b="true" sz="1999">
                <a:solidFill>
                  <a:srgbClr val="00285D"/>
                </a:solidFill>
                <a:latin typeface="Poppins Bold"/>
                <a:ea typeface="Poppins Bold"/>
                <a:cs typeface="Poppins Bold"/>
                <a:sym typeface="Poppins Bold"/>
              </a:rPr>
              <a:t>Ágil con desarrollo en 9 sprints con tiempo de duración de 2 semanas.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b="true" sz="1999">
                <a:solidFill>
                  <a:srgbClr val="00285D"/>
                </a:solidFill>
                <a:latin typeface="Poppins Bold"/>
                <a:ea typeface="Poppins Bold"/>
                <a:cs typeface="Poppins Bold"/>
                <a:sym typeface="Poppins Bold"/>
              </a:rPr>
              <a:t>Product Backlog 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b="true" sz="1999">
                <a:solidFill>
                  <a:srgbClr val="00285D"/>
                </a:solidFill>
                <a:latin typeface="Poppins Bold"/>
                <a:ea typeface="Poppins Bold"/>
                <a:cs typeface="Poppins Bold"/>
                <a:sym typeface="Poppins Bold"/>
              </a:rPr>
              <a:t>Matriz RACI</a:t>
            </a:r>
          </a:p>
          <a:p>
            <a:pPr algn="l" marL="431799" indent="-215899" lvl="1">
              <a:lnSpc>
                <a:spcPts val="2799"/>
              </a:lnSpc>
              <a:buFont typeface="Arial"/>
              <a:buChar char="•"/>
            </a:pPr>
            <a:r>
              <a:rPr lang="en-US" b="true" sz="1999">
                <a:solidFill>
                  <a:srgbClr val="00285D"/>
                </a:solidFill>
                <a:latin typeface="Poppins Bold"/>
                <a:ea typeface="Poppins Bold"/>
                <a:cs typeface="Poppins Bold"/>
                <a:sym typeface="Poppins Bold"/>
              </a:rPr>
              <a:t>Roadmap</a:t>
            </a:r>
          </a:p>
          <a:p>
            <a:pPr algn="l">
              <a:lnSpc>
                <a:spcPts val="2799"/>
              </a:lnSpc>
            </a:pPr>
          </a:p>
          <a:p>
            <a:pPr algn="l">
              <a:lnSpc>
                <a:spcPts val="2799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3749011" y="1378158"/>
            <a:ext cx="11134498" cy="616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7"/>
              </a:lnSpc>
              <a:spcBef>
                <a:spcPct val="0"/>
              </a:spcBef>
            </a:pPr>
            <a:r>
              <a:rPr lang="en-US" b="true" sz="34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METODOLOGÍA ÁGIL HÍBRIDA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139238" y="5697518"/>
            <a:ext cx="9525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8272462" y="4895851"/>
            <a:ext cx="741313" cy="18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26/08/2025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013775" y="7039180"/>
            <a:ext cx="741313" cy="18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09/09/2025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906861" y="4895851"/>
            <a:ext cx="741313" cy="18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11/09/2025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648174" y="7039180"/>
            <a:ext cx="741313" cy="18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23/09/2025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543524" y="4895851"/>
            <a:ext cx="741313" cy="18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19/09/2025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330256" y="7039180"/>
            <a:ext cx="741313" cy="18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07/10/2025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180187" y="4895851"/>
            <a:ext cx="741313" cy="18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04/11/2025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921500" y="7039180"/>
            <a:ext cx="741313" cy="18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18/11/2025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816850" y="4895851"/>
            <a:ext cx="741313" cy="18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20/11/2025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5605788" y="7039180"/>
            <a:ext cx="741313" cy="18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05/12/2025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28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149435" y="2721805"/>
            <a:ext cx="10465695" cy="7565195"/>
          </a:xfrm>
          <a:custGeom>
            <a:avLst/>
            <a:gdLst/>
            <a:ahLst/>
            <a:cxnLst/>
            <a:rect r="r" b="b" t="t" l="l"/>
            <a:pathLst>
              <a:path h="7565195" w="10465695">
                <a:moveTo>
                  <a:pt x="0" y="0"/>
                </a:moveTo>
                <a:lnTo>
                  <a:pt x="10465695" y="0"/>
                </a:lnTo>
                <a:lnTo>
                  <a:pt x="10465695" y="7565195"/>
                </a:lnTo>
                <a:lnTo>
                  <a:pt x="0" y="75651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854" r="0" b="-10515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411996" y="1348186"/>
            <a:ext cx="13464008" cy="8408824"/>
          </a:xfrm>
          <a:custGeom>
            <a:avLst/>
            <a:gdLst/>
            <a:ahLst/>
            <a:cxnLst/>
            <a:rect r="r" b="b" t="t" l="l"/>
            <a:pathLst>
              <a:path h="8408824" w="13464008">
                <a:moveTo>
                  <a:pt x="0" y="0"/>
                </a:moveTo>
                <a:lnTo>
                  <a:pt x="13464008" y="0"/>
                </a:lnTo>
                <a:lnTo>
                  <a:pt x="13464008" y="8408824"/>
                </a:lnTo>
                <a:lnTo>
                  <a:pt x="0" y="84088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394" t="-12784" r="0" b="-18922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974854" y="952500"/>
            <a:ext cx="6338292" cy="6629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60"/>
              </a:lnSpc>
            </a:pPr>
            <a:r>
              <a:rPr lang="en-US" sz="39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Roles dentro del Proyecto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749573" y="-55211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149435" y="2721805"/>
            <a:ext cx="10465695" cy="7565195"/>
          </a:xfrm>
          <a:custGeom>
            <a:avLst/>
            <a:gdLst/>
            <a:ahLst/>
            <a:cxnLst/>
            <a:rect r="r" b="b" t="t" l="l"/>
            <a:pathLst>
              <a:path h="7565195" w="10465695">
                <a:moveTo>
                  <a:pt x="0" y="0"/>
                </a:moveTo>
                <a:lnTo>
                  <a:pt x="10465695" y="0"/>
                </a:lnTo>
                <a:lnTo>
                  <a:pt x="10465695" y="7565195"/>
                </a:lnTo>
                <a:lnTo>
                  <a:pt x="0" y="75651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854" r="0" b="-10515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609720" y="1367707"/>
            <a:ext cx="13068561" cy="8919293"/>
          </a:xfrm>
          <a:custGeom>
            <a:avLst/>
            <a:gdLst/>
            <a:ahLst/>
            <a:cxnLst/>
            <a:rect r="r" b="b" t="t" l="l"/>
            <a:pathLst>
              <a:path h="8919293" w="13068561">
                <a:moveTo>
                  <a:pt x="0" y="0"/>
                </a:moveTo>
                <a:lnTo>
                  <a:pt x="13068560" y="0"/>
                </a:lnTo>
                <a:lnTo>
                  <a:pt x="13068560" y="8919293"/>
                </a:lnTo>
                <a:lnTo>
                  <a:pt x="0" y="89192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372712" y="382873"/>
            <a:ext cx="8778990" cy="984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67"/>
              </a:lnSpc>
              <a:spcBef>
                <a:spcPct val="0"/>
              </a:spcBef>
            </a:pPr>
            <a:r>
              <a:rPr lang="en-US" b="true" sz="54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PROPUESTA TÉCNICA :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749573" y="-55211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149435" y="2721805"/>
            <a:ext cx="10465695" cy="7565195"/>
          </a:xfrm>
          <a:custGeom>
            <a:avLst/>
            <a:gdLst/>
            <a:ahLst/>
            <a:cxnLst/>
            <a:rect r="r" b="b" t="t" l="l"/>
            <a:pathLst>
              <a:path h="7565195" w="10465695">
                <a:moveTo>
                  <a:pt x="0" y="0"/>
                </a:moveTo>
                <a:lnTo>
                  <a:pt x="10465695" y="0"/>
                </a:lnTo>
                <a:lnTo>
                  <a:pt x="10465695" y="7565195"/>
                </a:lnTo>
                <a:lnTo>
                  <a:pt x="0" y="75651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854" r="0" b="-10515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42133" y="1054823"/>
            <a:ext cx="17003734" cy="8778177"/>
          </a:xfrm>
          <a:custGeom>
            <a:avLst/>
            <a:gdLst/>
            <a:ahLst/>
            <a:cxnLst/>
            <a:rect r="r" b="b" t="t" l="l"/>
            <a:pathLst>
              <a:path h="8778177" w="17003734">
                <a:moveTo>
                  <a:pt x="0" y="0"/>
                </a:moveTo>
                <a:lnTo>
                  <a:pt x="17003734" y="0"/>
                </a:lnTo>
                <a:lnTo>
                  <a:pt x="17003734" y="8778178"/>
                </a:lnTo>
                <a:lnTo>
                  <a:pt x="0" y="87781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558629" y="199778"/>
            <a:ext cx="9170742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DIAGRAMA DE CASO DE USO GENERAL  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749573" y="-55211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149435" y="2721805"/>
            <a:ext cx="10465695" cy="7565195"/>
          </a:xfrm>
          <a:custGeom>
            <a:avLst/>
            <a:gdLst/>
            <a:ahLst/>
            <a:cxnLst/>
            <a:rect r="r" b="b" t="t" l="l"/>
            <a:pathLst>
              <a:path h="7565195" w="10465695">
                <a:moveTo>
                  <a:pt x="0" y="0"/>
                </a:moveTo>
                <a:lnTo>
                  <a:pt x="10465695" y="0"/>
                </a:lnTo>
                <a:lnTo>
                  <a:pt x="10465695" y="7565195"/>
                </a:lnTo>
                <a:lnTo>
                  <a:pt x="0" y="75651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854" r="0" b="-10515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57275" y="0"/>
            <a:ext cx="6258522" cy="10287000"/>
          </a:xfrm>
          <a:custGeom>
            <a:avLst/>
            <a:gdLst/>
            <a:ahLst/>
            <a:cxnLst/>
            <a:rect r="r" b="b" t="t" l="l"/>
            <a:pathLst>
              <a:path h="10287000" w="6258522">
                <a:moveTo>
                  <a:pt x="0" y="0"/>
                </a:moveTo>
                <a:lnTo>
                  <a:pt x="6258522" y="0"/>
                </a:lnTo>
                <a:lnTo>
                  <a:pt x="625852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39228" r="0" b="-14794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088558" y="4815866"/>
            <a:ext cx="9170742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DIAGRAMA MER-DB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749573" y="-55211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149435" y="2721805"/>
            <a:ext cx="10465695" cy="7565195"/>
          </a:xfrm>
          <a:custGeom>
            <a:avLst/>
            <a:gdLst/>
            <a:ahLst/>
            <a:cxnLst/>
            <a:rect r="r" b="b" t="t" l="l"/>
            <a:pathLst>
              <a:path h="7565195" w="10465695">
                <a:moveTo>
                  <a:pt x="0" y="0"/>
                </a:moveTo>
                <a:lnTo>
                  <a:pt x="10465695" y="0"/>
                </a:lnTo>
                <a:lnTo>
                  <a:pt x="10465695" y="7565195"/>
                </a:lnTo>
                <a:lnTo>
                  <a:pt x="0" y="75651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854" r="0" b="-10515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0"/>
            <a:ext cx="6455092" cy="10287000"/>
          </a:xfrm>
          <a:custGeom>
            <a:avLst/>
            <a:gdLst/>
            <a:ahLst/>
            <a:cxnLst/>
            <a:rect r="r" b="b" t="t" l="l"/>
            <a:pathLst>
              <a:path h="10287000" w="6455092">
                <a:moveTo>
                  <a:pt x="0" y="0"/>
                </a:moveTo>
                <a:lnTo>
                  <a:pt x="6455092" y="0"/>
                </a:lnTo>
                <a:lnTo>
                  <a:pt x="645509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088558" y="4815866"/>
            <a:ext cx="9170742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DIAGRAMA DE CLASES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749573" y="-55211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3326356"/>
            <a:ext cx="10996230" cy="4563823"/>
          </a:xfrm>
          <a:custGeom>
            <a:avLst/>
            <a:gdLst/>
            <a:ahLst/>
            <a:cxnLst/>
            <a:rect r="r" b="b" t="t" l="l"/>
            <a:pathLst>
              <a:path h="4563823" w="10996230">
                <a:moveTo>
                  <a:pt x="0" y="0"/>
                </a:moveTo>
                <a:lnTo>
                  <a:pt x="10996230" y="0"/>
                </a:lnTo>
                <a:lnTo>
                  <a:pt x="10996230" y="4563823"/>
                </a:lnTo>
                <a:lnTo>
                  <a:pt x="0" y="45638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171935" y="5048250"/>
            <a:ext cx="9170742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BPMN AS IS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749573" y="-55211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4547294"/>
            <a:ext cx="16603736" cy="5064140"/>
          </a:xfrm>
          <a:custGeom>
            <a:avLst/>
            <a:gdLst/>
            <a:ahLst/>
            <a:cxnLst/>
            <a:rect r="r" b="b" t="t" l="l"/>
            <a:pathLst>
              <a:path h="5064140" w="16603736">
                <a:moveTo>
                  <a:pt x="0" y="0"/>
                </a:moveTo>
                <a:lnTo>
                  <a:pt x="16603736" y="0"/>
                </a:lnTo>
                <a:lnTo>
                  <a:pt x="16603736" y="5064139"/>
                </a:lnTo>
                <a:lnTo>
                  <a:pt x="0" y="50641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608032" y="650439"/>
            <a:ext cx="11071936" cy="684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00"/>
              </a:lnSpc>
              <a:spcBef>
                <a:spcPct val="0"/>
              </a:spcBef>
            </a:pPr>
            <a:r>
              <a:rPr lang="en-US" b="true" sz="3714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SET DE PRUEBAS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79147" y="1676541"/>
            <a:ext cx="6673177" cy="27434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134"/>
              </a:lnSpc>
            </a:pPr>
            <a:r>
              <a:rPr lang="en-US" b="true" sz="2239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TECNICAS DE PRUEBAS:</a:t>
            </a:r>
          </a:p>
          <a:p>
            <a:pPr algn="just">
              <a:lnSpc>
                <a:spcPts val="3134"/>
              </a:lnSpc>
            </a:pPr>
            <a:r>
              <a:rPr lang="en-US" b="true" sz="2239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-PRUEBAS MANUALES </a:t>
            </a:r>
          </a:p>
          <a:p>
            <a:pPr algn="just">
              <a:lnSpc>
                <a:spcPts val="3134"/>
              </a:lnSpc>
            </a:pPr>
            <a:r>
              <a:rPr lang="en-US" b="true" sz="2239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TIPOS DE PRUEBAS:</a:t>
            </a:r>
          </a:p>
          <a:p>
            <a:pPr algn="just">
              <a:lnSpc>
                <a:spcPts val="3134"/>
              </a:lnSpc>
            </a:pPr>
            <a:r>
              <a:rPr lang="en-US" b="true" sz="2239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-PRUEBAS FUNCIONALES </a:t>
            </a:r>
          </a:p>
          <a:p>
            <a:pPr algn="just">
              <a:lnSpc>
                <a:spcPts val="3134"/>
              </a:lnSpc>
            </a:pPr>
            <a:r>
              <a:rPr lang="en-US" b="true" sz="2239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-PRUEBAS DE SEGURIDAD </a:t>
            </a:r>
          </a:p>
          <a:p>
            <a:pPr algn="just">
              <a:lnSpc>
                <a:spcPts val="3134"/>
              </a:lnSpc>
            </a:pPr>
            <a:r>
              <a:rPr lang="en-US" b="true" sz="2239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-PRUEBAS DE BASE DE DATOS </a:t>
            </a:r>
          </a:p>
          <a:p>
            <a:pPr algn="ctr">
              <a:lnSpc>
                <a:spcPts val="3134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10244794" y="-82223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54364" y="3100790"/>
            <a:ext cx="10465695" cy="7565195"/>
          </a:xfrm>
          <a:custGeom>
            <a:avLst/>
            <a:gdLst/>
            <a:ahLst/>
            <a:cxnLst/>
            <a:rect r="r" b="b" t="t" l="l"/>
            <a:pathLst>
              <a:path h="7565195" w="10465695">
                <a:moveTo>
                  <a:pt x="0" y="0"/>
                </a:moveTo>
                <a:lnTo>
                  <a:pt x="10465696" y="0"/>
                </a:lnTo>
                <a:lnTo>
                  <a:pt x="10465696" y="7565195"/>
                </a:lnTo>
                <a:lnTo>
                  <a:pt x="0" y="75651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854" r="0" b="-10515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406557" y="2531911"/>
            <a:ext cx="4538332" cy="6943946"/>
          </a:xfrm>
          <a:custGeom>
            <a:avLst/>
            <a:gdLst/>
            <a:ahLst/>
            <a:cxnLst/>
            <a:rect r="r" b="b" t="t" l="l"/>
            <a:pathLst>
              <a:path h="6943946" w="4538332">
                <a:moveTo>
                  <a:pt x="0" y="0"/>
                </a:moveTo>
                <a:lnTo>
                  <a:pt x="4538332" y="0"/>
                </a:lnTo>
                <a:lnTo>
                  <a:pt x="4538332" y="6943946"/>
                </a:lnTo>
                <a:lnTo>
                  <a:pt x="0" y="6943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6576" t="-904" r="-87894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321060" y="2531911"/>
            <a:ext cx="4096198" cy="6726389"/>
          </a:xfrm>
          <a:custGeom>
            <a:avLst/>
            <a:gdLst/>
            <a:ahLst/>
            <a:cxnLst/>
            <a:rect r="r" b="b" t="t" l="l"/>
            <a:pathLst>
              <a:path h="6726389" w="4096198">
                <a:moveTo>
                  <a:pt x="0" y="0"/>
                </a:moveTo>
                <a:lnTo>
                  <a:pt x="4096198" y="0"/>
                </a:lnTo>
                <a:lnTo>
                  <a:pt x="4096198" y="6726389"/>
                </a:lnTo>
                <a:lnTo>
                  <a:pt x="0" y="67263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558629" y="494806"/>
            <a:ext cx="9170742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DISEÑO DE FRONT-END PERFIL CLIENTE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516233" y="1750198"/>
            <a:ext cx="4736264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MOCKUP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321060" y="1750198"/>
            <a:ext cx="3471704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PAGINA WEB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749573" y="-55211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149435" y="2721805"/>
            <a:ext cx="10465695" cy="7565195"/>
          </a:xfrm>
          <a:custGeom>
            <a:avLst/>
            <a:gdLst/>
            <a:ahLst/>
            <a:cxnLst/>
            <a:rect r="r" b="b" t="t" l="l"/>
            <a:pathLst>
              <a:path h="7565195" w="10465695">
                <a:moveTo>
                  <a:pt x="0" y="0"/>
                </a:moveTo>
                <a:lnTo>
                  <a:pt x="10465695" y="0"/>
                </a:lnTo>
                <a:lnTo>
                  <a:pt x="10465695" y="7565195"/>
                </a:lnTo>
                <a:lnTo>
                  <a:pt x="0" y="75651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854" r="0" b="-10515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148206" y="2113526"/>
            <a:ext cx="5571000" cy="7480557"/>
          </a:xfrm>
          <a:custGeom>
            <a:avLst/>
            <a:gdLst/>
            <a:ahLst/>
            <a:cxnLst/>
            <a:rect r="r" b="b" t="t" l="l"/>
            <a:pathLst>
              <a:path h="7480557" w="5571000">
                <a:moveTo>
                  <a:pt x="0" y="0"/>
                </a:moveTo>
                <a:lnTo>
                  <a:pt x="5571000" y="0"/>
                </a:lnTo>
                <a:lnTo>
                  <a:pt x="5571000" y="7480557"/>
                </a:lnTo>
                <a:lnTo>
                  <a:pt x="0" y="74805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64507" y="1866882"/>
            <a:ext cx="6937034" cy="4512153"/>
          </a:xfrm>
          <a:custGeom>
            <a:avLst/>
            <a:gdLst/>
            <a:ahLst/>
            <a:cxnLst/>
            <a:rect r="r" b="b" t="t" l="l"/>
            <a:pathLst>
              <a:path h="4512153" w="6937034">
                <a:moveTo>
                  <a:pt x="0" y="0"/>
                </a:moveTo>
                <a:lnTo>
                  <a:pt x="6937034" y="0"/>
                </a:lnTo>
                <a:lnTo>
                  <a:pt x="6937034" y="4512153"/>
                </a:lnTo>
                <a:lnTo>
                  <a:pt x="0" y="45121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448" t="0" r="-8186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434066" y="594447"/>
            <a:ext cx="10270732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DISEÑO DE FRONT-END PERFIL ADMINISTRATIVO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90497" y="1306864"/>
            <a:ext cx="4736264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MOCKUP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197854" y="1306864"/>
            <a:ext cx="3471704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PAGINA WEB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10132244" y="-79972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0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716122" y="2721805"/>
            <a:ext cx="10465695" cy="7565195"/>
          </a:xfrm>
          <a:custGeom>
            <a:avLst/>
            <a:gdLst/>
            <a:ahLst/>
            <a:cxnLst/>
            <a:rect r="r" b="b" t="t" l="l"/>
            <a:pathLst>
              <a:path h="7565195" w="10465695">
                <a:moveTo>
                  <a:pt x="0" y="0"/>
                </a:moveTo>
                <a:lnTo>
                  <a:pt x="10465695" y="0"/>
                </a:lnTo>
                <a:lnTo>
                  <a:pt x="10465695" y="7565195"/>
                </a:lnTo>
                <a:lnTo>
                  <a:pt x="0" y="75651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4854" r="0" b="-10515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717285" y="3320631"/>
            <a:ext cx="4447800" cy="6367543"/>
          </a:xfrm>
          <a:custGeom>
            <a:avLst/>
            <a:gdLst/>
            <a:ahLst/>
            <a:cxnLst/>
            <a:rect r="r" b="b" t="t" l="l"/>
            <a:pathLst>
              <a:path h="6367543" w="4447800">
                <a:moveTo>
                  <a:pt x="0" y="0"/>
                </a:moveTo>
                <a:lnTo>
                  <a:pt x="4447800" y="0"/>
                </a:lnTo>
                <a:lnTo>
                  <a:pt x="4447800" y="6367543"/>
                </a:lnTo>
                <a:lnTo>
                  <a:pt x="0" y="63675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646036" y="3320631"/>
            <a:ext cx="5295607" cy="6109612"/>
          </a:xfrm>
          <a:custGeom>
            <a:avLst/>
            <a:gdLst/>
            <a:ahLst/>
            <a:cxnLst/>
            <a:rect r="r" b="b" t="t" l="l"/>
            <a:pathLst>
              <a:path h="6109612" w="5295607">
                <a:moveTo>
                  <a:pt x="0" y="0"/>
                </a:moveTo>
                <a:lnTo>
                  <a:pt x="5295606" y="0"/>
                </a:lnTo>
                <a:lnTo>
                  <a:pt x="5295606" y="6109612"/>
                </a:lnTo>
                <a:lnTo>
                  <a:pt x="0" y="61096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558629" y="430543"/>
            <a:ext cx="9170742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REPORTES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21261" y="1181060"/>
            <a:ext cx="9170742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REPORTES DE VENTAS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866038" y="1181060"/>
            <a:ext cx="9170742" cy="560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7"/>
              </a:lnSpc>
              <a:spcBef>
                <a:spcPct val="0"/>
              </a:spcBef>
            </a:pPr>
            <a:r>
              <a:rPr lang="en-US" b="true" sz="30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REPORTES DE PRODUCTOS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874856" y="1702978"/>
            <a:ext cx="4551128" cy="13328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527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-VENTAS POR CATEGORIA</a:t>
            </a:r>
          </a:p>
          <a:p>
            <a:pPr algn="l">
              <a:lnSpc>
                <a:spcPts val="2137"/>
              </a:lnSpc>
            </a:pPr>
            <a:r>
              <a:rPr lang="en-US" sz="1527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-EVOLUCION DE LA VENTA POR EL PERIODO SELECCIONADO</a:t>
            </a:r>
          </a:p>
          <a:p>
            <a:pPr algn="l">
              <a:lnSpc>
                <a:spcPts val="2137"/>
              </a:lnSpc>
            </a:pPr>
            <a:r>
              <a:rPr lang="en-US" sz="1527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-ESTADOS DE PEDIDOS </a:t>
            </a:r>
          </a:p>
          <a:p>
            <a:pPr algn="l">
              <a:lnSpc>
                <a:spcPts val="2137"/>
              </a:lnSpc>
              <a:spcBef>
                <a:spcPct val="0"/>
              </a:spcBef>
            </a:pPr>
            <a:r>
              <a:rPr lang="en-US" b="true" sz="152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-TOP 10 DE PRODUCTOS MAS VENDIDOS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860834" y="1693453"/>
            <a:ext cx="4015943" cy="559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-ESTADO INVENTARIO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-DISTRIBUCION POR CATEGORIAS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749573" y="-55211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777711" y="852877"/>
            <a:ext cx="13510289" cy="984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67"/>
              </a:lnSpc>
              <a:spcBef>
                <a:spcPct val="0"/>
              </a:spcBef>
            </a:pPr>
            <a:r>
              <a:rPr lang="en-US" b="true" sz="54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TECNOLOGÍAS UTILIZADAS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2563041" y="183771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2060276"/>
            <a:ext cx="4503290" cy="4503290"/>
          </a:xfrm>
          <a:custGeom>
            <a:avLst/>
            <a:gdLst/>
            <a:ahLst/>
            <a:cxnLst/>
            <a:rect r="r" b="b" t="t" l="l"/>
            <a:pathLst>
              <a:path h="4503290" w="4503290">
                <a:moveTo>
                  <a:pt x="0" y="0"/>
                </a:moveTo>
                <a:lnTo>
                  <a:pt x="4503290" y="0"/>
                </a:lnTo>
                <a:lnTo>
                  <a:pt x="4503290" y="4503290"/>
                </a:lnTo>
                <a:lnTo>
                  <a:pt x="0" y="45032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859094" y="2775744"/>
            <a:ext cx="7200925" cy="3015387"/>
          </a:xfrm>
          <a:custGeom>
            <a:avLst/>
            <a:gdLst/>
            <a:ahLst/>
            <a:cxnLst/>
            <a:rect r="r" b="b" t="t" l="l"/>
            <a:pathLst>
              <a:path h="3015387" w="7200925">
                <a:moveTo>
                  <a:pt x="0" y="0"/>
                </a:moveTo>
                <a:lnTo>
                  <a:pt x="7200925" y="0"/>
                </a:lnTo>
                <a:lnTo>
                  <a:pt x="7200925" y="3015387"/>
                </a:lnTo>
                <a:lnTo>
                  <a:pt x="0" y="30153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923336" y="2507460"/>
            <a:ext cx="3053834" cy="3149974"/>
          </a:xfrm>
          <a:custGeom>
            <a:avLst/>
            <a:gdLst/>
            <a:ahLst/>
            <a:cxnLst/>
            <a:rect r="r" b="b" t="t" l="l"/>
            <a:pathLst>
              <a:path h="3149974" w="3053834">
                <a:moveTo>
                  <a:pt x="0" y="0"/>
                </a:moveTo>
                <a:lnTo>
                  <a:pt x="3053834" y="0"/>
                </a:lnTo>
                <a:lnTo>
                  <a:pt x="3053834" y="3149974"/>
                </a:lnTo>
                <a:lnTo>
                  <a:pt x="0" y="31499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792814" y="6697928"/>
            <a:ext cx="2975061" cy="2372611"/>
          </a:xfrm>
          <a:custGeom>
            <a:avLst/>
            <a:gdLst/>
            <a:ahLst/>
            <a:cxnLst/>
            <a:rect r="r" b="b" t="t" l="l"/>
            <a:pathLst>
              <a:path h="2372611" w="2975061">
                <a:moveTo>
                  <a:pt x="0" y="0"/>
                </a:moveTo>
                <a:lnTo>
                  <a:pt x="2975061" y="0"/>
                </a:lnTo>
                <a:lnTo>
                  <a:pt x="2975061" y="2372611"/>
                </a:lnTo>
                <a:lnTo>
                  <a:pt x="0" y="23726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015285" y="6449266"/>
            <a:ext cx="2869935" cy="2869935"/>
          </a:xfrm>
          <a:custGeom>
            <a:avLst/>
            <a:gdLst/>
            <a:ahLst/>
            <a:cxnLst/>
            <a:rect r="r" b="b" t="t" l="l"/>
            <a:pathLst>
              <a:path h="2869935" w="2869935">
                <a:moveTo>
                  <a:pt x="0" y="0"/>
                </a:moveTo>
                <a:lnTo>
                  <a:pt x="2869935" y="0"/>
                </a:lnTo>
                <a:lnTo>
                  <a:pt x="2869935" y="2869935"/>
                </a:lnTo>
                <a:lnTo>
                  <a:pt x="0" y="28699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264378" y="7189490"/>
            <a:ext cx="6795641" cy="1579987"/>
          </a:xfrm>
          <a:custGeom>
            <a:avLst/>
            <a:gdLst/>
            <a:ahLst/>
            <a:cxnLst/>
            <a:rect r="r" b="b" t="t" l="l"/>
            <a:pathLst>
              <a:path h="1579987" w="6795641">
                <a:moveTo>
                  <a:pt x="0" y="0"/>
                </a:moveTo>
                <a:lnTo>
                  <a:pt x="6795641" y="0"/>
                </a:lnTo>
                <a:lnTo>
                  <a:pt x="6795641" y="1579987"/>
                </a:lnTo>
                <a:lnTo>
                  <a:pt x="0" y="157998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764176" y="5609809"/>
            <a:ext cx="3920490" cy="93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80"/>
              </a:lnSpc>
            </a:pPr>
            <a:r>
              <a:rPr lang="en-US" sz="520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Versión: 5.2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729811" y="5514559"/>
            <a:ext cx="3529489" cy="93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80"/>
              </a:lnSpc>
            </a:pPr>
            <a:r>
              <a:rPr lang="en-US" sz="520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Versión: 17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01722" y="9201150"/>
            <a:ext cx="3357245" cy="93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80"/>
              </a:lnSpc>
            </a:pPr>
            <a:r>
              <a:rPr lang="en-US" sz="520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Versión: 5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524464" y="9201150"/>
            <a:ext cx="4399915" cy="93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80"/>
              </a:lnSpc>
            </a:pPr>
            <a:r>
              <a:rPr lang="en-US" sz="520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Versión: 6.1.0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898950" y="9201150"/>
            <a:ext cx="5102606" cy="93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80"/>
              </a:lnSpc>
            </a:pPr>
            <a:r>
              <a:rPr lang="en-US" sz="520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Versión: 2.9.21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945494" y="-916298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147029" y="348888"/>
            <a:ext cx="13510289" cy="984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67"/>
              </a:lnSpc>
              <a:spcBef>
                <a:spcPct val="0"/>
              </a:spcBef>
            </a:pPr>
            <a:r>
              <a:rPr lang="en-US" b="true" sz="54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FACTIBILIDAD OPERACIONAL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1812041" y="183771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50333" y="482238"/>
            <a:ext cx="1841345" cy="668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"/>
              </a:lnSpc>
            </a:pPr>
            <a:r>
              <a:rPr lang="en-US" sz="372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Cordillera Pets cuenta con los recursos necesarios para implementar la infraestructura tecnológica del proyecto, incluyendo servicios de hosting, conexión Wi-Fi estable y equipos adecuados para la gestión de la plataforma.</a:t>
            </a:r>
          </a:p>
          <a:p>
            <a:pPr algn="l">
              <a:lnSpc>
                <a:spcPts val="521"/>
              </a:lnSpc>
            </a:pPr>
          </a:p>
          <a:p>
            <a:pPr algn="l">
              <a:lnSpc>
                <a:spcPts val="521"/>
              </a:lnSpc>
            </a:pPr>
            <a:r>
              <a:rPr lang="en-US" sz="372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La empresa dispone del personal capacitado para operar la página web, quienes recibirán una inducción básica para el uso eficiente del sistema.</a:t>
            </a:r>
          </a:p>
          <a:p>
            <a:pPr algn="l">
              <a:lnSpc>
                <a:spcPts val="521"/>
              </a:lnSpc>
              <a:spcBef>
                <a:spcPct val="0"/>
              </a:spcBef>
            </a:pPr>
            <a:r>
              <a:rPr lang="en-US" b="true" sz="372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Asimismo, ya se cuenta con la información necesaria para alimentar la base de datos, como el catálogo de productos, precios e inventario actualizado.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31756" y="1955275"/>
            <a:ext cx="3891820" cy="400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2"/>
              </a:lnSpc>
              <a:spcBef>
                <a:spcPct val="0"/>
              </a:spcBef>
            </a:pPr>
            <a:r>
              <a:rPr lang="en-US" b="true" sz="2230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 Costos de Desarrollo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41281" y="2515736"/>
            <a:ext cx="5736964" cy="469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Diseño y desarrollo web 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$0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Configuración medios de pago (Transbank/Webpay, transferencia)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$0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Configuración de hosting + dominio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$0</a:t>
            </a:r>
          </a:p>
          <a:p>
            <a:pPr algn="l">
              <a:lnSpc>
                <a:spcPts val="3122"/>
              </a:lnSpc>
            </a:pPr>
          </a:p>
          <a:p>
            <a:pPr algn="l">
              <a:lnSpc>
                <a:spcPts val="3122"/>
              </a:lnSpc>
            </a:pP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Total desarrollo estimado: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$</a:t>
            </a:r>
          </a:p>
          <a:p>
            <a:pPr algn="l">
              <a:lnSpc>
                <a:spcPts val="3122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8802734" y="1884308"/>
            <a:ext cx="5746489" cy="400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2"/>
              </a:lnSpc>
              <a:spcBef>
                <a:spcPct val="0"/>
              </a:spcBef>
            </a:pPr>
            <a:r>
              <a:rPr lang="en-US" b="true" sz="2230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Costos de Mantención Mensual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812259" y="2444769"/>
            <a:ext cx="5736964" cy="5086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Hosting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$0 mensuales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Dominio (.cl)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$0 anual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Mantención técnica (actualizaciones, soporte, mejoras)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$0</a:t>
            </a:r>
          </a:p>
          <a:p>
            <a:pPr algn="l">
              <a:lnSpc>
                <a:spcPts val="3122"/>
              </a:lnSpc>
            </a:pPr>
          </a:p>
          <a:p>
            <a:pPr algn="l">
              <a:lnSpc>
                <a:spcPts val="3122"/>
              </a:lnSpc>
            </a:pP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Total mantención mensual:</a:t>
            </a:r>
          </a:p>
          <a:p>
            <a:pPr algn="l">
              <a:lnSpc>
                <a:spcPts val="3122"/>
              </a:lnSpc>
            </a:pPr>
            <a:r>
              <a:rPr lang="en-US" sz="2230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$</a:t>
            </a:r>
          </a:p>
          <a:p>
            <a:pPr algn="l">
              <a:lnSpc>
                <a:spcPts val="3122"/>
              </a:lnSpc>
            </a:pPr>
          </a:p>
          <a:p>
            <a:pPr algn="l">
              <a:lnSpc>
                <a:spcPts val="3122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781392" y="-506555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388855" y="1269094"/>
            <a:ext cx="13510289" cy="984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67"/>
              </a:lnSpc>
              <a:spcBef>
                <a:spcPct val="0"/>
              </a:spcBef>
            </a:pPr>
            <a:r>
              <a:rPr lang="en-US" b="true" sz="54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FACTIBILIDAD LEGAL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1812041" y="183771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673238" y="3008633"/>
            <a:ext cx="11698861" cy="5208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06780" indent="-453390" lvl="1">
              <a:lnSpc>
                <a:spcPts val="5880"/>
              </a:lnSpc>
              <a:buFont typeface="Arial"/>
              <a:buChar char="•"/>
            </a:pPr>
            <a:r>
              <a:rPr lang="en-US" b="true" sz="4200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Ley N° 19.496 - Protección del consumidor</a:t>
            </a:r>
          </a:p>
          <a:p>
            <a:pPr algn="l" marL="906780" indent="-453390" lvl="1">
              <a:lnSpc>
                <a:spcPts val="5880"/>
              </a:lnSpc>
              <a:buFont typeface="Arial"/>
              <a:buChar char="•"/>
            </a:pPr>
            <a:r>
              <a:rPr lang="en-US" b="true" sz="4200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Ley N° 21.719 - Protección de Datos Personales</a:t>
            </a:r>
          </a:p>
          <a:p>
            <a:pPr algn="l" marL="906780" indent="-453390" lvl="1">
              <a:lnSpc>
                <a:spcPts val="5880"/>
              </a:lnSpc>
              <a:buFont typeface="Arial"/>
              <a:buChar char="•"/>
            </a:pPr>
            <a:r>
              <a:rPr lang="en-US" b="true" sz="4200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Ley N° 21.663 - Ciberseguridad</a:t>
            </a:r>
          </a:p>
          <a:p>
            <a:pPr algn="l" marL="906780" indent="-453390" lvl="1">
              <a:lnSpc>
                <a:spcPts val="5880"/>
              </a:lnSpc>
              <a:buFont typeface="Arial"/>
              <a:buChar char="•"/>
            </a:pPr>
            <a:r>
              <a:rPr lang="en-US" b="true" sz="4200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Reglamento de Comercio Electrónico</a:t>
            </a:r>
          </a:p>
          <a:p>
            <a:pPr algn="l" marL="906780" indent="-453390" lvl="1">
              <a:lnSpc>
                <a:spcPts val="5880"/>
              </a:lnSpc>
              <a:buFont typeface="Arial"/>
              <a:buChar char="•"/>
            </a:pPr>
            <a:r>
              <a:rPr lang="en-US" b="true" sz="4200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Normativa Tributaria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362292" y="-506555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37741" y="540411"/>
            <a:ext cx="16012518" cy="843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47"/>
              </a:lnSpc>
              <a:spcBef>
                <a:spcPct val="0"/>
              </a:spcBef>
            </a:pPr>
            <a:r>
              <a:rPr lang="en-US" b="true" sz="46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ETAPAS PRINCIPALES DE IMPLEMENTACIÓN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630186" y="1503628"/>
            <a:ext cx="15084124" cy="7279744"/>
            <a:chOff x="0" y="0"/>
            <a:chExt cx="3972774" cy="191729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972773" cy="1917299"/>
            </a:xfrm>
            <a:custGeom>
              <a:avLst/>
              <a:gdLst/>
              <a:ahLst/>
              <a:cxnLst/>
              <a:rect r="r" b="b" t="t" l="l"/>
              <a:pathLst>
                <a:path h="1917299" w="3972773">
                  <a:moveTo>
                    <a:pt x="10265" y="0"/>
                  </a:moveTo>
                  <a:lnTo>
                    <a:pt x="3962509" y="0"/>
                  </a:lnTo>
                  <a:cubicBezTo>
                    <a:pt x="3968178" y="0"/>
                    <a:pt x="3972773" y="4596"/>
                    <a:pt x="3972773" y="10265"/>
                  </a:cubicBezTo>
                  <a:lnTo>
                    <a:pt x="3972773" y="1907034"/>
                  </a:lnTo>
                  <a:cubicBezTo>
                    <a:pt x="3972773" y="1912703"/>
                    <a:pt x="3968178" y="1917299"/>
                    <a:pt x="3962509" y="1917299"/>
                  </a:cubicBezTo>
                  <a:lnTo>
                    <a:pt x="10265" y="1917299"/>
                  </a:lnTo>
                  <a:cubicBezTo>
                    <a:pt x="4596" y="1917299"/>
                    <a:pt x="0" y="1912703"/>
                    <a:pt x="0" y="1907034"/>
                  </a:cubicBezTo>
                  <a:lnTo>
                    <a:pt x="0" y="10265"/>
                  </a:lnTo>
                  <a:cubicBezTo>
                    <a:pt x="0" y="4596"/>
                    <a:pt x="4596" y="0"/>
                    <a:pt x="10265" y="0"/>
                  </a:cubicBezTo>
                  <a:close/>
                </a:path>
              </a:pathLst>
            </a:custGeom>
            <a:solidFill>
              <a:srgbClr val="28346D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3972774" cy="19744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1812041" y="183771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841870" y="1811903"/>
            <a:ext cx="14604260" cy="6663194"/>
          </a:xfrm>
          <a:custGeom>
            <a:avLst/>
            <a:gdLst/>
            <a:ahLst/>
            <a:cxnLst/>
            <a:rect r="r" b="b" t="t" l="l"/>
            <a:pathLst>
              <a:path h="6663194" w="14604260">
                <a:moveTo>
                  <a:pt x="0" y="0"/>
                </a:moveTo>
                <a:lnTo>
                  <a:pt x="14604260" y="0"/>
                </a:lnTo>
                <a:lnTo>
                  <a:pt x="14604260" y="6663194"/>
                </a:lnTo>
                <a:lnTo>
                  <a:pt x="0" y="66631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362292" y="-506555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37741" y="540411"/>
            <a:ext cx="16012518" cy="843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47"/>
              </a:lnSpc>
              <a:spcBef>
                <a:spcPct val="0"/>
              </a:spcBef>
            </a:pPr>
            <a:r>
              <a:rPr lang="en-US" b="true" sz="46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ETAPAS PRINCIPALES DE IMPLEMENTACIÓN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4637616" y="1503628"/>
            <a:ext cx="9069265" cy="7279744"/>
            <a:chOff x="0" y="0"/>
            <a:chExt cx="2388613" cy="191729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88613" cy="1917299"/>
            </a:xfrm>
            <a:custGeom>
              <a:avLst/>
              <a:gdLst/>
              <a:ahLst/>
              <a:cxnLst/>
              <a:rect r="r" b="b" t="t" l="l"/>
              <a:pathLst>
                <a:path h="1917299" w="2388613">
                  <a:moveTo>
                    <a:pt x="17073" y="0"/>
                  </a:moveTo>
                  <a:lnTo>
                    <a:pt x="2371540" y="0"/>
                  </a:lnTo>
                  <a:cubicBezTo>
                    <a:pt x="2380969" y="0"/>
                    <a:pt x="2388613" y="7644"/>
                    <a:pt x="2388613" y="17073"/>
                  </a:cubicBezTo>
                  <a:lnTo>
                    <a:pt x="2388613" y="1900226"/>
                  </a:lnTo>
                  <a:cubicBezTo>
                    <a:pt x="2388613" y="1909655"/>
                    <a:pt x="2380969" y="1917299"/>
                    <a:pt x="2371540" y="1917299"/>
                  </a:cubicBezTo>
                  <a:lnTo>
                    <a:pt x="17073" y="1917299"/>
                  </a:lnTo>
                  <a:cubicBezTo>
                    <a:pt x="7644" y="1917299"/>
                    <a:pt x="0" y="1909655"/>
                    <a:pt x="0" y="1900226"/>
                  </a:cubicBezTo>
                  <a:lnTo>
                    <a:pt x="0" y="17073"/>
                  </a:lnTo>
                  <a:cubicBezTo>
                    <a:pt x="0" y="7644"/>
                    <a:pt x="7644" y="0"/>
                    <a:pt x="17073" y="0"/>
                  </a:cubicBezTo>
                  <a:close/>
                </a:path>
              </a:pathLst>
            </a:custGeom>
            <a:solidFill>
              <a:srgbClr val="28346D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2388613" cy="19744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1812041" y="183771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105701" y="1811903"/>
            <a:ext cx="8076598" cy="6663194"/>
          </a:xfrm>
          <a:custGeom>
            <a:avLst/>
            <a:gdLst/>
            <a:ahLst/>
            <a:cxnLst/>
            <a:rect r="r" b="b" t="t" l="l"/>
            <a:pathLst>
              <a:path h="6663194" w="8076598">
                <a:moveTo>
                  <a:pt x="0" y="0"/>
                </a:moveTo>
                <a:lnTo>
                  <a:pt x="8076598" y="0"/>
                </a:lnTo>
                <a:lnTo>
                  <a:pt x="8076598" y="6663194"/>
                </a:lnTo>
                <a:lnTo>
                  <a:pt x="0" y="66631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362292" y="-506555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812041" y="183771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390403" y="1253994"/>
            <a:ext cx="13507194" cy="7779012"/>
          </a:xfrm>
          <a:custGeom>
            <a:avLst/>
            <a:gdLst/>
            <a:ahLst/>
            <a:cxnLst/>
            <a:rect r="r" b="b" t="t" l="l"/>
            <a:pathLst>
              <a:path h="7779012" w="13507194">
                <a:moveTo>
                  <a:pt x="0" y="0"/>
                </a:moveTo>
                <a:lnTo>
                  <a:pt x="13507194" y="0"/>
                </a:lnTo>
                <a:lnTo>
                  <a:pt x="13507194" y="7779012"/>
                </a:lnTo>
                <a:lnTo>
                  <a:pt x="0" y="77790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890415" y="185471"/>
            <a:ext cx="6507169" cy="843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47"/>
              </a:lnSpc>
              <a:spcBef>
                <a:spcPct val="0"/>
              </a:spcBef>
            </a:pPr>
            <a:r>
              <a:rPr lang="en-US" b="true" sz="46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EVIDENCIA DE GITHUB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362292" y="-506555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812041" y="183771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197194" y="1436480"/>
            <a:ext cx="13469146" cy="4040744"/>
          </a:xfrm>
          <a:custGeom>
            <a:avLst/>
            <a:gdLst/>
            <a:ahLst/>
            <a:cxnLst/>
            <a:rect r="r" b="b" t="t" l="l"/>
            <a:pathLst>
              <a:path h="4040744" w="13469146">
                <a:moveTo>
                  <a:pt x="0" y="0"/>
                </a:moveTo>
                <a:lnTo>
                  <a:pt x="13469146" y="0"/>
                </a:lnTo>
                <a:lnTo>
                  <a:pt x="13469146" y="4040744"/>
                </a:lnTo>
                <a:lnTo>
                  <a:pt x="0" y="40407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493371" y="5710675"/>
            <a:ext cx="11301259" cy="4322732"/>
          </a:xfrm>
          <a:custGeom>
            <a:avLst/>
            <a:gdLst/>
            <a:ahLst/>
            <a:cxnLst/>
            <a:rect r="r" b="b" t="t" l="l"/>
            <a:pathLst>
              <a:path h="4322732" w="11301259">
                <a:moveTo>
                  <a:pt x="0" y="0"/>
                </a:moveTo>
                <a:lnTo>
                  <a:pt x="11301258" y="0"/>
                </a:lnTo>
                <a:lnTo>
                  <a:pt x="11301258" y="4322732"/>
                </a:lnTo>
                <a:lnTo>
                  <a:pt x="0" y="432273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890415" y="185471"/>
            <a:ext cx="6507169" cy="843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47"/>
              </a:lnSpc>
              <a:spcBef>
                <a:spcPct val="0"/>
              </a:spcBef>
            </a:pPr>
            <a:r>
              <a:rPr lang="en-US" b="true" sz="46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EVIDENCIA DE GITHUB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362292" y="-506555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37741" y="540411"/>
            <a:ext cx="16012518" cy="843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47"/>
              </a:lnSpc>
              <a:spcBef>
                <a:spcPct val="0"/>
              </a:spcBef>
            </a:pPr>
            <a:r>
              <a:rPr lang="en-US" b="true" sz="46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MATRIZ RACI EVIDENCIA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812041" y="183771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93682" y="1837711"/>
            <a:ext cx="17300637" cy="5601081"/>
          </a:xfrm>
          <a:custGeom>
            <a:avLst/>
            <a:gdLst/>
            <a:ahLst/>
            <a:cxnLst/>
            <a:rect r="r" b="b" t="t" l="l"/>
            <a:pathLst>
              <a:path h="5601081" w="17300637">
                <a:moveTo>
                  <a:pt x="0" y="0"/>
                </a:moveTo>
                <a:lnTo>
                  <a:pt x="17300636" y="0"/>
                </a:lnTo>
                <a:lnTo>
                  <a:pt x="17300636" y="5601081"/>
                </a:lnTo>
                <a:lnTo>
                  <a:pt x="0" y="560108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362292" y="-506555"/>
            <a:ext cx="9939266" cy="9007460"/>
          </a:xfrm>
          <a:custGeom>
            <a:avLst/>
            <a:gdLst/>
            <a:ahLst/>
            <a:cxnLst/>
            <a:rect r="r" b="b" t="t" l="l"/>
            <a:pathLst>
              <a:path h="9007460" w="9939266">
                <a:moveTo>
                  <a:pt x="9939266" y="9007460"/>
                </a:moveTo>
                <a:lnTo>
                  <a:pt x="0" y="9007460"/>
                </a:lnTo>
                <a:lnTo>
                  <a:pt x="0" y="0"/>
                </a:lnTo>
                <a:lnTo>
                  <a:pt x="9939266" y="0"/>
                </a:lnTo>
                <a:lnTo>
                  <a:pt x="9939266" y="900746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37741" y="540411"/>
            <a:ext cx="16012518" cy="843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47"/>
              </a:lnSpc>
              <a:spcBef>
                <a:spcPct val="0"/>
              </a:spcBef>
            </a:pPr>
            <a:r>
              <a:rPr lang="en-US" b="true" sz="46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MATRIZ RACI EVIDENCIA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5666340" y="-26123"/>
            <a:ext cx="2621660" cy="1054823"/>
          </a:xfrm>
          <a:custGeom>
            <a:avLst/>
            <a:gdLst/>
            <a:ahLst/>
            <a:cxnLst/>
            <a:rect r="r" b="b" t="t" l="l"/>
            <a:pathLst>
              <a:path h="1054823" w="2621660">
                <a:moveTo>
                  <a:pt x="0" y="0"/>
                </a:moveTo>
                <a:lnTo>
                  <a:pt x="2621660" y="0"/>
                </a:lnTo>
                <a:lnTo>
                  <a:pt x="2621660" y="1054823"/>
                </a:lnTo>
                <a:lnTo>
                  <a:pt x="0" y="1054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024" t="-67794" r="0" b="-46912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812041" y="1837711"/>
            <a:ext cx="10429472" cy="9451709"/>
          </a:xfrm>
          <a:custGeom>
            <a:avLst/>
            <a:gdLst/>
            <a:ahLst/>
            <a:cxnLst/>
            <a:rect r="r" b="b" t="t" l="l"/>
            <a:pathLst>
              <a:path h="9451709" w="10429472">
                <a:moveTo>
                  <a:pt x="0" y="0"/>
                </a:moveTo>
                <a:lnTo>
                  <a:pt x="10429472" y="0"/>
                </a:lnTo>
                <a:lnTo>
                  <a:pt x="10429472" y="9451709"/>
                </a:lnTo>
                <a:lnTo>
                  <a:pt x="0" y="9451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70440" y="1588850"/>
            <a:ext cx="14911200" cy="5107086"/>
          </a:xfrm>
          <a:custGeom>
            <a:avLst/>
            <a:gdLst/>
            <a:ahLst/>
            <a:cxnLst/>
            <a:rect r="r" b="b" t="t" l="l"/>
            <a:pathLst>
              <a:path h="5107086" w="14911200">
                <a:moveTo>
                  <a:pt x="0" y="0"/>
                </a:moveTo>
                <a:lnTo>
                  <a:pt x="14911200" y="0"/>
                </a:lnTo>
                <a:lnTo>
                  <a:pt x="14911200" y="5107086"/>
                </a:lnTo>
                <a:lnTo>
                  <a:pt x="0" y="510708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70440" y="6695936"/>
            <a:ext cx="14911200" cy="820116"/>
          </a:xfrm>
          <a:custGeom>
            <a:avLst/>
            <a:gdLst/>
            <a:ahLst/>
            <a:cxnLst/>
            <a:rect r="r" b="b" t="t" l="l"/>
            <a:pathLst>
              <a:path h="820116" w="14911200">
                <a:moveTo>
                  <a:pt x="0" y="0"/>
                </a:moveTo>
                <a:lnTo>
                  <a:pt x="14911200" y="0"/>
                </a:lnTo>
                <a:lnTo>
                  <a:pt x="14911200" y="820116"/>
                </a:lnTo>
                <a:lnTo>
                  <a:pt x="0" y="82011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956120" y="-1176198"/>
            <a:ext cx="7241724" cy="7241724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28277" t="0" r="-28277" b="0"/>
              </a:stretch>
            </a:blipFill>
            <a:ln w="704850" cap="sq">
              <a:solidFill>
                <a:srgbClr val="28346D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2544543" y="9073829"/>
            <a:ext cx="1859289" cy="1859289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5375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121828" y="1246167"/>
            <a:ext cx="908091" cy="908091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5375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28700" y="2812166"/>
            <a:ext cx="1543050" cy="1543050"/>
            <a:chOff x="0" y="0"/>
            <a:chExt cx="406400" cy="4064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06400" cy="406400"/>
            </a:xfrm>
            <a:custGeom>
              <a:avLst/>
              <a:gdLst/>
              <a:ahLst/>
              <a:cxnLst/>
              <a:rect r="r" b="b" t="t" l="l"/>
              <a:pathLst>
                <a:path h="406400" w="406400">
                  <a:moveTo>
                    <a:pt x="0" y="0"/>
                  </a:moveTo>
                  <a:lnTo>
                    <a:pt x="406400" y="0"/>
                  </a:lnTo>
                  <a:lnTo>
                    <a:pt x="406400" y="406400"/>
                  </a:lnTo>
                  <a:lnTo>
                    <a:pt x="0" y="406400"/>
                  </a:lnTo>
                  <a:close/>
                </a:path>
              </a:pathLst>
            </a:custGeom>
            <a:solidFill>
              <a:srgbClr val="28346D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42875"/>
              <a:ext cx="406400" cy="549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7214"/>
                </a:lnSpc>
              </a:pPr>
              <a:r>
                <a:rPr lang="en-US" b="true" sz="5153" spc="1767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5796016" y="4642191"/>
            <a:ext cx="1543050" cy="1543050"/>
            <a:chOff x="0" y="0"/>
            <a:chExt cx="406400" cy="406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06400" cy="406400"/>
            </a:xfrm>
            <a:custGeom>
              <a:avLst/>
              <a:gdLst/>
              <a:ahLst/>
              <a:cxnLst/>
              <a:rect r="r" b="b" t="t" l="l"/>
              <a:pathLst>
                <a:path h="406400" w="406400">
                  <a:moveTo>
                    <a:pt x="0" y="0"/>
                  </a:moveTo>
                  <a:lnTo>
                    <a:pt x="406400" y="0"/>
                  </a:lnTo>
                  <a:lnTo>
                    <a:pt x="406400" y="406400"/>
                  </a:lnTo>
                  <a:lnTo>
                    <a:pt x="0" y="406400"/>
                  </a:lnTo>
                  <a:close/>
                </a:path>
              </a:pathLst>
            </a:custGeom>
            <a:solidFill>
              <a:srgbClr val="28346D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42875"/>
              <a:ext cx="406400" cy="549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7214"/>
                </a:lnSpc>
              </a:pPr>
              <a:r>
                <a:rPr lang="en-US" b="true" sz="5153" spc="1767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2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028700" y="6451699"/>
            <a:ext cx="1543050" cy="1543050"/>
            <a:chOff x="0" y="0"/>
            <a:chExt cx="406400" cy="406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06400" cy="406400"/>
            </a:xfrm>
            <a:custGeom>
              <a:avLst/>
              <a:gdLst/>
              <a:ahLst/>
              <a:cxnLst/>
              <a:rect r="r" b="b" t="t" l="l"/>
              <a:pathLst>
                <a:path h="406400" w="406400">
                  <a:moveTo>
                    <a:pt x="0" y="0"/>
                  </a:moveTo>
                  <a:lnTo>
                    <a:pt x="406400" y="0"/>
                  </a:lnTo>
                  <a:lnTo>
                    <a:pt x="406400" y="406400"/>
                  </a:lnTo>
                  <a:lnTo>
                    <a:pt x="0" y="406400"/>
                  </a:lnTo>
                  <a:close/>
                </a:path>
              </a:pathLst>
            </a:custGeom>
            <a:solidFill>
              <a:srgbClr val="28346D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42875"/>
              <a:ext cx="406400" cy="549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7214"/>
                </a:lnSpc>
              </a:pPr>
              <a:r>
                <a:rPr lang="en-US" b="true" sz="5153" spc="1767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3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028700" y="307305"/>
            <a:ext cx="7218627" cy="19563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67"/>
              </a:lnSpc>
              <a:spcBef>
                <a:spcPct val="0"/>
              </a:spcBef>
            </a:pPr>
            <a:r>
              <a:rPr lang="en-US" b="true" sz="5477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RETROSPECTIVA DEL PROYECTO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612906" y="3379896"/>
            <a:ext cx="4634421" cy="350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4"/>
              </a:lnSpc>
              <a:spcBef>
                <a:spcPct val="0"/>
              </a:spcBef>
            </a:pPr>
            <a:r>
              <a:rPr lang="en-US" sz="1953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¿Qué hicimos bien?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462988" y="8562479"/>
            <a:ext cx="3493132" cy="350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4"/>
              </a:lnSpc>
            </a:pPr>
            <a:r>
              <a:rPr lang="en-US" sz="1953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¿Qué podemos mejorar?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462988" y="5209921"/>
            <a:ext cx="3783932" cy="350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4"/>
              </a:lnSpc>
            </a:pPr>
            <a:r>
              <a:rPr lang="en-US" sz="1953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¿Qué dificultad tuvimos?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5796016" y="7994749"/>
            <a:ext cx="1543050" cy="1543050"/>
            <a:chOff x="0" y="0"/>
            <a:chExt cx="406400" cy="406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06400" cy="406400"/>
            </a:xfrm>
            <a:custGeom>
              <a:avLst/>
              <a:gdLst/>
              <a:ahLst/>
              <a:cxnLst/>
              <a:rect r="r" b="b" t="t" l="l"/>
              <a:pathLst>
                <a:path h="406400" w="406400">
                  <a:moveTo>
                    <a:pt x="0" y="0"/>
                  </a:moveTo>
                  <a:lnTo>
                    <a:pt x="406400" y="0"/>
                  </a:lnTo>
                  <a:lnTo>
                    <a:pt x="406400" y="406400"/>
                  </a:lnTo>
                  <a:lnTo>
                    <a:pt x="0" y="406400"/>
                  </a:lnTo>
                  <a:close/>
                </a:path>
              </a:pathLst>
            </a:custGeom>
            <a:solidFill>
              <a:srgbClr val="28346D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42875"/>
              <a:ext cx="406400" cy="549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7214"/>
                </a:lnSpc>
              </a:pPr>
              <a:r>
                <a:rPr lang="en-US" b="true" sz="5153" spc="1767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4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3612906" y="7166074"/>
            <a:ext cx="3493132" cy="350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4"/>
              </a:lnSpc>
            </a:pPr>
            <a:r>
              <a:rPr lang="en-US" sz="1953" b="true">
                <a:solidFill>
                  <a:srgbClr val="28346D"/>
                </a:solidFill>
                <a:latin typeface="Poppins Bold"/>
                <a:ea typeface="Poppins Bold"/>
                <a:cs typeface="Poppins Bold"/>
                <a:sym typeface="Poppins Bold"/>
              </a:rPr>
              <a:t>¿Cómo lo solucionamos?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77199" y="2179847"/>
            <a:ext cx="5927305" cy="5927305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3979254" y="-1593229"/>
            <a:ext cx="3473625" cy="3473625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5375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5070261" y="8192878"/>
            <a:ext cx="3790691" cy="3790691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7978558" y="3150581"/>
            <a:ext cx="5295293" cy="3842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b="true" sz="7327" spc="688">
                <a:solidFill>
                  <a:srgbClr val="28346D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GRACIAS POR SU ATENCIÓN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6635399" y="747576"/>
            <a:ext cx="745387" cy="74538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8346D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4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DAG37vPMMtc</dc:identifier>
  <dcterms:modified xsi:type="dcterms:W3CDTF">2011-08-01T06:04:30Z</dcterms:modified>
  <cp:revision>1</cp:revision>
  <dc:title>Presentación Final del proyecto</dc:title>
</cp:coreProperties>
</file>