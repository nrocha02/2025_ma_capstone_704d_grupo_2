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Arial Bold" charset="1" panose="020B0704020202020204"/>
      <p:regular r:id="rId37"/>
    </p:embeddedFont>
    <p:embeddedFont>
      <p:font typeface="Arial" charset="1" panose="020B0604020202020204"/>
      <p:regular r:id="rId38"/>
    </p:embeddedFont>
    <p:embeddedFont>
      <p:font typeface="Poppins Bold" charset="1" panose="00000800000000000000"/>
      <p:regular r:id="rId40"/>
    </p:embeddedFont>
    <p:embeddedFont>
      <p:font typeface="Poppins" charset="1" panose="00000500000000000000"/>
      <p:regular r:id="rId41"/>
    </p:embeddedFont>
    <p:embeddedFont>
      <p:font typeface="Open Sans" charset="1" panose="020B0606030504020204"/>
      <p:regular r:id="rId43"/>
    </p:embeddedFont>
    <p:embeddedFont>
      <p:font typeface="Aileron" charset="1" panose="00000500000000000000"/>
      <p:regular r:id="rId47"/>
    </p:embeddedFont>
    <p:embeddedFont>
      <p:font typeface="Arimo Bold" charset="1" panose="020B0704020202020204"/>
      <p:regular r:id="rId49"/>
    </p:embeddedFont>
    <p:embeddedFont>
      <p:font typeface="Arimo" charset="1" panose="020B0604020202020204"/>
      <p:regular r:id="rId50"/>
    </p:embeddedFont>
    <p:embeddedFont>
      <p:font typeface="Open Sans Bold" charset="1" panose="020B0806030504020204"/>
      <p:regular r:id="rId52"/>
    </p:embeddedFont>
    <p:embeddedFont>
      <p:font typeface="Poppins Medium" charset="1" panose="00000600000000000000"/>
      <p:regular r:id="rId54"/>
    </p:embeddedFont>
    <p:embeddedFont>
      <p:font typeface="Montserrat" charset="1" panose="00000500000000000000"/>
      <p:regular r:id="rId60"/>
    </p:embeddedFont>
    <p:embeddedFont>
      <p:font typeface="Canva Sans Bold" charset="1" panose="020B0803030501040103"/>
      <p:regular r:id="rId7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notesMasters/notesMaster1.xml" Type="http://schemas.openxmlformats.org/officeDocument/2006/relationships/notesMaster"/><Relationship Id="rId35" Target="theme/theme2.xml" Type="http://schemas.openxmlformats.org/officeDocument/2006/relationships/theme"/><Relationship Id="rId36" Target="notesSlides/notesSlide1.xml" Type="http://schemas.openxmlformats.org/officeDocument/2006/relationships/notesSlide"/><Relationship Id="rId37" Target="fonts/font37.fntdata" Type="http://schemas.openxmlformats.org/officeDocument/2006/relationships/font"/><Relationship Id="rId38" Target="fonts/font38.fntdata" Type="http://schemas.openxmlformats.org/officeDocument/2006/relationships/font"/><Relationship Id="rId39" Target="notesSlides/notesSlide2.xml" Type="http://schemas.openxmlformats.org/officeDocument/2006/relationships/note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notesSlides/notesSlide3.xml" Type="http://schemas.openxmlformats.org/officeDocument/2006/relationships/notesSlide"/><Relationship Id="rId43" Target="fonts/font43.fntdata" Type="http://schemas.openxmlformats.org/officeDocument/2006/relationships/font"/><Relationship Id="rId44" Target="notesSlides/notesSlide4.xml" Type="http://schemas.openxmlformats.org/officeDocument/2006/relationships/notesSlide"/><Relationship Id="rId45" Target="notesSlides/notesSlide5.xml" Type="http://schemas.openxmlformats.org/officeDocument/2006/relationships/notesSlide"/><Relationship Id="rId46" Target="notesSlides/notesSlide6.xml" Type="http://schemas.openxmlformats.org/officeDocument/2006/relationships/notesSlide"/><Relationship Id="rId47" Target="fonts/font47.fntdata" Type="http://schemas.openxmlformats.org/officeDocument/2006/relationships/font"/><Relationship Id="rId48" Target="notesSlides/notesSlide7.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notesSlides/notesSlide8.xml" Type="http://schemas.openxmlformats.org/officeDocument/2006/relationships/notesSlide"/><Relationship Id="rId52" Target="fonts/font52.fntdata" Type="http://schemas.openxmlformats.org/officeDocument/2006/relationships/font"/><Relationship Id="rId53" Target="notesSlides/notesSlide9.xml" Type="http://schemas.openxmlformats.org/officeDocument/2006/relationships/notesSlide"/><Relationship Id="rId54" Target="fonts/font54.fntdata" Type="http://schemas.openxmlformats.org/officeDocument/2006/relationships/font"/><Relationship Id="rId55" Target="notesSlides/notesSlide10.xml" Type="http://schemas.openxmlformats.org/officeDocument/2006/relationships/notesSlide"/><Relationship Id="rId56" Target="notesSlides/notesSlide11.xml" Type="http://schemas.openxmlformats.org/officeDocument/2006/relationships/notesSlide"/><Relationship Id="rId57" Target="notesSlides/notesSlide12.xml" Type="http://schemas.openxmlformats.org/officeDocument/2006/relationships/notesSlide"/><Relationship Id="rId58" Target="notesSlides/notesSlide13.xml" Type="http://schemas.openxmlformats.org/officeDocument/2006/relationships/notesSlide"/><Relationship Id="rId59" Target="notesSlides/notesSlide14.xml" Type="http://schemas.openxmlformats.org/officeDocument/2006/relationships/notesSlide"/><Relationship Id="rId6" Target="slides/slide1.xml" Type="http://schemas.openxmlformats.org/officeDocument/2006/relationships/slide"/><Relationship Id="rId60" Target="fonts/font60.fntdata" Type="http://schemas.openxmlformats.org/officeDocument/2006/relationships/font"/><Relationship Id="rId61" Target="notesSlides/notesSlide15.xml" Type="http://schemas.openxmlformats.org/officeDocument/2006/relationships/notesSlide"/><Relationship Id="rId62" Target="notesSlides/notesSlide16.xml" Type="http://schemas.openxmlformats.org/officeDocument/2006/relationships/notesSlide"/><Relationship Id="rId63" Target="notesSlides/notesSlide17.xml" Type="http://schemas.openxmlformats.org/officeDocument/2006/relationships/notesSlide"/><Relationship Id="rId64" Target="notesSlides/notesSlide18.xml" Type="http://schemas.openxmlformats.org/officeDocument/2006/relationships/notesSlide"/><Relationship Id="rId65" Target="notesSlides/notesSlide19.xml" Type="http://schemas.openxmlformats.org/officeDocument/2006/relationships/notesSlide"/><Relationship Id="rId66" Target="notesSlides/notesSlide20.xml" Type="http://schemas.openxmlformats.org/officeDocument/2006/relationships/notesSlide"/><Relationship Id="rId67" Target="notesSlides/notesSlide21.xml" Type="http://schemas.openxmlformats.org/officeDocument/2006/relationships/notesSlide"/><Relationship Id="rId68" Target="notesSlides/notesSlide22.xml" Type="http://schemas.openxmlformats.org/officeDocument/2006/relationships/notesSlide"/><Relationship Id="rId69" Target="notesSlides/notesSlide23.xml" Type="http://schemas.openxmlformats.org/officeDocument/2006/relationships/notesSlide"/><Relationship Id="rId7" Target="slides/slide2.xml" Type="http://schemas.openxmlformats.org/officeDocument/2006/relationships/slide"/><Relationship Id="rId70" Target="notesSlides/notesSlide24.xml" Type="http://schemas.openxmlformats.org/officeDocument/2006/relationships/notesSlide"/><Relationship Id="rId71" Target="notesSlides/notesSlide25.xml" Type="http://schemas.openxmlformats.org/officeDocument/2006/relationships/notesSlide"/><Relationship Id="rId72" Target="fonts/font72.fntdata" Type="http://schemas.openxmlformats.org/officeDocument/2006/relationships/font"/><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Janiz</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Janiz</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parte caro</a:t>
            </a:r>
          </a:p>
          <a:p>
            <a:r>
              <a:rPr lang="en-US"/>
              <a:t>2 parte janiz</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janiz</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caro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Janiz </a:t>
            </a:r>
          </a:p>
          <a:p>
            <a:r>
              <a:rPr lang="en-US"/>
              <a:t>2)Caro</a:t>
            </a:r>
          </a:p>
          <a:p>
            <a:r>
              <a:rPr lang="en-US"/>
              <a:t/>
            </a:r>
          </a:p>
          <a:p>
            <a:r>
              <a:rPr lang="en-US"/>
              <a:t>El problema principal es la baja eficiencia operativa, causada por ventas y control de stock manuales y la ausencia de reportes. Estas causas generan consecuencias directas como pérdida de ventas, errores en pedidos, mala experiencia del cliente y limitan el crecimiento del negocio.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Janiz</a:t>
            </a:r>
          </a:p>
          <a:p>
            <a:r>
              <a:rPr lang="en-US"/>
              <a:t>Carolina</a:t>
            </a:r>
          </a:p>
          <a:p>
            <a:r>
              <a:rPr lang="en-US"/>
              <a:t/>
            </a:r>
          </a:p>
          <a:p>
            <a:r>
              <a:rPr lang="en-US"/>
              <a:t>La métrica muestra una clara diferencia entre trabajar sin sistema y con sistema: antes los procesos eran manuales y podían tardar horas, mientras que con la plataforma automatizada se realizan en segundos, reduciendo errores y mejorando la eficiencia; por ejemplo, los reportes de ventas pasan de tardar hasta 2 horas a generarse al instante con un solo clic.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Nico</a:t>
            </a:r>
          </a:p>
          <a:p>
            <a:r>
              <a:rPr lang="en-US"/>
              <a:t/>
            </a:r>
          </a:p>
          <a:p>
            <a:r>
              <a:rPr lang="en-US"/>
              <a:t>Nuestra propuesta de valor se centra en entregarle a Cordillera Pets una digitalización a sus procesos manuales para así lograr una gestión interna óptima, cómo también entregar a sus clientes un mejor servicio, de esta forma expandir su mercado. </a:t>
            </a:r>
          </a:p>
          <a:p>
            <a:r>
              <a:rPr lang="en-US"/>
              <a:t/>
            </a:r>
          </a:p>
          <a:p>
            <a:r>
              <a:rPr lang="en-US"/>
              <a:t>A diferencia de otros servicios nosotros queremos entregarle una web hecho a la medida y que sea escalable junto a las necesidades de la pyme a medida que vaya creciendo.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Nico</a:t>
            </a:r>
          </a:p>
          <a:p>
            <a:r>
              <a:rPr lang="en-US"/>
              <a:t/>
            </a:r>
          </a:p>
          <a:p>
            <a:r>
              <a:rPr lang="en-US"/>
              <a:t>Podemos decir que dentro de los objetivos estratégicos buscamos posicionar a cordillera pets en el mercado ecommerce, de los de desarrollo el automatizar procesos y ofrecer una experiencia de compra fácil y segura y por último desarrollar los componentes acordados por el cliente.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caro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Nico</a:t>
            </a:r>
          </a:p>
          <a:p>
            <a:r>
              <a:rPr lang="en-US"/>
              <a:t/>
            </a:r>
          </a:p>
          <a:p>
            <a:r>
              <a:rPr lang="en-US"/>
              <a:t>De los alcances más importantes del proyecto podemos destacar el que nosotros asumiremos el costo de la plataforma a desarrollar y que esta plataforma será arriendo del Servicio para el derecho a uso del sistema.</a:t>
            </a:r>
          </a:p>
          <a:p>
            <a:r>
              <a:rPr lang="en-US"/>
              <a:t/>
            </a:r>
          </a:p>
          <a:p>
            <a:r>
              <a:rPr lang="en-US"/>
              <a:t>De parte de los alcances del software podemos mencionar que este será una plataforma web de ecommerce que será responsiva que también contará con un dashboard administrativo para la gestión interna de la pyme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Nico</a:t>
            </a:r>
          </a:p>
          <a:p>
            <a:r>
              <a:rPr lang="en-US"/>
              <a:t/>
            </a:r>
          </a:p>
          <a:p>
            <a:r>
              <a:rPr lang="en-US"/>
              <a:t>Nosotros utilizamos un metodología ágil híbrida dado que utilizamos el desarrollo iterativo de scrum pero también tomamos elementos de una metodología tradicional cómo son el documento de plan de proyecto y matriz RACI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Janiz</a:t>
            </a:r>
          </a:p>
          <a:p>
            <a:r>
              <a:rPr lang="en-US"/>
              <a:t/>
            </a:r>
          </a:p>
          <a:p>
            <a:r>
              <a:rPr lang="en-US"/>
              <a:t>Stakeholders, donde fuimos tres en el equipo participamos en cada área de tester QA, Developer y diseñador UX/UI experiencia de usuario.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Nico</a:t>
            </a:r>
          </a:p>
          <a:p>
            <a:r>
              <a:rPr lang="en-US"/>
              <a:t/>
            </a:r>
          </a:p>
          <a:p>
            <a:r>
              <a:rPr lang="en-US"/>
              <a:t>Para construir y documentar la arquitectura de nuestro sistema tomamos algunos diagramas del modelo 4+1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Janiz</a:t>
            </a:r>
          </a:p>
          <a:p>
            <a:r>
              <a:rPr lang="en-US"/>
              <a:t/>
            </a:r>
          </a:p>
          <a:p>
            <a:r>
              <a:rPr lang="en-US"/>
              <a:t>El diagrama explica la interacción entre clientes, usuarios internos y administradores dentro de Cordillera Pets, permitiendo la compra de productos, la gestión de pedidos y stock, y el control del catálogo y reportes del sistema.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Nico</a:t>
            </a:r>
          </a:p>
          <a:p>
            <a:r>
              <a:rPr lang="en-US"/>
              <a:t/>
            </a:r>
          </a:p>
          <a:p>
            <a:r>
              <a:rPr lang="en-US"/>
              <a:t>Este es un diagrama simplificado de nuestro modelo de datos</a:t>
            </a:r>
          </a:p>
          <a:p>
            <a:r>
              <a:rPr lang="en-US"/>
              <a:t/>
            </a:r>
          </a:p>
          <a:p>
            <a:r>
              <a:rPr lang="en-US"/>
              <a:t>Lo más importante que podemos destacar con respecto al modelo de datos es que al normalizar por la tercera forma normal se creó la tabla pedido_item para que al momento de guardar los productos dentro de un pedido no hayan dependencias de claves dentro de la misma tabla.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Caro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Janiz</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Caro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Nico</a:t>
            </a:r>
          </a:p>
          <a:p>
            <a:r>
              <a:rPr lang="en-US"/>
              <a:t/>
            </a:r>
          </a:p>
          <a:p>
            <a:r>
              <a:rPr lang="en-US"/>
              <a:t>Los estándares que utilizamos fueron la ISO 9126 y ISO 250000</a:t>
            </a:r>
          </a:p>
          <a:p>
            <a:r>
              <a:rPr lang="en-US"/>
              <a:t/>
            </a:r>
          </a:p>
          <a:p>
            <a:r>
              <a:rPr lang="en-US"/>
              <a:t>Se realizaron principalmente pruebas manuales y el tipo de pruebas que se realizaron fueron de seguridad, funcionales y de integración</a:t>
            </a:r>
          </a:p>
          <a:p>
            <a:r>
              <a:rPr lang="en-US"/>
              <a:t/>
            </a:r>
          </a:p>
          <a:p>
            <a:r>
              <a:rPr lang="en-US"/>
              <a:t>Se obtuvo un 96% de éxito de pruebas que está por en cima del criterio de aceptibilidad.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Nico</a:t>
            </a:r>
          </a:p>
          <a:p>
            <a:r>
              <a:rPr lang="en-US"/>
              <a:t/>
            </a:r>
          </a:p>
          <a:p>
            <a:r>
              <a:rPr lang="en-US"/>
              <a:t>Con respecto al stack tecnológico se escogió Django cómo nuestro framework, para nuestro motor de base de datos se utilizó PostgreSQL, se utilizó Boostrap para que la página fuera responsiva, nuestra pasarela de pagos es Transbank, psycog es simplemente el ORM para Django con PostgreSQL y DigitalOcean es nuestro proveedor cloud para levantar el sistema.</a:t>
            </a:r>
          </a:p>
          <a:p>
            <a:r>
              <a:rPr lang="en-US"/>
              <a:t/>
            </a:r>
          </a:p>
          <a:p>
            <a:r>
              <a:rPr lang="en-US"/>
              <a:t>En cuánto al aspecto operacional.</a:t>
            </a:r>
          </a:p>
          <a:p>
            <a:r>
              <a:rPr lang="en-US"/>
              <a:t/>
            </a:r>
          </a:p>
          <a:p>
            <a:r>
              <a:rPr lang="en-US"/>
              <a:t>Se capacitará al personal de Cordillera Pets para utilizar la plataforma para que la transición de lo manual a lo digital sea lo más sencilla posible, para ello se hará una reunión presencial con el personal para enseñar el funcionamiento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caro</a:t>
            </a:r>
          </a:p>
          <a:p>
            <a:r>
              <a:rPr lang="en-US"/>
              <a:t>costos del desarrollo</a:t>
            </a:r>
          </a:p>
          <a:p>
            <a:r>
              <a:rPr lang="en-US"/>
              <a:t>mantención</a:t>
            </a:r>
          </a:p>
          <a:p>
            <a:r>
              <a:rPr lang="en-US"/>
              <a:t>la fuente de los costos digital ocean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Janiz</a:t>
            </a:r>
          </a:p>
          <a:p>
            <a:r>
              <a:rPr lang="en-US"/>
              <a:t/>
            </a:r>
          </a:p>
          <a:p>
            <a:r>
              <a:rPr lang="en-US"/>
              <a:t>La factibilidad legal del proyecto está garantizada porque la plataforma cumple las leyes chilenas que regulan el comercio electrónico, protegiendo al cliente, los datos personales, la seguridad del sistema y la propiedad intelectual del software.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caro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Caro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2.jpeg" Type="http://schemas.openxmlformats.org/officeDocument/2006/relationships/image"/><Relationship Id="rId4" Target="../media/image3.jpeg" Type="http://schemas.openxmlformats.org/officeDocument/2006/relationships/image"/><Relationship Id="rId5" Target="../media/image4.jpe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jpe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9.png" Type="http://schemas.openxmlformats.org/officeDocument/2006/relationships/image"/><Relationship Id="rId4" Target="../media/image10.jpe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11.jpeg" Type="http://schemas.openxmlformats.org/officeDocument/2006/relationships/image"/><Relationship Id="rId6"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13.jpeg" Type="http://schemas.openxmlformats.org/officeDocument/2006/relationships/image"/><Relationship Id="rId6" Target="../media/VAG6-WXVnHc.mp4" Type="http://schemas.openxmlformats.org/officeDocument/2006/relationships/video"/><Relationship Id="rId7" Target="../media/VAG6-WXVnHc.mp4" Type="http://schemas.microsoft.com/office/2007/relationships/media"/></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png" Type="http://schemas.openxmlformats.org/officeDocument/2006/relationships/image"/><Relationship Id="rId4" Target="../media/image6.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24.png" Type="http://schemas.openxmlformats.org/officeDocument/2006/relationships/image"/><Relationship Id="rId12" Target="../media/image25.svg" Type="http://schemas.openxmlformats.org/officeDocument/2006/relationships/image"/><Relationship Id="rId13" Target="../media/image26.png" Type="http://schemas.openxmlformats.org/officeDocument/2006/relationships/image"/><Relationship Id="rId14" Target="../media/image27.svg" Type="http://schemas.openxmlformats.org/officeDocument/2006/relationships/image"/><Relationship Id="rId15" Target="../media/image28.png" Type="http://schemas.openxmlformats.org/officeDocument/2006/relationships/image"/><Relationship Id="rId16" Target="../media/image29.svg" Type="http://schemas.openxmlformats.org/officeDocument/2006/relationships/image"/><Relationship Id="rId17" Target="../media/image30.png" Type="http://schemas.openxmlformats.org/officeDocument/2006/relationships/image"/><Relationship Id="rId18" Target="../media/image31.svg" Type="http://schemas.openxmlformats.org/officeDocument/2006/relationships/image"/><Relationship Id="rId19" Target="../media/image32.png" Type="http://schemas.openxmlformats.org/officeDocument/2006/relationships/image"/><Relationship Id="rId2" Target="../notesSlides/notesSlide8.xml" Type="http://schemas.openxmlformats.org/officeDocument/2006/relationships/notesSlide"/><Relationship Id="rId20" Target="../media/image33.svg" Type="http://schemas.openxmlformats.org/officeDocument/2006/relationships/image"/><Relationship Id="rId21" Target="../media/image6.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9.png" Type="http://schemas.openxmlformats.org/officeDocument/2006/relationships/image"/><Relationship Id="rId4"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9.png" Type="http://schemas.openxmlformats.org/officeDocument/2006/relationships/image"/><Relationship Id="rId4"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9.png" Type="http://schemas.openxmlformats.org/officeDocument/2006/relationships/image"/><Relationship Id="rId4"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9.png" Type="http://schemas.openxmlformats.org/officeDocument/2006/relationships/image"/><Relationship Id="rId4" Target="../media/image6.png" Type="http://schemas.openxmlformats.org/officeDocument/2006/relationships/image"/><Relationship Id="rId5" Target="../media/image3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9.png" Type="http://schemas.openxmlformats.org/officeDocument/2006/relationships/image"/><Relationship Id="rId4" Target="../media/image6.png" Type="http://schemas.openxmlformats.org/officeDocument/2006/relationships/image"/><Relationship Id="rId5" Target="../media/image3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9.png" Type="http://schemas.openxmlformats.org/officeDocument/2006/relationships/image"/><Relationship Id="rId4"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9.png" Type="http://schemas.openxmlformats.org/officeDocument/2006/relationships/image"/><Relationship Id="rId4" Target="../media/image6.png" Type="http://schemas.openxmlformats.org/officeDocument/2006/relationships/image"/><Relationship Id="rId5" Target="../media/image3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9.png" Type="http://schemas.openxmlformats.org/officeDocument/2006/relationships/image"/><Relationship Id="rId4" Target="../media/image6.png" Type="http://schemas.openxmlformats.org/officeDocument/2006/relationships/image"/><Relationship Id="rId5" Target="../media/image3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9.png" Type="http://schemas.openxmlformats.org/officeDocument/2006/relationships/image"/><Relationship Id="rId4" Target="../media/image6.png" Type="http://schemas.openxmlformats.org/officeDocument/2006/relationships/image"/><Relationship Id="rId5" Target="../media/image3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9.png" Type="http://schemas.openxmlformats.org/officeDocument/2006/relationships/image"/><Relationship Id="rId4" Target="../media/image6.png" Type="http://schemas.openxmlformats.org/officeDocument/2006/relationships/image"/><Relationship Id="rId5" Target="../media/image39.png" Type="http://schemas.openxmlformats.org/officeDocument/2006/relationships/image"/><Relationship Id="rId6" Target="../media/image4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9.png" Type="http://schemas.openxmlformats.org/officeDocument/2006/relationships/image"/><Relationship Id="rId4" Target="../media/image6.png" Type="http://schemas.openxmlformats.org/officeDocument/2006/relationships/image"/><Relationship Id="rId5" Target="../media/image41.png" Type="http://schemas.openxmlformats.org/officeDocument/2006/relationships/image"/><Relationship Id="rId6" Target="../media/image4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9.png" Type="http://schemas.openxmlformats.org/officeDocument/2006/relationships/image"/><Relationship Id="rId4" Target="../media/image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embeddings/oleObject3.bin" Type="http://schemas.openxmlformats.org/officeDocument/2006/relationships/oleObject"/><Relationship Id="rId11" Target="../media/image46.png" Type="http://schemas.openxmlformats.org/officeDocument/2006/relationships/image"/><Relationship Id="rId12" Target="../embeddings/oleObject4.bin" Type="http://schemas.openxmlformats.org/officeDocument/2006/relationships/oleObject"/><Relationship Id="rId2" Target="../notesSlides/notesSlide22.xml" Type="http://schemas.openxmlformats.org/officeDocument/2006/relationships/notesSlide"/><Relationship Id="rId3" Target="../media/image9.png" Type="http://schemas.openxmlformats.org/officeDocument/2006/relationships/image"/><Relationship Id="rId4" Target="../media/image6.png" Type="http://schemas.openxmlformats.org/officeDocument/2006/relationships/image"/><Relationship Id="rId5" Target="../media/image43.png" Type="http://schemas.openxmlformats.org/officeDocument/2006/relationships/image"/><Relationship Id="rId6" Target="../embeddings/oleObject1.bin" Type="http://schemas.openxmlformats.org/officeDocument/2006/relationships/oleObject"/><Relationship Id="rId7" Target="../media/image44.png" Type="http://schemas.openxmlformats.org/officeDocument/2006/relationships/image"/><Relationship Id="rId8" Target="../embeddings/oleObject2.bin" Type="http://schemas.openxmlformats.org/officeDocument/2006/relationships/oleObject"/><Relationship Id="rId9" Target="../media/image4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9.png" Type="http://schemas.openxmlformats.org/officeDocument/2006/relationships/image"/><Relationship Id="rId4" Target="../media/image6.png" Type="http://schemas.openxmlformats.org/officeDocument/2006/relationships/image"/><Relationship Id="rId5" Target="../media/image47.png" Type="http://schemas.openxmlformats.org/officeDocument/2006/relationships/image"/><Relationship Id="rId6" Target="../media/image48.png" Type="http://schemas.openxmlformats.org/officeDocument/2006/relationships/image"/><Relationship Id="rId7" Target="../media/image49.png" Type="http://schemas.openxmlformats.org/officeDocument/2006/relationships/image"/><Relationship Id="rId8" Target="../media/image50.png" Type="http://schemas.openxmlformats.org/officeDocument/2006/relationships/image"/><Relationship Id="rId9" Target="../media/image5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 Id="rId5" Target="../media/image52.jpeg" Type="http://schemas.openxmlformats.org/officeDocument/2006/relationships/image"/><Relationship Id="rId6" Target="../media/VAG6_Ge48Xg.mp4" Type="http://schemas.openxmlformats.org/officeDocument/2006/relationships/video"/><Relationship Id="rId7" Target="../media/VAG6_Ge48Xg.mp4" Type="http://schemas.microsoft.com/office/2007/relationships/media"/></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9.png" Type="http://schemas.openxmlformats.org/officeDocument/2006/relationships/image"/><Relationship Id="rId4" Target="../media/image6.png" Type="http://schemas.openxmlformats.org/officeDocument/2006/relationships/image"/><Relationship Id="rId5" Target="../media/image53.png" Type="http://schemas.openxmlformats.org/officeDocument/2006/relationships/image"/><Relationship Id="rId6" Target="../media/image54.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6.png" Type="http://schemas.openxmlformats.org/officeDocument/2006/relationships/image"/><Relationship Id="rId4" Target="../media/image55.png" Type="http://schemas.openxmlformats.org/officeDocument/2006/relationships/image"/><Relationship Id="rId5" Target="../media/image5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media/image9.png" Type="http://schemas.openxmlformats.org/officeDocument/2006/relationships/image"/><Relationship Id="rId4" Target="../media/image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360"/>
            <a:ext cx="18285758" cy="10285737"/>
            <a:chOff x="0" y="0"/>
            <a:chExt cx="24381011" cy="13714315"/>
          </a:xfrm>
        </p:grpSpPr>
        <p:sp>
          <p:nvSpPr>
            <p:cNvPr name="Freeform 3" id="3"/>
            <p:cNvSpPr/>
            <p:nvPr/>
          </p:nvSpPr>
          <p:spPr>
            <a:xfrm flipH="false" flipV="false" rot="0">
              <a:off x="0" y="0"/>
              <a:ext cx="24380952" cy="13714349"/>
            </a:xfrm>
            <a:custGeom>
              <a:avLst/>
              <a:gdLst/>
              <a:ahLst/>
              <a:cxnLst/>
              <a:rect r="r" b="b" t="t" l="l"/>
              <a:pathLst>
                <a:path h="13714349" w="24380952">
                  <a:moveTo>
                    <a:pt x="0" y="0"/>
                  </a:moveTo>
                  <a:lnTo>
                    <a:pt x="24380952" y="0"/>
                  </a:lnTo>
                  <a:lnTo>
                    <a:pt x="24380952" y="13714349"/>
                  </a:lnTo>
                  <a:lnTo>
                    <a:pt x="0" y="13714349"/>
                  </a:lnTo>
                  <a:lnTo>
                    <a:pt x="0" y="0"/>
                  </a:lnTo>
                  <a:close/>
                </a:path>
              </a:pathLst>
            </a:custGeom>
            <a:blipFill>
              <a:blip r:embed="rId3"/>
              <a:stretch>
                <a:fillRect l="0" t="0" r="0" b="0"/>
              </a:stretch>
            </a:blipFill>
          </p:spPr>
        </p:sp>
      </p:grpSp>
      <p:grpSp>
        <p:nvGrpSpPr>
          <p:cNvPr name="Group 4" id="4"/>
          <p:cNvGrpSpPr/>
          <p:nvPr/>
        </p:nvGrpSpPr>
        <p:grpSpPr>
          <a:xfrm rot="0">
            <a:off x="2576660" y="8603574"/>
            <a:ext cx="8050680" cy="9505"/>
            <a:chOff x="0" y="0"/>
            <a:chExt cx="10734240" cy="12673"/>
          </a:xfrm>
        </p:grpSpPr>
        <p:sp>
          <p:nvSpPr>
            <p:cNvPr name="Freeform 5" id="5"/>
            <p:cNvSpPr/>
            <p:nvPr/>
          </p:nvSpPr>
          <p:spPr>
            <a:xfrm flipH="false" flipV="false" rot="0">
              <a:off x="6350" y="0"/>
              <a:ext cx="10720959" cy="12700"/>
            </a:xfrm>
            <a:custGeom>
              <a:avLst/>
              <a:gdLst/>
              <a:ahLst/>
              <a:cxnLst/>
              <a:rect r="r" b="b" t="t" l="l"/>
              <a:pathLst>
                <a:path h="12700" w="10720959">
                  <a:moveTo>
                    <a:pt x="0" y="0"/>
                  </a:moveTo>
                  <a:lnTo>
                    <a:pt x="10720959" y="0"/>
                  </a:lnTo>
                  <a:lnTo>
                    <a:pt x="10720959" y="12700"/>
                  </a:lnTo>
                  <a:lnTo>
                    <a:pt x="0" y="12700"/>
                  </a:lnTo>
                  <a:close/>
                </a:path>
              </a:pathLst>
            </a:custGeom>
            <a:solidFill>
              <a:srgbClr val="FFFFFF"/>
            </a:solidFill>
          </p:spPr>
        </p:sp>
      </p:grpSp>
      <p:sp>
        <p:nvSpPr>
          <p:cNvPr name="TextBox 6" id="6"/>
          <p:cNvSpPr txBox="true"/>
          <p:nvPr/>
        </p:nvSpPr>
        <p:spPr>
          <a:xfrm rot="0">
            <a:off x="3390196" y="6933831"/>
            <a:ext cx="7957869" cy="914400"/>
          </a:xfrm>
          <a:prstGeom prst="rect">
            <a:avLst/>
          </a:prstGeom>
        </p:spPr>
        <p:txBody>
          <a:bodyPr anchor="t" rtlCol="false" tIns="0" lIns="0" bIns="0" rIns="0">
            <a:spAutoFit/>
          </a:bodyPr>
          <a:lstStyle/>
          <a:p>
            <a:pPr algn="l">
              <a:lnSpc>
                <a:spcPts val="7038"/>
              </a:lnSpc>
            </a:pPr>
            <a:r>
              <a:rPr lang="en-US" b="true" sz="5865">
                <a:solidFill>
                  <a:srgbClr val="FFFFFF"/>
                </a:solidFill>
                <a:latin typeface="Arial Bold"/>
                <a:ea typeface="Arial Bold"/>
                <a:cs typeface="Arial Bold"/>
                <a:sym typeface="Arial Bold"/>
              </a:rPr>
              <a:t>Cordillera Pets</a:t>
            </a:r>
          </a:p>
        </p:txBody>
      </p:sp>
      <p:sp>
        <p:nvSpPr>
          <p:cNvPr name="TextBox 7" id="7"/>
          <p:cNvSpPr txBox="true"/>
          <p:nvPr/>
        </p:nvSpPr>
        <p:spPr>
          <a:xfrm rot="0">
            <a:off x="3390196" y="8553450"/>
            <a:ext cx="7195508" cy="1390650"/>
          </a:xfrm>
          <a:prstGeom prst="rect">
            <a:avLst/>
          </a:prstGeom>
        </p:spPr>
        <p:txBody>
          <a:bodyPr anchor="t" rtlCol="false" tIns="0" lIns="0" bIns="0" rIns="0">
            <a:spAutoFit/>
          </a:bodyPr>
          <a:lstStyle/>
          <a:p>
            <a:pPr algn="l" marL="250493" indent="-125246" lvl="1">
              <a:lnSpc>
                <a:spcPts val="2739"/>
              </a:lnSpc>
              <a:buFont typeface="Arial"/>
              <a:buChar char="•"/>
            </a:pPr>
            <a:r>
              <a:rPr lang="en-US" sz="2282">
                <a:solidFill>
                  <a:srgbClr val="FFFFFF"/>
                </a:solidFill>
                <a:latin typeface="Arial"/>
                <a:ea typeface="Arial"/>
                <a:cs typeface="Arial"/>
                <a:sym typeface="Arial"/>
              </a:rPr>
              <a:t>Janiz Carreño</a:t>
            </a:r>
          </a:p>
          <a:p>
            <a:pPr algn="l" marL="250493" indent="-125246" lvl="1">
              <a:lnSpc>
                <a:spcPts val="2739"/>
              </a:lnSpc>
              <a:buFont typeface="Arial"/>
              <a:buChar char="•"/>
            </a:pPr>
            <a:r>
              <a:rPr lang="en-US" sz="2282">
                <a:solidFill>
                  <a:srgbClr val="FFFFFF"/>
                </a:solidFill>
                <a:latin typeface="Arial"/>
                <a:ea typeface="Arial"/>
                <a:cs typeface="Arial"/>
                <a:sym typeface="Arial"/>
              </a:rPr>
              <a:t>Nicolas Rocha</a:t>
            </a:r>
          </a:p>
          <a:p>
            <a:pPr algn="l" marL="250506" indent="-125253" lvl="1">
              <a:lnSpc>
                <a:spcPts val="2739"/>
              </a:lnSpc>
              <a:buFont typeface="Arial"/>
              <a:buChar char="•"/>
            </a:pPr>
            <a:r>
              <a:rPr lang="en-US" sz="2282">
                <a:solidFill>
                  <a:srgbClr val="FFFFFF"/>
                </a:solidFill>
                <a:latin typeface="Arial"/>
                <a:ea typeface="Arial"/>
                <a:cs typeface="Arial"/>
                <a:sym typeface="Arial"/>
              </a:rPr>
              <a:t>Carolina Sánchez</a:t>
            </a:r>
          </a:p>
          <a:p>
            <a:pPr algn="l" marL="250506" indent="-125253" lvl="1">
              <a:lnSpc>
                <a:spcPts val="2739"/>
              </a:lnSpc>
            </a:pPr>
            <a:r>
              <a:rPr lang="en-US" b="true" sz="2282">
                <a:solidFill>
                  <a:srgbClr val="FFFFFF"/>
                </a:solidFill>
                <a:latin typeface="Arial Bold"/>
                <a:ea typeface="Arial Bold"/>
                <a:cs typeface="Arial Bold"/>
                <a:sym typeface="Arial Bold"/>
              </a:rPr>
              <a:t>				Maipú, 2 diciembre 2025</a:t>
            </a:r>
          </a:p>
        </p:txBody>
      </p:sp>
      <p:sp>
        <p:nvSpPr>
          <p:cNvPr name="TextBox 8" id="8"/>
          <p:cNvSpPr txBox="true"/>
          <p:nvPr/>
        </p:nvSpPr>
        <p:spPr>
          <a:xfrm rot="0">
            <a:off x="12837869" y="3150313"/>
            <a:ext cx="4262779" cy="860942"/>
          </a:xfrm>
          <a:prstGeom prst="rect">
            <a:avLst/>
          </a:prstGeom>
        </p:spPr>
        <p:txBody>
          <a:bodyPr anchor="t" rtlCol="false" tIns="0" lIns="0" bIns="0" rIns="0">
            <a:spAutoFit/>
          </a:bodyPr>
          <a:lstStyle/>
          <a:p>
            <a:pPr algn="l">
              <a:lnSpc>
                <a:spcPts val="6548"/>
              </a:lnSpc>
            </a:pPr>
            <a:r>
              <a:rPr lang="en-US" b="true" sz="5457">
                <a:solidFill>
                  <a:srgbClr val="FFFFFF"/>
                </a:solidFill>
                <a:latin typeface="Arial Bold"/>
                <a:ea typeface="Arial Bold"/>
                <a:cs typeface="Arial Bold"/>
                <a:sym typeface="Arial Bold"/>
              </a:rPr>
              <a:t>CAPSTONE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861209" y="7752702"/>
            <a:ext cx="20763300" cy="4614067"/>
            <a:chOff x="0" y="0"/>
            <a:chExt cx="18288000" cy="4064000"/>
          </a:xfrm>
        </p:grpSpPr>
        <p:sp>
          <p:nvSpPr>
            <p:cNvPr name="Freeform 3" id="3"/>
            <p:cNvSpPr/>
            <p:nvPr/>
          </p:nvSpPr>
          <p:spPr>
            <a:xfrm flipH="false" flipV="false" rot="0">
              <a:off x="0" y="56876"/>
              <a:ext cx="18288000" cy="4007124"/>
            </a:xfrm>
            <a:custGeom>
              <a:avLst/>
              <a:gdLst/>
              <a:ahLst/>
              <a:cxnLst/>
              <a:rect r="r" b="b" t="t" l="l"/>
              <a:pathLst>
                <a:path h="4007124" w="18288000">
                  <a:moveTo>
                    <a:pt x="0" y="1123302"/>
                  </a:moveTo>
                  <a:cubicBezTo>
                    <a:pt x="3048000" y="1123302"/>
                    <a:pt x="3048000" y="2164503"/>
                    <a:pt x="6096000" y="2164503"/>
                  </a:cubicBezTo>
                  <a:cubicBezTo>
                    <a:pt x="9144000" y="2164503"/>
                    <a:pt x="9144000" y="0"/>
                    <a:pt x="12192000" y="0"/>
                  </a:cubicBezTo>
                  <a:cubicBezTo>
                    <a:pt x="15240000" y="0"/>
                    <a:pt x="15240000" y="1146780"/>
                    <a:pt x="18288000" y="1146780"/>
                  </a:cubicBezTo>
                  <a:lnTo>
                    <a:pt x="18288000" y="4007124"/>
                  </a:lnTo>
                  <a:lnTo>
                    <a:pt x="0" y="4007124"/>
                  </a:lnTo>
                  <a:close/>
                </a:path>
              </a:pathLst>
            </a:custGeom>
            <a:solidFill>
              <a:srgbClr val="0866FF">
                <a:alpha val="7843"/>
              </a:srgbClr>
            </a:solidFill>
          </p:spPr>
        </p:sp>
      </p:grpSp>
      <p:grpSp>
        <p:nvGrpSpPr>
          <p:cNvPr name="Group 4" id="4"/>
          <p:cNvGrpSpPr/>
          <p:nvPr/>
        </p:nvGrpSpPr>
        <p:grpSpPr>
          <a:xfrm rot="0">
            <a:off x="2184917" y="1444917"/>
            <a:ext cx="647992" cy="647992"/>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6" id="6"/>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pSp>
        <p:nvGrpSpPr>
          <p:cNvPr name="Group 7" id="7"/>
          <p:cNvGrpSpPr/>
          <p:nvPr/>
        </p:nvGrpSpPr>
        <p:grpSpPr>
          <a:xfrm rot="0">
            <a:off x="17259300" y="4482954"/>
            <a:ext cx="463550" cy="46355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name="TextBox 9" id="9"/>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pSp>
        <p:nvGrpSpPr>
          <p:cNvPr name="Group 10" id="10"/>
          <p:cNvGrpSpPr/>
          <p:nvPr/>
        </p:nvGrpSpPr>
        <p:grpSpPr>
          <a:xfrm rot="0">
            <a:off x="17491075" y="869660"/>
            <a:ext cx="3088153" cy="308815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57BE0"/>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2734"/>
                </a:lnSpc>
              </a:pPr>
            </a:p>
          </p:txBody>
        </p:sp>
      </p:grpSp>
      <p:grpSp>
        <p:nvGrpSpPr>
          <p:cNvPr name="Group 13" id="13"/>
          <p:cNvGrpSpPr/>
          <p:nvPr/>
        </p:nvGrpSpPr>
        <p:grpSpPr>
          <a:xfrm rot="0">
            <a:off x="3139470" y="1883847"/>
            <a:ext cx="2961539" cy="296153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0" r="-33333" b="0"/>
              </a:stretch>
            </a:blipFill>
            <a:ln w="142875" cap="sq">
              <a:solidFill>
                <a:srgbClr val="257BE0"/>
              </a:solidFill>
              <a:prstDash val="solid"/>
              <a:miter/>
            </a:ln>
          </p:spPr>
        </p:sp>
      </p:grpSp>
      <p:grpSp>
        <p:nvGrpSpPr>
          <p:cNvPr name="Group 15" id="15"/>
          <p:cNvGrpSpPr/>
          <p:nvPr/>
        </p:nvGrpSpPr>
        <p:grpSpPr>
          <a:xfrm rot="0">
            <a:off x="7705755" y="4610188"/>
            <a:ext cx="2961539" cy="296153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a:ln w="142875" cap="sq">
              <a:solidFill>
                <a:srgbClr val="257BE0"/>
              </a:solidFill>
              <a:prstDash val="solid"/>
              <a:miter/>
            </a:ln>
          </p:spPr>
        </p:sp>
      </p:grpSp>
      <p:grpSp>
        <p:nvGrpSpPr>
          <p:cNvPr name="Group 17" id="17"/>
          <p:cNvGrpSpPr/>
          <p:nvPr/>
        </p:nvGrpSpPr>
        <p:grpSpPr>
          <a:xfrm rot="0">
            <a:off x="12806676" y="1883847"/>
            <a:ext cx="2961539" cy="2961539"/>
            <a:chOff x="0" y="0"/>
            <a:chExt cx="812800" cy="812800"/>
          </a:xfrm>
        </p:grpSpPr>
        <p:sp>
          <p:nvSpPr>
            <p:cNvPr name="Freeform 18" id="18"/>
            <p:cNvSpPr/>
            <p:nvPr/>
          </p:nvSpPr>
          <p:spPr>
            <a:xfrm flipH="false" flipV="false" rot="-1056135">
              <a:off x="-109" y="-109"/>
              <a:ext cx="813018" cy="813018"/>
            </a:xfrm>
            <a:custGeom>
              <a:avLst/>
              <a:gdLst/>
              <a:ahLst/>
              <a:cxnLst/>
              <a:rect r="r" b="b" t="t" l="l"/>
              <a:pathLst>
                <a:path h="813018" w="813018">
                  <a:moveTo>
                    <a:pt x="529407" y="19137"/>
                  </a:moveTo>
                  <a:cubicBezTo>
                    <a:pt x="315468" y="-48738"/>
                    <a:pt x="87012" y="69671"/>
                    <a:pt x="19137" y="283611"/>
                  </a:cubicBezTo>
                  <a:cubicBezTo>
                    <a:pt x="-48738" y="497550"/>
                    <a:pt x="69671" y="726006"/>
                    <a:pt x="283611" y="793881"/>
                  </a:cubicBezTo>
                  <a:cubicBezTo>
                    <a:pt x="497550" y="861756"/>
                    <a:pt x="726006" y="743347"/>
                    <a:pt x="793881" y="529407"/>
                  </a:cubicBezTo>
                  <a:cubicBezTo>
                    <a:pt x="861756" y="315468"/>
                    <a:pt x="743347" y="87012"/>
                    <a:pt x="529407" y="19137"/>
                  </a:cubicBezTo>
                  <a:close/>
                </a:path>
              </a:pathLst>
            </a:custGeom>
            <a:blipFill>
              <a:blip r:embed="rId5"/>
              <a:stretch>
                <a:fillRect l="-6440" t="0" r="-324" b="-42590"/>
              </a:stretch>
            </a:blipFill>
            <a:ln w="142875" cap="sq">
              <a:solidFill>
                <a:srgbClr val="257BE0"/>
              </a:solidFill>
              <a:prstDash val="solid"/>
              <a:miter/>
            </a:ln>
          </p:spPr>
        </p:sp>
      </p:grpSp>
      <p:sp>
        <p:nvSpPr>
          <p:cNvPr name="TextBox 19" id="19"/>
          <p:cNvSpPr txBox="true"/>
          <p:nvPr/>
        </p:nvSpPr>
        <p:spPr>
          <a:xfrm rot="0">
            <a:off x="6096314" y="717260"/>
            <a:ext cx="6095373" cy="984834"/>
          </a:xfrm>
          <a:prstGeom prst="rect">
            <a:avLst/>
          </a:prstGeom>
        </p:spPr>
        <p:txBody>
          <a:bodyPr anchor="t" rtlCol="false" tIns="0" lIns="0" bIns="0" rIns="0">
            <a:spAutoFit/>
          </a:bodyPr>
          <a:lstStyle/>
          <a:p>
            <a:pPr algn="l">
              <a:lnSpc>
                <a:spcPts val="7667"/>
              </a:lnSpc>
              <a:spcBef>
                <a:spcPct val="0"/>
              </a:spcBef>
            </a:pPr>
            <a:r>
              <a:rPr lang="en-US" b="true" sz="5477">
                <a:solidFill>
                  <a:srgbClr val="28346D"/>
                </a:solidFill>
                <a:latin typeface="Poppins Bold"/>
                <a:ea typeface="Poppins Bold"/>
                <a:cs typeface="Poppins Bold"/>
                <a:sym typeface="Poppins Bold"/>
              </a:rPr>
              <a:t>NUESTRO EQUIPO</a:t>
            </a:r>
          </a:p>
        </p:txBody>
      </p:sp>
      <p:sp>
        <p:nvSpPr>
          <p:cNvPr name="TextBox 20" id="20"/>
          <p:cNvSpPr txBox="true"/>
          <p:nvPr/>
        </p:nvSpPr>
        <p:spPr>
          <a:xfrm rot="0">
            <a:off x="3139470" y="5265207"/>
            <a:ext cx="3212942" cy="387042"/>
          </a:xfrm>
          <a:prstGeom prst="rect">
            <a:avLst/>
          </a:prstGeom>
        </p:spPr>
        <p:txBody>
          <a:bodyPr anchor="t" rtlCol="false" tIns="0" lIns="0" bIns="0" rIns="0">
            <a:spAutoFit/>
          </a:bodyPr>
          <a:lstStyle/>
          <a:p>
            <a:pPr algn="ctr">
              <a:lnSpc>
                <a:spcPts val="3075"/>
              </a:lnSpc>
              <a:spcBef>
                <a:spcPct val="0"/>
              </a:spcBef>
            </a:pPr>
            <a:r>
              <a:rPr lang="en-US" b="true" sz="2196" spc="-43">
                <a:solidFill>
                  <a:srgbClr val="28346D"/>
                </a:solidFill>
                <a:latin typeface="Poppins Bold"/>
                <a:ea typeface="Poppins Bold"/>
                <a:cs typeface="Poppins Bold"/>
                <a:sym typeface="Poppins Bold"/>
              </a:rPr>
              <a:t>JANIZ CARREÑO</a:t>
            </a:r>
          </a:p>
        </p:txBody>
      </p:sp>
      <p:sp>
        <p:nvSpPr>
          <p:cNvPr name="TextBox 21" id="21"/>
          <p:cNvSpPr txBox="true"/>
          <p:nvPr/>
        </p:nvSpPr>
        <p:spPr>
          <a:xfrm rot="0">
            <a:off x="3139470" y="5852227"/>
            <a:ext cx="3212942" cy="387042"/>
          </a:xfrm>
          <a:prstGeom prst="rect">
            <a:avLst/>
          </a:prstGeom>
        </p:spPr>
        <p:txBody>
          <a:bodyPr anchor="t" rtlCol="false" tIns="0" lIns="0" bIns="0" rIns="0">
            <a:spAutoFit/>
          </a:bodyPr>
          <a:lstStyle/>
          <a:p>
            <a:pPr algn="ctr">
              <a:lnSpc>
                <a:spcPts val="3075"/>
              </a:lnSpc>
              <a:spcBef>
                <a:spcPct val="0"/>
              </a:spcBef>
            </a:pPr>
            <a:r>
              <a:rPr lang="en-US" sz="2196" spc="-43">
                <a:solidFill>
                  <a:srgbClr val="28346D"/>
                </a:solidFill>
                <a:latin typeface="Poppins"/>
                <a:ea typeface="Poppins"/>
                <a:cs typeface="Poppins"/>
                <a:sym typeface="Poppins"/>
              </a:rPr>
              <a:t>ROL: DISEÑADORA  UX/UI </a:t>
            </a:r>
          </a:p>
        </p:txBody>
      </p:sp>
      <p:sp>
        <p:nvSpPr>
          <p:cNvPr name="TextBox 22" id="22"/>
          <p:cNvSpPr txBox="true"/>
          <p:nvPr/>
        </p:nvSpPr>
        <p:spPr>
          <a:xfrm rot="0">
            <a:off x="7580053" y="7770626"/>
            <a:ext cx="3212942" cy="387042"/>
          </a:xfrm>
          <a:prstGeom prst="rect">
            <a:avLst/>
          </a:prstGeom>
        </p:spPr>
        <p:txBody>
          <a:bodyPr anchor="t" rtlCol="false" tIns="0" lIns="0" bIns="0" rIns="0">
            <a:spAutoFit/>
          </a:bodyPr>
          <a:lstStyle/>
          <a:p>
            <a:pPr algn="ctr">
              <a:lnSpc>
                <a:spcPts val="3075"/>
              </a:lnSpc>
              <a:spcBef>
                <a:spcPct val="0"/>
              </a:spcBef>
            </a:pPr>
            <a:r>
              <a:rPr lang="en-US" b="true" sz="2196" spc="-43">
                <a:solidFill>
                  <a:srgbClr val="28346D"/>
                </a:solidFill>
                <a:latin typeface="Poppins Bold"/>
                <a:ea typeface="Poppins Bold"/>
                <a:cs typeface="Poppins Bold"/>
                <a:sym typeface="Poppins Bold"/>
              </a:rPr>
              <a:t>NICOLAS ROCHA</a:t>
            </a:r>
          </a:p>
        </p:txBody>
      </p:sp>
      <p:sp>
        <p:nvSpPr>
          <p:cNvPr name="TextBox 23" id="23"/>
          <p:cNvSpPr txBox="true"/>
          <p:nvPr/>
        </p:nvSpPr>
        <p:spPr>
          <a:xfrm rot="0">
            <a:off x="7580053" y="8357647"/>
            <a:ext cx="3212942" cy="387042"/>
          </a:xfrm>
          <a:prstGeom prst="rect">
            <a:avLst/>
          </a:prstGeom>
        </p:spPr>
        <p:txBody>
          <a:bodyPr anchor="t" rtlCol="false" tIns="0" lIns="0" bIns="0" rIns="0">
            <a:spAutoFit/>
          </a:bodyPr>
          <a:lstStyle/>
          <a:p>
            <a:pPr algn="ctr">
              <a:lnSpc>
                <a:spcPts val="3075"/>
              </a:lnSpc>
              <a:spcBef>
                <a:spcPct val="0"/>
              </a:spcBef>
            </a:pPr>
            <a:r>
              <a:rPr lang="en-US" sz="2196" spc="-43">
                <a:solidFill>
                  <a:srgbClr val="28346D"/>
                </a:solidFill>
                <a:latin typeface="Poppins"/>
                <a:ea typeface="Poppins"/>
                <a:cs typeface="Poppins"/>
                <a:sym typeface="Poppins"/>
              </a:rPr>
              <a:t>ROL: DEV BACKEND </a:t>
            </a:r>
          </a:p>
        </p:txBody>
      </p:sp>
      <p:sp>
        <p:nvSpPr>
          <p:cNvPr name="TextBox 24" id="24"/>
          <p:cNvSpPr txBox="true"/>
          <p:nvPr/>
        </p:nvSpPr>
        <p:spPr>
          <a:xfrm rot="0">
            <a:off x="12680974" y="5044285"/>
            <a:ext cx="3212942" cy="387042"/>
          </a:xfrm>
          <a:prstGeom prst="rect">
            <a:avLst/>
          </a:prstGeom>
        </p:spPr>
        <p:txBody>
          <a:bodyPr anchor="t" rtlCol="false" tIns="0" lIns="0" bIns="0" rIns="0">
            <a:spAutoFit/>
          </a:bodyPr>
          <a:lstStyle/>
          <a:p>
            <a:pPr algn="ctr">
              <a:lnSpc>
                <a:spcPts val="3075"/>
              </a:lnSpc>
              <a:spcBef>
                <a:spcPct val="0"/>
              </a:spcBef>
            </a:pPr>
            <a:r>
              <a:rPr lang="en-US" b="true" sz="2196" spc="-43">
                <a:solidFill>
                  <a:srgbClr val="28346D"/>
                </a:solidFill>
                <a:latin typeface="Poppins Bold"/>
                <a:ea typeface="Poppins Bold"/>
                <a:cs typeface="Poppins Bold"/>
                <a:sym typeface="Poppins Bold"/>
              </a:rPr>
              <a:t>CAROLINA SÁNCHEZ</a:t>
            </a:r>
          </a:p>
        </p:txBody>
      </p:sp>
      <p:sp>
        <p:nvSpPr>
          <p:cNvPr name="TextBox 25" id="25"/>
          <p:cNvSpPr txBox="true"/>
          <p:nvPr/>
        </p:nvSpPr>
        <p:spPr>
          <a:xfrm rot="0">
            <a:off x="12680974" y="5631306"/>
            <a:ext cx="3212942" cy="387042"/>
          </a:xfrm>
          <a:prstGeom prst="rect">
            <a:avLst/>
          </a:prstGeom>
        </p:spPr>
        <p:txBody>
          <a:bodyPr anchor="t" rtlCol="false" tIns="0" lIns="0" bIns="0" rIns="0">
            <a:spAutoFit/>
          </a:bodyPr>
          <a:lstStyle/>
          <a:p>
            <a:pPr algn="ctr">
              <a:lnSpc>
                <a:spcPts val="3075"/>
              </a:lnSpc>
              <a:spcBef>
                <a:spcPct val="0"/>
              </a:spcBef>
            </a:pPr>
            <a:r>
              <a:rPr lang="en-US" sz="2196" spc="-43">
                <a:solidFill>
                  <a:srgbClr val="28346D"/>
                </a:solidFill>
                <a:latin typeface="Poppins"/>
                <a:ea typeface="Poppins"/>
                <a:cs typeface="Poppins"/>
                <a:sym typeface="Poppins"/>
              </a:rPr>
              <a:t>ROL: SCRUM MASTER </a:t>
            </a:r>
          </a:p>
        </p:txBody>
      </p:sp>
      <p:sp>
        <p:nvSpPr>
          <p:cNvPr name="Freeform 26" id="26"/>
          <p:cNvSpPr/>
          <p:nvPr/>
        </p:nvSpPr>
        <p:spPr>
          <a:xfrm flipH="true" flipV="false" rot="0">
            <a:off x="9186524" y="682086"/>
            <a:ext cx="10602948" cy="10012740"/>
          </a:xfrm>
          <a:custGeom>
            <a:avLst/>
            <a:gdLst/>
            <a:ahLst/>
            <a:cxnLst/>
            <a:rect r="r" b="b" t="t" l="l"/>
            <a:pathLst>
              <a:path h="10012740" w="10602948">
                <a:moveTo>
                  <a:pt x="10602948" y="0"/>
                </a:moveTo>
                <a:lnTo>
                  <a:pt x="0" y="0"/>
                </a:lnTo>
                <a:lnTo>
                  <a:pt x="0" y="10012740"/>
                </a:lnTo>
                <a:lnTo>
                  <a:pt x="10602948" y="10012740"/>
                </a:lnTo>
                <a:lnTo>
                  <a:pt x="10602948" y="0"/>
                </a:lnTo>
                <a:close/>
              </a:path>
            </a:pathLst>
          </a:custGeom>
          <a:blipFill>
            <a:blip r:embed="rId6"/>
            <a:stretch>
              <a:fillRect l="0" t="-3549" r="0" b="-3549"/>
            </a:stretch>
          </a:blipFill>
        </p:spPr>
      </p:sp>
      <p:sp>
        <p:nvSpPr>
          <p:cNvPr name="Freeform 27" id="27"/>
          <p:cNvSpPr/>
          <p:nvPr/>
        </p:nvSpPr>
        <p:spPr>
          <a:xfrm flipH="false" flipV="false" rot="0">
            <a:off x="15666340" y="86074"/>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7"/>
            <a:stretch>
              <a:fillRect l="-2024" t="-67794" r="0" b="-46912"/>
            </a:stretch>
          </a:blipFill>
        </p:spPr>
      </p:sp>
      <p:grpSp>
        <p:nvGrpSpPr>
          <p:cNvPr name="Group 28" id="28"/>
          <p:cNvGrpSpPr>
            <a:grpSpLocks noChangeAspect="true"/>
          </p:cNvGrpSpPr>
          <p:nvPr/>
        </p:nvGrpSpPr>
        <p:grpSpPr>
          <a:xfrm rot="0">
            <a:off x="3252546" y="1996929"/>
            <a:ext cx="2717811" cy="2717801"/>
            <a:chOff x="0" y="0"/>
            <a:chExt cx="6350000" cy="6349975"/>
          </a:xfrm>
        </p:grpSpPr>
        <p:sp>
          <p:nvSpPr>
            <p:cNvPr name="Freeform 29" id="29"/>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8"/>
              <a:stretch>
                <a:fillRect l="0" t="-49074" r="0" b="-29003"/>
              </a:stretch>
            </a:blipFill>
          </p:spPr>
        </p:sp>
      </p:grpSp>
      <p:sp>
        <p:nvSpPr>
          <p:cNvPr name="Freeform 30" id="30"/>
          <p:cNvSpPr/>
          <p:nvPr/>
        </p:nvSpPr>
        <p:spPr>
          <a:xfrm flipH="false" flipV="false" rot="0">
            <a:off x="-664872" y="4487522"/>
            <a:ext cx="8370627" cy="7010400"/>
          </a:xfrm>
          <a:custGeom>
            <a:avLst/>
            <a:gdLst/>
            <a:ahLst/>
            <a:cxnLst/>
            <a:rect r="r" b="b" t="t" l="l"/>
            <a:pathLst>
              <a:path h="7010400" w="8370627">
                <a:moveTo>
                  <a:pt x="0" y="0"/>
                </a:moveTo>
                <a:lnTo>
                  <a:pt x="8370627" y="0"/>
                </a:lnTo>
                <a:lnTo>
                  <a:pt x="8370627" y="7010400"/>
                </a:lnTo>
                <a:lnTo>
                  <a:pt x="0" y="7010400"/>
                </a:lnTo>
                <a:lnTo>
                  <a:pt x="0" y="0"/>
                </a:lnTo>
                <a:close/>
              </a:path>
            </a:pathLst>
          </a:custGeom>
          <a:blipFill>
            <a:blip r:embed="rId9"/>
            <a:stretch>
              <a:fillRect l="0" t="0" r="0" b="0"/>
            </a:stretch>
          </a:blipFill>
        </p:spPr>
      </p:sp>
      <p:sp>
        <p:nvSpPr>
          <p:cNvPr name="Freeform 31" id="31"/>
          <p:cNvSpPr/>
          <p:nvPr/>
        </p:nvSpPr>
        <p:spPr>
          <a:xfrm flipH="false" flipV="false" rot="0">
            <a:off x="-1111354" y="3957813"/>
            <a:ext cx="7888527" cy="7010400"/>
          </a:xfrm>
          <a:custGeom>
            <a:avLst/>
            <a:gdLst/>
            <a:ahLst/>
            <a:cxnLst/>
            <a:rect r="r" b="b" t="t" l="l"/>
            <a:pathLst>
              <a:path h="7010400" w="7888527">
                <a:moveTo>
                  <a:pt x="0" y="0"/>
                </a:moveTo>
                <a:lnTo>
                  <a:pt x="7888526" y="0"/>
                </a:lnTo>
                <a:lnTo>
                  <a:pt x="7888526" y="7010400"/>
                </a:lnTo>
                <a:lnTo>
                  <a:pt x="0" y="7010400"/>
                </a:lnTo>
                <a:lnTo>
                  <a:pt x="0" y="0"/>
                </a:lnTo>
                <a:close/>
              </a:path>
            </a:pathLst>
          </a:custGeom>
          <a:blipFill>
            <a:blip r:embed="rId9"/>
            <a:stretch>
              <a:fillRect l="0" t="-12577" r="-32803" b="-12577"/>
            </a:stretch>
          </a:blipFill>
        </p:spPr>
      </p:sp>
      <p:sp>
        <p:nvSpPr>
          <p:cNvPr name="Freeform 32" id="32"/>
          <p:cNvSpPr/>
          <p:nvPr/>
        </p:nvSpPr>
        <p:spPr>
          <a:xfrm flipH="false" flipV="true" rot="0">
            <a:off x="-4016289" y="-286223"/>
            <a:ext cx="11217616" cy="11345250"/>
          </a:xfrm>
          <a:custGeom>
            <a:avLst/>
            <a:gdLst/>
            <a:ahLst/>
            <a:cxnLst/>
            <a:rect r="r" b="b" t="t" l="l"/>
            <a:pathLst>
              <a:path h="11345250" w="11217616">
                <a:moveTo>
                  <a:pt x="0" y="11345250"/>
                </a:moveTo>
                <a:lnTo>
                  <a:pt x="11217615" y="11345250"/>
                </a:lnTo>
                <a:lnTo>
                  <a:pt x="11217615" y="0"/>
                </a:lnTo>
                <a:lnTo>
                  <a:pt x="0" y="0"/>
                </a:lnTo>
                <a:lnTo>
                  <a:pt x="0" y="11345250"/>
                </a:lnTo>
                <a:close/>
              </a:path>
            </a:pathLst>
          </a:custGeom>
          <a:blipFill>
            <a:blip r:embed="rId6"/>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67305" y="2967563"/>
            <a:ext cx="10465695" cy="7565195"/>
          </a:xfrm>
          <a:custGeom>
            <a:avLst/>
            <a:gdLst/>
            <a:ahLst/>
            <a:cxnLst/>
            <a:rect r="r" b="b" t="t" l="l"/>
            <a:pathLst>
              <a:path h="7565195" w="10465695">
                <a:moveTo>
                  <a:pt x="0" y="0"/>
                </a:moveTo>
                <a:lnTo>
                  <a:pt x="10465695" y="0"/>
                </a:lnTo>
                <a:lnTo>
                  <a:pt x="10465695" y="7565195"/>
                </a:lnTo>
                <a:lnTo>
                  <a:pt x="0" y="7565195"/>
                </a:lnTo>
                <a:lnTo>
                  <a:pt x="0" y="0"/>
                </a:lnTo>
                <a:close/>
              </a:path>
            </a:pathLst>
          </a:custGeom>
          <a:blipFill>
            <a:blip r:embed="rId3"/>
            <a:stretch>
              <a:fillRect l="0" t="-14854" r="0" b="-10515"/>
            </a:stretch>
          </a:blipFill>
        </p:spPr>
      </p:sp>
      <p:grpSp>
        <p:nvGrpSpPr>
          <p:cNvPr name="Group 3" id="3"/>
          <p:cNvGrpSpPr/>
          <p:nvPr/>
        </p:nvGrpSpPr>
        <p:grpSpPr>
          <a:xfrm rot="0">
            <a:off x="2556291" y="4629640"/>
            <a:ext cx="4360318" cy="4241041"/>
            <a:chOff x="0" y="0"/>
            <a:chExt cx="859842" cy="836321"/>
          </a:xfrm>
        </p:grpSpPr>
        <p:sp>
          <p:nvSpPr>
            <p:cNvPr name="Freeform 4" id="4"/>
            <p:cNvSpPr/>
            <p:nvPr/>
          </p:nvSpPr>
          <p:spPr>
            <a:xfrm flipH="false" flipV="false" rot="0">
              <a:off x="0" y="0"/>
              <a:ext cx="859842" cy="836321"/>
            </a:xfrm>
            <a:custGeom>
              <a:avLst/>
              <a:gdLst/>
              <a:ahLst/>
              <a:cxnLst/>
              <a:rect r="r" b="b" t="t" l="l"/>
              <a:pathLst>
                <a:path h="836321" w="859842">
                  <a:moveTo>
                    <a:pt x="429921" y="0"/>
                  </a:moveTo>
                  <a:cubicBezTo>
                    <a:pt x="192482" y="0"/>
                    <a:pt x="0" y="187217"/>
                    <a:pt x="0" y="418161"/>
                  </a:cubicBezTo>
                  <a:cubicBezTo>
                    <a:pt x="0" y="649104"/>
                    <a:pt x="192482" y="836321"/>
                    <a:pt x="429921" y="836321"/>
                  </a:cubicBezTo>
                  <a:cubicBezTo>
                    <a:pt x="667360" y="836321"/>
                    <a:pt x="859842" y="649104"/>
                    <a:pt x="859842" y="418161"/>
                  </a:cubicBezTo>
                  <a:cubicBezTo>
                    <a:pt x="859842" y="187217"/>
                    <a:pt x="667360" y="0"/>
                    <a:pt x="429921" y="0"/>
                  </a:cubicBezTo>
                  <a:close/>
                </a:path>
              </a:pathLst>
            </a:custGeom>
            <a:blipFill>
              <a:blip r:embed="rId4"/>
              <a:stretch>
                <a:fillRect l="0" t="-1406" r="0" b="-1406"/>
              </a:stretch>
            </a:blipFill>
            <a:ln cap="sq">
              <a:noFill/>
              <a:prstDash val="solid"/>
              <a:miter/>
            </a:ln>
          </p:spPr>
        </p:sp>
      </p:grpSp>
      <p:sp>
        <p:nvSpPr>
          <p:cNvPr name="Freeform 5" id="5"/>
          <p:cNvSpPr/>
          <p:nvPr/>
        </p:nvSpPr>
        <p:spPr>
          <a:xfrm flipH="false" flipV="false" rot="0">
            <a:off x="15666340" y="119533"/>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5"/>
            <a:stretch>
              <a:fillRect l="-2024" t="-67794" r="0" b="-46912"/>
            </a:stretch>
          </a:blipFill>
        </p:spPr>
      </p:sp>
      <p:sp>
        <p:nvSpPr>
          <p:cNvPr name="TextBox 6" id="6"/>
          <p:cNvSpPr txBox="true"/>
          <p:nvPr/>
        </p:nvSpPr>
        <p:spPr>
          <a:xfrm rot="0">
            <a:off x="6079591" y="651361"/>
            <a:ext cx="6438345" cy="1027379"/>
          </a:xfrm>
          <a:prstGeom prst="rect">
            <a:avLst/>
          </a:prstGeom>
        </p:spPr>
        <p:txBody>
          <a:bodyPr anchor="t" rtlCol="false" tIns="0" lIns="0" bIns="0" rIns="0">
            <a:spAutoFit/>
          </a:bodyPr>
          <a:lstStyle/>
          <a:p>
            <a:pPr algn="l">
              <a:lnSpc>
                <a:spcPts val="7947"/>
              </a:lnSpc>
              <a:spcBef>
                <a:spcPct val="0"/>
              </a:spcBef>
            </a:pPr>
            <a:r>
              <a:rPr lang="en-US" b="true" sz="5676">
                <a:solidFill>
                  <a:srgbClr val="28346D"/>
                </a:solidFill>
                <a:latin typeface="Poppins Bold"/>
                <a:ea typeface="Poppins Bold"/>
                <a:cs typeface="Poppins Bold"/>
                <a:sym typeface="Poppins Bold"/>
              </a:rPr>
              <a:t>CORDILLERA PETS</a:t>
            </a:r>
          </a:p>
        </p:txBody>
      </p:sp>
      <p:sp>
        <p:nvSpPr>
          <p:cNvPr name="TextBox 7" id="7"/>
          <p:cNvSpPr txBox="true"/>
          <p:nvPr/>
        </p:nvSpPr>
        <p:spPr>
          <a:xfrm rot="0">
            <a:off x="1116946" y="2555041"/>
            <a:ext cx="6123512" cy="2538465"/>
          </a:xfrm>
          <a:prstGeom prst="rect">
            <a:avLst/>
          </a:prstGeom>
        </p:spPr>
        <p:txBody>
          <a:bodyPr anchor="t" rtlCol="false" tIns="0" lIns="0" bIns="0" rIns="0">
            <a:spAutoFit/>
          </a:bodyPr>
          <a:lstStyle/>
          <a:p>
            <a:pPr algn="just">
              <a:lnSpc>
                <a:spcPts val="2884"/>
              </a:lnSpc>
            </a:pPr>
            <a:r>
              <a:rPr lang="en-US" sz="2060">
                <a:solidFill>
                  <a:srgbClr val="1E1112"/>
                </a:solidFill>
                <a:latin typeface="Poppins"/>
                <a:ea typeface="Poppins"/>
                <a:cs typeface="Poppins"/>
                <a:sym typeface="Poppins"/>
              </a:rPr>
              <a:t>Cordillera Pets es una pyme que se dedica a la venta al por menor de alimentos, arenas sanitarias y  accesorios para mascotas, actualmente gestiona sus ventas a través de Instagram, WhatsApp y Marketplace a través de anuncios.</a:t>
            </a:r>
          </a:p>
          <a:p>
            <a:pPr algn="just">
              <a:lnSpc>
                <a:spcPts val="2884"/>
              </a:lnSpc>
              <a:spcBef>
                <a:spcPct val="0"/>
              </a:spcBef>
            </a:pPr>
          </a:p>
        </p:txBody>
      </p:sp>
      <p:grpSp>
        <p:nvGrpSpPr>
          <p:cNvPr name="Group 8" id="8"/>
          <p:cNvGrpSpPr/>
          <p:nvPr/>
        </p:nvGrpSpPr>
        <p:grpSpPr>
          <a:xfrm rot="0">
            <a:off x="7992935" y="2666459"/>
            <a:ext cx="4188623" cy="1032197"/>
            <a:chOff x="0" y="0"/>
            <a:chExt cx="1544080" cy="380506"/>
          </a:xfrm>
        </p:grpSpPr>
        <p:sp>
          <p:nvSpPr>
            <p:cNvPr name="Freeform 9" id="9"/>
            <p:cNvSpPr/>
            <p:nvPr/>
          </p:nvSpPr>
          <p:spPr>
            <a:xfrm flipH="false" flipV="false" rot="0">
              <a:off x="0" y="0"/>
              <a:ext cx="1544080" cy="380506"/>
            </a:xfrm>
            <a:custGeom>
              <a:avLst/>
              <a:gdLst/>
              <a:ahLst/>
              <a:cxnLst/>
              <a:rect r="r" b="b" t="t" l="l"/>
              <a:pathLst>
                <a:path h="380506" w="1544080">
                  <a:moveTo>
                    <a:pt x="18483" y="0"/>
                  </a:moveTo>
                  <a:lnTo>
                    <a:pt x="1525597" y="0"/>
                  </a:lnTo>
                  <a:cubicBezTo>
                    <a:pt x="1535805" y="0"/>
                    <a:pt x="1544080" y="8275"/>
                    <a:pt x="1544080" y="18483"/>
                  </a:cubicBezTo>
                  <a:lnTo>
                    <a:pt x="1544080" y="362023"/>
                  </a:lnTo>
                  <a:cubicBezTo>
                    <a:pt x="1544080" y="372231"/>
                    <a:pt x="1535805" y="380506"/>
                    <a:pt x="1525597" y="380506"/>
                  </a:cubicBezTo>
                  <a:lnTo>
                    <a:pt x="18483" y="380506"/>
                  </a:lnTo>
                  <a:cubicBezTo>
                    <a:pt x="8275" y="380506"/>
                    <a:pt x="0" y="372231"/>
                    <a:pt x="0" y="362023"/>
                  </a:cubicBezTo>
                  <a:lnTo>
                    <a:pt x="0" y="18483"/>
                  </a:lnTo>
                  <a:cubicBezTo>
                    <a:pt x="0" y="8275"/>
                    <a:pt x="8275" y="0"/>
                    <a:pt x="18483" y="0"/>
                  </a:cubicBezTo>
                  <a:close/>
                </a:path>
              </a:pathLst>
            </a:custGeom>
            <a:solidFill>
              <a:srgbClr val="00285D"/>
            </a:solidFill>
          </p:spPr>
        </p:sp>
        <p:sp>
          <p:nvSpPr>
            <p:cNvPr name="TextBox 10" id="10"/>
            <p:cNvSpPr txBox="true"/>
            <p:nvPr/>
          </p:nvSpPr>
          <p:spPr>
            <a:xfrm>
              <a:off x="0" y="-76200"/>
              <a:ext cx="1544080" cy="456706"/>
            </a:xfrm>
            <a:prstGeom prst="rect">
              <a:avLst/>
            </a:prstGeom>
          </p:spPr>
          <p:txBody>
            <a:bodyPr anchor="ctr" rtlCol="false" tIns="50800" lIns="50800" bIns="50800" rIns="50800"/>
            <a:lstStyle/>
            <a:p>
              <a:pPr algn="ctr">
                <a:lnSpc>
                  <a:spcPts val="4199"/>
                </a:lnSpc>
              </a:pPr>
              <a:r>
                <a:rPr lang="en-US" sz="2999" b="true">
                  <a:solidFill>
                    <a:srgbClr val="FFFFFF"/>
                  </a:solidFill>
                  <a:latin typeface="Poppins Bold"/>
                  <a:ea typeface="Poppins Bold"/>
                  <a:cs typeface="Poppins Bold"/>
                  <a:sym typeface="Poppins Bold"/>
                </a:rPr>
                <a:t>Tipos de clientes</a:t>
              </a:r>
            </a:p>
            <a:p>
              <a:pPr algn="ctr">
                <a:lnSpc>
                  <a:spcPts val="2100"/>
                </a:lnSpc>
              </a:pPr>
            </a:p>
          </p:txBody>
        </p:sp>
      </p:grpSp>
      <p:grpSp>
        <p:nvGrpSpPr>
          <p:cNvPr name="Group 11" id="11"/>
          <p:cNvGrpSpPr/>
          <p:nvPr/>
        </p:nvGrpSpPr>
        <p:grpSpPr>
          <a:xfrm rot="0">
            <a:off x="12462353" y="2666459"/>
            <a:ext cx="4977923" cy="1032197"/>
            <a:chOff x="0" y="0"/>
            <a:chExt cx="1835045" cy="380506"/>
          </a:xfrm>
        </p:grpSpPr>
        <p:sp>
          <p:nvSpPr>
            <p:cNvPr name="Freeform 12" id="12"/>
            <p:cNvSpPr/>
            <p:nvPr/>
          </p:nvSpPr>
          <p:spPr>
            <a:xfrm flipH="false" flipV="false" rot="0">
              <a:off x="0" y="0"/>
              <a:ext cx="1835045" cy="380506"/>
            </a:xfrm>
            <a:custGeom>
              <a:avLst/>
              <a:gdLst/>
              <a:ahLst/>
              <a:cxnLst/>
              <a:rect r="r" b="b" t="t" l="l"/>
              <a:pathLst>
                <a:path h="380506" w="1835045">
                  <a:moveTo>
                    <a:pt x="15553" y="0"/>
                  </a:moveTo>
                  <a:lnTo>
                    <a:pt x="1819493" y="0"/>
                  </a:lnTo>
                  <a:cubicBezTo>
                    <a:pt x="1823617" y="0"/>
                    <a:pt x="1827573" y="1639"/>
                    <a:pt x="1830490" y="4555"/>
                  </a:cubicBezTo>
                  <a:cubicBezTo>
                    <a:pt x="1833407" y="7472"/>
                    <a:pt x="1835045" y="11428"/>
                    <a:pt x="1835045" y="15553"/>
                  </a:cubicBezTo>
                  <a:lnTo>
                    <a:pt x="1835045" y="364953"/>
                  </a:lnTo>
                  <a:cubicBezTo>
                    <a:pt x="1835045" y="369078"/>
                    <a:pt x="1833407" y="373034"/>
                    <a:pt x="1830490" y="375951"/>
                  </a:cubicBezTo>
                  <a:cubicBezTo>
                    <a:pt x="1827573" y="378867"/>
                    <a:pt x="1823617" y="380506"/>
                    <a:pt x="1819493" y="380506"/>
                  </a:cubicBezTo>
                  <a:lnTo>
                    <a:pt x="15553" y="380506"/>
                  </a:lnTo>
                  <a:cubicBezTo>
                    <a:pt x="11428" y="380506"/>
                    <a:pt x="7472" y="378867"/>
                    <a:pt x="4555" y="375951"/>
                  </a:cubicBezTo>
                  <a:cubicBezTo>
                    <a:pt x="1639" y="373034"/>
                    <a:pt x="0" y="369078"/>
                    <a:pt x="0" y="364953"/>
                  </a:cubicBezTo>
                  <a:lnTo>
                    <a:pt x="0" y="15553"/>
                  </a:lnTo>
                  <a:cubicBezTo>
                    <a:pt x="0" y="11428"/>
                    <a:pt x="1639" y="7472"/>
                    <a:pt x="4555" y="4555"/>
                  </a:cubicBezTo>
                  <a:cubicBezTo>
                    <a:pt x="7472" y="1639"/>
                    <a:pt x="11428" y="0"/>
                    <a:pt x="15553" y="0"/>
                  </a:cubicBezTo>
                  <a:close/>
                </a:path>
              </a:pathLst>
            </a:custGeom>
            <a:solidFill>
              <a:srgbClr val="00285D"/>
            </a:solidFill>
          </p:spPr>
        </p:sp>
        <p:sp>
          <p:nvSpPr>
            <p:cNvPr name="TextBox 13" id="13"/>
            <p:cNvSpPr txBox="true"/>
            <p:nvPr/>
          </p:nvSpPr>
          <p:spPr>
            <a:xfrm>
              <a:off x="0" y="-76200"/>
              <a:ext cx="1835045" cy="456706"/>
            </a:xfrm>
            <a:prstGeom prst="rect">
              <a:avLst/>
            </a:prstGeom>
          </p:spPr>
          <p:txBody>
            <a:bodyPr anchor="ctr" rtlCol="false" tIns="50800" lIns="50800" bIns="50800" rIns="50800"/>
            <a:lstStyle/>
            <a:p>
              <a:pPr algn="ctr">
                <a:lnSpc>
                  <a:spcPts val="4199"/>
                </a:lnSpc>
              </a:pPr>
              <a:r>
                <a:rPr lang="en-US" sz="2999" b="true">
                  <a:solidFill>
                    <a:srgbClr val="FFFFFF"/>
                  </a:solidFill>
                  <a:latin typeface="Poppins Bold"/>
                  <a:ea typeface="Poppins Bold"/>
                  <a:cs typeface="Poppins Bold"/>
                  <a:sym typeface="Poppins Bold"/>
                </a:rPr>
                <a:t>Datos de mercado</a:t>
              </a:r>
            </a:p>
            <a:p>
              <a:pPr algn="ctr">
                <a:lnSpc>
                  <a:spcPts val="2100"/>
                </a:lnSpc>
              </a:pPr>
            </a:p>
          </p:txBody>
        </p:sp>
      </p:grpSp>
      <p:grpSp>
        <p:nvGrpSpPr>
          <p:cNvPr name="Group 14" id="14"/>
          <p:cNvGrpSpPr/>
          <p:nvPr/>
        </p:nvGrpSpPr>
        <p:grpSpPr>
          <a:xfrm rot="0">
            <a:off x="7992935" y="4004305"/>
            <a:ext cx="4188623" cy="3616237"/>
            <a:chOff x="0" y="0"/>
            <a:chExt cx="1544080" cy="1333078"/>
          </a:xfrm>
        </p:grpSpPr>
        <p:sp>
          <p:nvSpPr>
            <p:cNvPr name="Freeform 15" id="15"/>
            <p:cNvSpPr/>
            <p:nvPr/>
          </p:nvSpPr>
          <p:spPr>
            <a:xfrm flipH="false" flipV="false" rot="0">
              <a:off x="0" y="0"/>
              <a:ext cx="1544080" cy="1333078"/>
            </a:xfrm>
            <a:custGeom>
              <a:avLst/>
              <a:gdLst/>
              <a:ahLst/>
              <a:cxnLst/>
              <a:rect r="r" b="b" t="t" l="l"/>
              <a:pathLst>
                <a:path h="1333078" w="1544080">
                  <a:moveTo>
                    <a:pt x="7393" y="0"/>
                  </a:moveTo>
                  <a:lnTo>
                    <a:pt x="1536687" y="0"/>
                  </a:lnTo>
                  <a:cubicBezTo>
                    <a:pt x="1540770" y="0"/>
                    <a:pt x="1544080" y="3310"/>
                    <a:pt x="1544080" y="7393"/>
                  </a:cubicBezTo>
                  <a:lnTo>
                    <a:pt x="1544080" y="1325684"/>
                  </a:lnTo>
                  <a:cubicBezTo>
                    <a:pt x="1544080" y="1329768"/>
                    <a:pt x="1540770" y="1333078"/>
                    <a:pt x="1536687" y="1333078"/>
                  </a:cubicBezTo>
                  <a:lnTo>
                    <a:pt x="7393" y="1333078"/>
                  </a:lnTo>
                  <a:cubicBezTo>
                    <a:pt x="3310" y="1333078"/>
                    <a:pt x="0" y="1329768"/>
                    <a:pt x="0" y="1325684"/>
                  </a:cubicBezTo>
                  <a:lnTo>
                    <a:pt x="0" y="7393"/>
                  </a:lnTo>
                  <a:cubicBezTo>
                    <a:pt x="0" y="3310"/>
                    <a:pt x="3310" y="0"/>
                    <a:pt x="7393" y="0"/>
                  </a:cubicBezTo>
                  <a:close/>
                </a:path>
              </a:pathLst>
            </a:custGeom>
            <a:solidFill>
              <a:srgbClr val="13538A"/>
            </a:solidFill>
            <a:ln w="19050" cap="sq">
              <a:solidFill>
                <a:srgbClr val="F9FCFC"/>
              </a:solidFill>
              <a:prstDash val="solid"/>
              <a:miter/>
            </a:ln>
          </p:spPr>
        </p:sp>
        <p:sp>
          <p:nvSpPr>
            <p:cNvPr name="TextBox 16" id="16"/>
            <p:cNvSpPr txBox="true"/>
            <p:nvPr/>
          </p:nvSpPr>
          <p:spPr>
            <a:xfrm>
              <a:off x="0" y="-47625"/>
              <a:ext cx="1544080" cy="1380703"/>
            </a:xfrm>
            <a:prstGeom prst="rect">
              <a:avLst/>
            </a:prstGeom>
          </p:spPr>
          <p:txBody>
            <a:bodyPr anchor="ctr" rtlCol="false" tIns="50800" lIns="50800" bIns="50800" rIns="50800"/>
            <a:lstStyle/>
            <a:p>
              <a:pPr algn="ctr" marL="0" indent="0" lvl="0">
                <a:lnSpc>
                  <a:spcPts val="1708"/>
                </a:lnSpc>
                <a:spcBef>
                  <a:spcPct val="0"/>
                </a:spcBef>
              </a:pPr>
            </a:p>
            <a:p>
              <a:pPr algn="ctr" marL="0" indent="0" lvl="0">
                <a:lnSpc>
                  <a:spcPts val="1708"/>
                </a:lnSpc>
                <a:spcBef>
                  <a:spcPct val="0"/>
                </a:spcBef>
              </a:pPr>
            </a:p>
          </p:txBody>
        </p:sp>
      </p:grpSp>
      <p:grpSp>
        <p:nvGrpSpPr>
          <p:cNvPr name="Group 17" id="17"/>
          <p:cNvGrpSpPr/>
          <p:nvPr/>
        </p:nvGrpSpPr>
        <p:grpSpPr>
          <a:xfrm rot="0">
            <a:off x="12517936" y="4004305"/>
            <a:ext cx="4922340" cy="3616237"/>
            <a:chOff x="0" y="0"/>
            <a:chExt cx="1814555" cy="1333078"/>
          </a:xfrm>
        </p:grpSpPr>
        <p:sp>
          <p:nvSpPr>
            <p:cNvPr name="Freeform 18" id="18"/>
            <p:cNvSpPr/>
            <p:nvPr/>
          </p:nvSpPr>
          <p:spPr>
            <a:xfrm flipH="false" flipV="false" rot="0">
              <a:off x="0" y="0"/>
              <a:ext cx="1814555" cy="1333078"/>
            </a:xfrm>
            <a:custGeom>
              <a:avLst/>
              <a:gdLst/>
              <a:ahLst/>
              <a:cxnLst/>
              <a:rect r="r" b="b" t="t" l="l"/>
              <a:pathLst>
                <a:path h="1333078" w="1814555">
                  <a:moveTo>
                    <a:pt x="6291" y="0"/>
                  </a:moveTo>
                  <a:lnTo>
                    <a:pt x="1808264" y="0"/>
                  </a:lnTo>
                  <a:cubicBezTo>
                    <a:pt x="1809933" y="0"/>
                    <a:pt x="1811533" y="663"/>
                    <a:pt x="1812713" y="1843"/>
                  </a:cubicBezTo>
                  <a:cubicBezTo>
                    <a:pt x="1813893" y="3023"/>
                    <a:pt x="1814555" y="4623"/>
                    <a:pt x="1814555" y="6291"/>
                  </a:cubicBezTo>
                  <a:lnTo>
                    <a:pt x="1814555" y="1326786"/>
                  </a:lnTo>
                  <a:cubicBezTo>
                    <a:pt x="1814555" y="1328455"/>
                    <a:pt x="1813893" y="1330055"/>
                    <a:pt x="1812713" y="1331235"/>
                  </a:cubicBezTo>
                  <a:cubicBezTo>
                    <a:pt x="1811533" y="1332415"/>
                    <a:pt x="1809933" y="1333078"/>
                    <a:pt x="1808264" y="1333078"/>
                  </a:cubicBezTo>
                  <a:lnTo>
                    <a:pt x="6291" y="1333078"/>
                  </a:lnTo>
                  <a:cubicBezTo>
                    <a:pt x="4623" y="1333078"/>
                    <a:pt x="3023" y="1332415"/>
                    <a:pt x="1843" y="1331235"/>
                  </a:cubicBezTo>
                  <a:cubicBezTo>
                    <a:pt x="663" y="1330055"/>
                    <a:pt x="0" y="1328455"/>
                    <a:pt x="0" y="1326786"/>
                  </a:cubicBezTo>
                  <a:lnTo>
                    <a:pt x="0" y="6291"/>
                  </a:lnTo>
                  <a:cubicBezTo>
                    <a:pt x="0" y="4623"/>
                    <a:pt x="663" y="3023"/>
                    <a:pt x="1843" y="1843"/>
                  </a:cubicBezTo>
                  <a:cubicBezTo>
                    <a:pt x="3023" y="663"/>
                    <a:pt x="4623" y="0"/>
                    <a:pt x="6291" y="0"/>
                  </a:cubicBezTo>
                  <a:close/>
                </a:path>
              </a:pathLst>
            </a:custGeom>
            <a:solidFill>
              <a:srgbClr val="13538A"/>
            </a:solidFill>
            <a:ln w="19050" cap="sq">
              <a:solidFill>
                <a:srgbClr val="F9FCFC"/>
              </a:solidFill>
              <a:prstDash val="solid"/>
              <a:miter/>
            </a:ln>
          </p:spPr>
        </p:sp>
        <p:sp>
          <p:nvSpPr>
            <p:cNvPr name="TextBox 19" id="19"/>
            <p:cNvSpPr txBox="true"/>
            <p:nvPr/>
          </p:nvSpPr>
          <p:spPr>
            <a:xfrm>
              <a:off x="0" y="-47625"/>
              <a:ext cx="1814555" cy="1380703"/>
            </a:xfrm>
            <a:prstGeom prst="rect">
              <a:avLst/>
            </a:prstGeom>
          </p:spPr>
          <p:txBody>
            <a:bodyPr anchor="ctr" rtlCol="false" tIns="50800" lIns="50800" bIns="50800" rIns="50800"/>
            <a:lstStyle/>
            <a:p>
              <a:pPr algn="ctr" marL="0" indent="0" lvl="0">
                <a:lnSpc>
                  <a:spcPts val="1708"/>
                </a:lnSpc>
                <a:spcBef>
                  <a:spcPct val="0"/>
                </a:spcBef>
              </a:pPr>
            </a:p>
            <a:p>
              <a:pPr algn="ctr" marL="0" indent="0" lvl="0">
                <a:lnSpc>
                  <a:spcPts val="1708"/>
                </a:lnSpc>
                <a:spcBef>
                  <a:spcPct val="0"/>
                </a:spcBef>
              </a:pPr>
            </a:p>
          </p:txBody>
        </p:sp>
      </p:grpSp>
      <p:sp>
        <p:nvSpPr>
          <p:cNvPr name="TextBox 20" id="20"/>
          <p:cNvSpPr txBox="true"/>
          <p:nvPr/>
        </p:nvSpPr>
        <p:spPr>
          <a:xfrm rot="0">
            <a:off x="7992935" y="4213220"/>
            <a:ext cx="3861647" cy="3079985"/>
          </a:xfrm>
          <a:prstGeom prst="rect">
            <a:avLst/>
          </a:prstGeom>
        </p:spPr>
        <p:txBody>
          <a:bodyPr anchor="t" rtlCol="false" tIns="0" lIns="0" bIns="0" rIns="0">
            <a:spAutoFit/>
          </a:bodyPr>
          <a:lstStyle/>
          <a:p>
            <a:pPr algn="just" marL="546026" indent="-273013" lvl="1">
              <a:lnSpc>
                <a:spcPts val="3540"/>
              </a:lnSpc>
              <a:buFont typeface="Arial"/>
              <a:buChar char="•"/>
            </a:pPr>
            <a:r>
              <a:rPr lang="en-US" sz="2529">
                <a:solidFill>
                  <a:srgbClr val="FFFFFF"/>
                </a:solidFill>
                <a:latin typeface="Open Sans"/>
                <a:ea typeface="Open Sans"/>
                <a:cs typeface="Open Sans"/>
                <a:sym typeface="Open Sans"/>
              </a:rPr>
              <a:t>Dueños de mascotas.</a:t>
            </a:r>
          </a:p>
          <a:p>
            <a:pPr algn="just" marL="546026" indent="-273013" lvl="1">
              <a:lnSpc>
                <a:spcPts val="3540"/>
              </a:lnSpc>
              <a:buFont typeface="Arial"/>
              <a:buChar char="•"/>
            </a:pPr>
            <a:r>
              <a:rPr lang="en-US" sz="2529">
                <a:solidFill>
                  <a:srgbClr val="FFFFFF"/>
                </a:solidFill>
                <a:latin typeface="Open Sans"/>
                <a:ea typeface="Open Sans"/>
                <a:cs typeface="Open Sans"/>
                <a:sym typeface="Open Sans"/>
              </a:rPr>
              <a:t>Productos de calidad y accesibilidad.</a:t>
            </a:r>
          </a:p>
          <a:p>
            <a:pPr algn="just" marL="546026" indent="-273013" lvl="1">
              <a:lnSpc>
                <a:spcPts val="3540"/>
              </a:lnSpc>
              <a:buFont typeface="Arial"/>
              <a:buChar char="•"/>
            </a:pPr>
            <a:r>
              <a:rPr lang="en-US" sz="2529">
                <a:solidFill>
                  <a:srgbClr val="FFFFFF"/>
                </a:solidFill>
                <a:latin typeface="Open Sans"/>
                <a:ea typeface="Open Sans"/>
                <a:cs typeface="Open Sans"/>
                <a:sym typeface="Open Sans"/>
              </a:rPr>
              <a:t>Compradores digitales.</a:t>
            </a:r>
          </a:p>
          <a:p>
            <a:pPr algn="just" marL="529480" indent="-264740" lvl="1">
              <a:lnSpc>
                <a:spcPts val="3433"/>
              </a:lnSpc>
              <a:buFont typeface="Arial"/>
              <a:buChar char="•"/>
            </a:pPr>
            <a:r>
              <a:rPr lang="en-US" sz="2452">
                <a:solidFill>
                  <a:srgbClr val="FFFFFF"/>
                </a:solidFill>
                <a:latin typeface="Open Sans"/>
                <a:ea typeface="Open Sans"/>
                <a:cs typeface="Open Sans"/>
                <a:sym typeface="Open Sans"/>
              </a:rPr>
              <a:t>Consumidores locales, ventas en santiago.</a:t>
            </a:r>
          </a:p>
        </p:txBody>
      </p:sp>
      <p:sp>
        <p:nvSpPr>
          <p:cNvPr name="TextBox 21" id="21"/>
          <p:cNvSpPr txBox="true"/>
          <p:nvPr/>
        </p:nvSpPr>
        <p:spPr>
          <a:xfrm rot="0">
            <a:off x="12749144" y="4261547"/>
            <a:ext cx="4443522" cy="3033308"/>
          </a:xfrm>
          <a:prstGeom prst="rect">
            <a:avLst/>
          </a:prstGeom>
        </p:spPr>
        <p:txBody>
          <a:bodyPr anchor="t" rtlCol="false" tIns="0" lIns="0" bIns="0" rIns="0">
            <a:spAutoFit/>
          </a:bodyPr>
          <a:lstStyle/>
          <a:p>
            <a:pPr algn="just" marL="538380" indent="-269190" lvl="1">
              <a:lnSpc>
                <a:spcPts val="3491"/>
              </a:lnSpc>
              <a:buFont typeface="Arial"/>
              <a:buChar char="•"/>
            </a:pPr>
            <a:r>
              <a:rPr lang="en-US" sz="2493">
                <a:solidFill>
                  <a:srgbClr val="FFFFFF"/>
                </a:solidFill>
                <a:latin typeface="Open Sans"/>
                <a:ea typeface="Open Sans"/>
                <a:cs typeface="Open Sans"/>
                <a:sym typeface="Open Sans"/>
              </a:rPr>
              <a:t>El 72% de los hogares chilenos tienen mascotas.</a:t>
            </a:r>
          </a:p>
          <a:p>
            <a:pPr algn="just" marL="538380" indent="-269190" lvl="1">
              <a:lnSpc>
                <a:spcPts val="3491"/>
              </a:lnSpc>
              <a:buFont typeface="Arial"/>
              <a:buChar char="•"/>
            </a:pPr>
            <a:r>
              <a:rPr lang="en-US" sz="2493">
                <a:solidFill>
                  <a:srgbClr val="FFFFFF"/>
                </a:solidFill>
                <a:latin typeface="Open Sans"/>
                <a:ea typeface="Open Sans"/>
                <a:cs typeface="Open Sans"/>
                <a:sym typeface="Open Sans"/>
              </a:rPr>
              <a:t>El mercado aumento un 10% en producto y servicio de mascotas.</a:t>
            </a:r>
          </a:p>
          <a:p>
            <a:pPr algn="just" marL="521013" indent="-260507" lvl="1">
              <a:lnSpc>
                <a:spcPts val="3378"/>
              </a:lnSpc>
              <a:buFont typeface="Arial"/>
              <a:buChar char="•"/>
            </a:pPr>
            <a:r>
              <a:rPr lang="en-US" sz="2413">
                <a:solidFill>
                  <a:srgbClr val="FFFFFF"/>
                </a:solidFill>
                <a:latin typeface="Open Sans"/>
                <a:ea typeface="Open Sans"/>
                <a:cs typeface="Open Sans"/>
                <a:sym typeface="Open Sans"/>
              </a:rPr>
              <a:t>La ventas aumentaron un 30% desde el 2020.</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9144000" y="2072886"/>
            <a:ext cx="11149203" cy="10528588"/>
          </a:xfrm>
          <a:custGeom>
            <a:avLst/>
            <a:gdLst/>
            <a:ahLst/>
            <a:cxnLst/>
            <a:rect r="r" b="b" t="t" l="l"/>
            <a:pathLst>
              <a:path h="10528588" w="11149203">
                <a:moveTo>
                  <a:pt x="11149203" y="0"/>
                </a:moveTo>
                <a:lnTo>
                  <a:pt x="0" y="0"/>
                </a:lnTo>
                <a:lnTo>
                  <a:pt x="0" y="10528588"/>
                </a:lnTo>
                <a:lnTo>
                  <a:pt x="11149203" y="10528588"/>
                </a:lnTo>
                <a:lnTo>
                  <a:pt x="11149203" y="0"/>
                </a:lnTo>
                <a:close/>
              </a:path>
            </a:pathLst>
          </a:custGeom>
          <a:blipFill>
            <a:blip r:embed="rId3"/>
            <a:stretch>
              <a:fillRect l="0" t="-3549" r="0" b="-3549"/>
            </a:stretch>
          </a:blipFill>
        </p:spPr>
      </p:sp>
      <p:sp>
        <p:nvSpPr>
          <p:cNvPr name="Freeform 3" id="3"/>
          <p:cNvSpPr/>
          <p:nvPr/>
        </p:nvSpPr>
        <p:spPr>
          <a:xfrm flipH="false" flipV="true" rot="0">
            <a:off x="-4016289" y="-286223"/>
            <a:ext cx="11217616" cy="11345250"/>
          </a:xfrm>
          <a:custGeom>
            <a:avLst/>
            <a:gdLst/>
            <a:ahLst/>
            <a:cxnLst/>
            <a:rect r="r" b="b" t="t" l="l"/>
            <a:pathLst>
              <a:path h="11345250" w="11217616">
                <a:moveTo>
                  <a:pt x="0" y="11345250"/>
                </a:moveTo>
                <a:lnTo>
                  <a:pt x="11217615" y="11345250"/>
                </a:lnTo>
                <a:lnTo>
                  <a:pt x="11217615" y="0"/>
                </a:lnTo>
                <a:lnTo>
                  <a:pt x="0" y="0"/>
                </a:lnTo>
                <a:lnTo>
                  <a:pt x="0" y="11345250"/>
                </a:lnTo>
                <a:close/>
              </a:path>
            </a:pathLst>
          </a:custGeom>
          <a:blipFill>
            <a:blip r:embed="rId3"/>
            <a:stretch>
              <a:fillRect l="0" t="0" r="0" b="0"/>
            </a:stretch>
          </a:blipFill>
        </p:spPr>
      </p:sp>
      <p:sp>
        <p:nvSpPr>
          <p:cNvPr name="Freeform 4" id="4"/>
          <p:cNvSpPr/>
          <p:nvPr/>
        </p:nvSpPr>
        <p:spPr>
          <a:xfrm flipH="false" flipV="false" rot="0">
            <a:off x="15666340" y="119533"/>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sp>
        <p:nvSpPr>
          <p:cNvPr name="Freeform 5" id="5"/>
          <p:cNvSpPr/>
          <p:nvPr/>
        </p:nvSpPr>
        <p:spPr>
          <a:xfrm flipH="false" flipV="false" rot="0">
            <a:off x="9433968" y="3216505"/>
            <a:ext cx="8055727" cy="6041795"/>
          </a:xfrm>
          <a:custGeom>
            <a:avLst/>
            <a:gdLst/>
            <a:ahLst/>
            <a:cxnLst/>
            <a:rect r="r" b="b" t="t" l="l"/>
            <a:pathLst>
              <a:path h="6041795" w="8055727">
                <a:moveTo>
                  <a:pt x="0" y="0"/>
                </a:moveTo>
                <a:lnTo>
                  <a:pt x="8055727" y="0"/>
                </a:lnTo>
                <a:lnTo>
                  <a:pt x="8055727" y="6041795"/>
                </a:lnTo>
                <a:lnTo>
                  <a:pt x="0" y="6041795"/>
                </a:lnTo>
                <a:lnTo>
                  <a:pt x="0" y="0"/>
                </a:lnTo>
                <a:close/>
              </a:path>
            </a:pathLst>
          </a:custGeom>
          <a:blipFill>
            <a:blip r:embed="rId5"/>
            <a:stretch>
              <a:fillRect l="0" t="0" r="0" b="0"/>
            </a:stretch>
          </a:blipFill>
        </p:spPr>
      </p:sp>
      <p:sp>
        <p:nvSpPr>
          <p:cNvPr name="Freeform 6" id="6"/>
          <p:cNvSpPr/>
          <p:nvPr/>
        </p:nvSpPr>
        <p:spPr>
          <a:xfrm flipH="false" flipV="false" rot="0">
            <a:off x="1391816" y="3216505"/>
            <a:ext cx="7449084" cy="6040319"/>
          </a:xfrm>
          <a:custGeom>
            <a:avLst/>
            <a:gdLst/>
            <a:ahLst/>
            <a:cxnLst/>
            <a:rect r="r" b="b" t="t" l="l"/>
            <a:pathLst>
              <a:path h="6040319" w="7449084">
                <a:moveTo>
                  <a:pt x="0" y="0"/>
                </a:moveTo>
                <a:lnTo>
                  <a:pt x="7449084" y="0"/>
                </a:lnTo>
                <a:lnTo>
                  <a:pt x="7449084" y="6040319"/>
                </a:lnTo>
                <a:lnTo>
                  <a:pt x="0" y="6040319"/>
                </a:lnTo>
                <a:lnTo>
                  <a:pt x="0" y="0"/>
                </a:lnTo>
                <a:close/>
              </a:path>
            </a:pathLst>
          </a:custGeom>
          <a:blipFill>
            <a:blip r:embed="rId6"/>
            <a:stretch>
              <a:fillRect l="0" t="0" r="0" b="0"/>
            </a:stretch>
          </a:blipFill>
        </p:spPr>
      </p:sp>
      <p:sp>
        <p:nvSpPr>
          <p:cNvPr name="TextBox 7" id="7"/>
          <p:cNvSpPr txBox="true"/>
          <p:nvPr/>
        </p:nvSpPr>
        <p:spPr>
          <a:xfrm rot="0">
            <a:off x="4229980" y="1692044"/>
            <a:ext cx="11226970" cy="977849"/>
          </a:xfrm>
          <a:prstGeom prst="rect">
            <a:avLst/>
          </a:prstGeom>
        </p:spPr>
        <p:txBody>
          <a:bodyPr anchor="t" rtlCol="false" tIns="0" lIns="0" bIns="0" rIns="0">
            <a:spAutoFit/>
          </a:bodyPr>
          <a:lstStyle/>
          <a:p>
            <a:pPr algn="l">
              <a:lnSpc>
                <a:spcPts val="7527"/>
              </a:lnSpc>
              <a:spcBef>
                <a:spcPct val="0"/>
              </a:spcBef>
            </a:pPr>
            <a:r>
              <a:rPr lang="en-US" b="true" sz="5377">
                <a:solidFill>
                  <a:srgbClr val="28346D"/>
                </a:solidFill>
                <a:latin typeface="Poppins Bold"/>
                <a:ea typeface="Poppins Bold"/>
                <a:cs typeface="Poppins Bold"/>
                <a:sym typeface="Poppins Bold"/>
              </a:rPr>
              <a:t>UBICACIÓN DE </a:t>
            </a:r>
            <a:r>
              <a:rPr lang="en-US" b="true" sz="5377">
                <a:solidFill>
                  <a:srgbClr val="28346D"/>
                </a:solidFill>
                <a:latin typeface="Poppins Bold"/>
                <a:ea typeface="Poppins Bold"/>
                <a:cs typeface="Poppins Bold"/>
                <a:sym typeface="Poppins Bold"/>
              </a:rPr>
              <a:t>CORDILLERA PETS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8887673" y="1625872"/>
            <a:ext cx="11149203" cy="10528588"/>
          </a:xfrm>
          <a:custGeom>
            <a:avLst/>
            <a:gdLst/>
            <a:ahLst/>
            <a:cxnLst/>
            <a:rect r="r" b="b" t="t" l="l"/>
            <a:pathLst>
              <a:path h="10528588" w="11149203">
                <a:moveTo>
                  <a:pt x="11149203" y="0"/>
                </a:moveTo>
                <a:lnTo>
                  <a:pt x="0" y="0"/>
                </a:lnTo>
                <a:lnTo>
                  <a:pt x="0" y="10528588"/>
                </a:lnTo>
                <a:lnTo>
                  <a:pt x="11149203" y="10528588"/>
                </a:lnTo>
                <a:lnTo>
                  <a:pt x="11149203" y="0"/>
                </a:lnTo>
                <a:close/>
              </a:path>
            </a:pathLst>
          </a:custGeom>
          <a:blipFill>
            <a:blip r:embed="rId3"/>
            <a:stretch>
              <a:fillRect l="0" t="-3549" r="0" b="-3549"/>
            </a:stretch>
          </a:blipFill>
        </p:spPr>
      </p:sp>
      <p:sp>
        <p:nvSpPr>
          <p:cNvPr name="Freeform 3" id="3"/>
          <p:cNvSpPr/>
          <p:nvPr/>
        </p:nvSpPr>
        <p:spPr>
          <a:xfrm flipH="false" flipV="true" rot="0">
            <a:off x="-3102780" y="-671059"/>
            <a:ext cx="11217616" cy="11345250"/>
          </a:xfrm>
          <a:custGeom>
            <a:avLst/>
            <a:gdLst/>
            <a:ahLst/>
            <a:cxnLst/>
            <a:rect r="r" b="b" t="t" l="l"/>
            <a:pathLst>
              <a:path h="11345250" w="11217616">
                <a:moveTo>
                  <a:pt x="0" y="11345250"/>
                </a:moveTo>
                <a:lnTo>
                  <a:pt x="11217615" y="11345250"/>
                </a:lnTo>
                <a:lnTo>
                  <a:pt x="11217615" y="0"/>
                </a:lnTo>
                <a:lnTo>
                  <a:pt x="0" y="0"/>
                </a:lnTo>
                <a:lnTo>
                  <a:pt x="0" y="11345250"/>
                </a:lnTo>
                <a:close/>
              </a:path>
            </a:pathLst>
          </a:custGeom>
          <a:blipFill>
            <a:blip r:embed="rId3"/>
            <a:stretch>
              <a:fillRect l="0" t="0" r="0" b="0"/>
            </a:stretch>
          </a:blipFill>
        </p:spPr>
      </p:sp>
      <p:sp>
        <p:nvSpPr>
          <p:cNvPr name="Freeform 4" id="4"/>
          <p:cNvSpPr/>
          <p:nvPr/>
        </p:nvSpPr>
        <p:spPr>
          <a:xfrm flipH="false" flipV="false" rot="0">
            <a:off x="15666340" y="119533"/>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pic>
        <p:nvPicPr>
          <p:cNvPr name="Picture 5" id="5">
            <a:hlinkClick action="ppaction://media"/>
          </p:cNvPr>
          <p:cNvPicPr>
            <a:picLocks noChangeAspect="true"/>
          </p:cNvPicPr>
          <p:nvPr>
            <a:videoFile r:link="rId6"/>
            <p:extLst>
              <p:ext uri="{DAA4B4D4-6D71-4841-9C94-3DE7FCFB9230}">
                <p14:media xmlns:p14="http://schemas.microsoft.com/office/powerpoint/2010/main" r:embed="rId7"/>
              </p:ext>
            </p:extLst>
          </p:nvPr>
        </p:nvPicPr>
        <p:blipFill>
          <a:blip r:embed="rId5"/>
          <a:srcRect l="0" t="0" r="628" b="0"/>
          <a:stretch>
            <a:fillRect/>
          </a:stretch>
        </p:blipFill>
        <p:spPr>
          <a:xfrm flipH="false" flipV="false" rot="0">
            <a:off x="2041176" y="1421192"/>
            <a:ext cx="4560740" cy="8229600"/>
          </a:xfrm>
          <a:prstGeom prst="rect">
            <a:avLst/>
          </a:prstGeom>
        </p:spPr>
      </p:pic>
      <p:sp>
        <p:nvSpPr>
          <p:cNvPr name="TextBox 6" id="6"/>
          <p:cNvSpPr txBox="true"/>
          <p:nvPr/>
        </p:nvSpPr>
        <p:spPr>
          <a:xfrm rot="0">
            <a:off x="9429908" y="2318757"/>
            <a:ext cx="6438345" cy="1027379"/>
          </a:xfrm>
          <a:prstGeom prst="rect">
            <a:avLst/>
          </a:prstGeom>
        </p:spPr>
        <p:txBody>
          <a:bodyPr anchor="t" rtlCol="false" tIns="0" lIns="0" bIns="0" rIns="0">
            <a:spAutoFit/>
          </a:bodyPr>
          <a:lstStyle/>
          <a:p>
            <a:pPr algn="l">
              <a:lnSpc>
                <a:spcPts val="7947"/>
              </a:lnSpc>
              <a:spcBef>
                <a:spcPct val="0"/>
              </a:spcBef>
            </a:pPr>
            <a:r>
              <a:rPr lang="en-US" b="true" sz="5676">
                <a:solidFill>
                  <a:srgbClr val="28346D"/>
                </a:solidFill>
                <a:latin typeface="Poppins Bold"/>
                <a:ea typeface="Poppins Bold"/>
                <a:cs typeface="Poppins Bold"/>
                <a:sym typeface="Poppins Bold"/>
              </a:rPr>
              <a:t>CORDILLERA PETS</a:t>
            </a:r>
          </a:p>
        </p:txBody>
      </p:sp>
      <p:sp>
        <p:nvSpPr>
          <p:cNvPr name="TextBox 7" id="7"/>
          <p:cNvSpPr txBox="true"/>
          <p:nvPr/>
        </p:nvSpPr>
        <p:spPr>
          <a:xfrm rot="0">
            <a:off x="8887673" y="3870097"/>
            <a:ext cx="8195054" cy="2865066"/>
          </a:xfrm>
          <a:prstGeom prst="rect">
            <a:avLst/>
          </a:prstGeom>
        </p:spPr>
        <p:txBody>
          <a:bodyPr anchor="t" rtlCol="false" tIns="0" lIns="0" bIns="0" rIns="0">
            <a:spAutoFit/>
          </a:bodyPr>
          <a:lstStyle/>
          <a:p>
            <a:pPr algn="l">
              <a:lnSpc>
                <a:spcPts val="3258"/>
              </a:lnSpc>
            </a:pPr>
            <a:r>
              <a:rPr lang="en-US" sz="2327">
                <a:solidFill>
                  <a:srgbClr val="1E1112"/>
                </a:solidFill>
                <a:latin typeface="Poppins"/>
                <a:ea typeface="Poppins"/>
                <a:cs typeface="Poppins"/>
                <a:sym typeface="Poppins"/>
              </a:rPr>
              <a:t>La </a:t>
            </a:r>
            <a:r>
              <a:rPr lang="en-US" sz="2327">
                <a:solidFill>
                  <a:srgbClr val="1E1112"/>
                </a:solidFill>
                <a:latin typeface="Poppins"/>
                <a:ea typeface="Poppins"/>
                <a:cs typeface="Poppins"/>
                <a:sym typeface="Poppins"/>
              </a:rPr>
              <a:t>operación está compuesta por un equipo pequeño:</a:t>
            </a:r>
          </a:p>
          <a:p>
            <a:pPr algn="l" marL="502431" indent="-251215" lvl="1">
              <a:lnSpc>
                <a:spcPts val="3258"/>
              </a:lnSpc>
              <a:buFont typeface="Arial"/>
              <a:buChar char="•"/>
            </a:pPr>
            <a:r>
              <a:rPr lang="en-US" sz="2327">
                <a:solidFill>
                  <a:srgbClr val="1E1112"/>
                </a:solidFill>
                <a:latin typeface="Poppins"/>
                <a:ea typeface="Poppins"/>
                <a:cs typeface="Poppins"/>
                <a:sym typeface="Poppins"/>
              </a:rPr>
              <a:t>Mario, dueño del negocio, quien se encarga de la gestión general, coordinación de pedidos, abastecimiento y reparto de pedidos.</a:t>
            </a:r>
          </a:p>
          <a:p>
            <a:pPr algn="l" marL="502431" indent="-251215" lvl="1">
              <a:lnSpc>
                <a:spcPts val="3258"/>
              </a:lnSpc>
              <a:spcBef>
                <a:spcPct val="0"/>
              </a:spcBef>
              <a:buFont typeface="Arial"/>
              <a:buChar char="•"/>
            </a:pPr>
            <a:r>
              <a:rPr lang="en-US" sz="2327">
                <a:solidFill>
                  <a:srgbClr val="1E1112"/>
                </a:solidFill>
                <a:latin typeface="Poppins"/>
                <a:ea typeface="Poppins"/>
                <a:cs typeface="Poppins"/>
                <a:sym typeface="Poppins"/>
              </a:rPr>
              <a:t>Fabiola, vendedora, responsable de la atención directa a los clientes, la preparación de pedidos y reparto de pedidos.</a:t>
            </a:r>
          </a:p>
        </p:txBody>
      </p:sp>
    </p:spTree>
  </p:cSld>
  <p:clrMapOvr>
    <a:masterClrMapping/>
  </p:clrMapOvr>
  <p:timing>
    <p:tnLst>
      <p:par>
        <p:cTn dur="indefinite" restart="never" nodeType="tmRoot">
          <p:childTnLst>
            <p:video>
              <p:cMediaNode vol="100000">
                <p:cTn fill="hold" display="false">
                  <p:stCondLst>
                    <p:cond delay="indefinite"/>
                  </p:stCondLst>
                </p:cTn>
                <p:tgtEl>
                  <p:spTgt spid="5"/>
                </p:tgtEl>
              </p:cMediaNode>
            </p:video>
          </p:childTnLst>
        </p:cTn>
      </p:par>
    </p:tnLst>
  </p:timing>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0162847" y="-1094157"/>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sp>
        <p:nvSpPr>
          <p:cNvPr name="Freeform 3" id="3"/>
          <p:cNvSpPr/>
          <p:nvPr/>
        </p:nvSpPr>
        <p:spPr>
          <a:xfrm flipH="false" flipV="false" rot="0">
            <a:off x="-2362945" y="1824353"/>
            <a:ext cx="10429472" cy="9451709"/>
          </a:xfrm>
          <a:custGeom>
            <a:avLst/>
            <a:gdLst/>
            <a:ahLst/>
            <a:cxnLst/>
            <a:rect r="r" b="b" t="t" l="l"/>
            <a:pathLst>
              <a:path h="9451709" w="10429472">
                <a:moveTo>
                  <a:pt x="0" y="0"/>
                </a:moveTo>
                <a:lnTo>
                  <a:pt x="10429472" y="0"/>
                </a:lnTo>
                <a:lnTo>
                  <a:pt x="10429472" y="9451709"/>
                </a:lnTo>
                <a:lnTo>
                  <a:pt x="0" y="9451709"/>
                </a:lnTo>
                <a:lnTo>
                  <a:pt x="0" y="0"/>
                </a:lnTo>
                <a:close/>
              </a:path>
            </a:pathLst>
          </a:custGeom>
          <a:blipFill>
            <a:blip r:embed="rId3"/>
            <a:stretch>
              <a:fillRect l="0" t="0" r="0" b="0"/>
            </a:stretch>
          </a:blipFill>
        </p:spPr>
      </p:sp>
      <p:sp>
        <p:nvSpPr>
          <p:cNvPr name="TextBox 4" id="4"/>
          <p:cNvSpPr txBox="true"/>
          <p:nvPr/>
        </p:nvSpPr>
        <p:spPr>
          <a:xfrm rot="0">
            <a:off x="4746216" y="668384"/>
            <a:ext cx="7764651" cy="817194"/>
          </a:xfrm>
          <a:prstGeom prst="rect">
            <a:avLst/>
          </a:prstGeom>
        </p:spPr>
        <p:txBody>
          <a:bodyPr anchor="t" rtlCol="false" tIns="0" lIns="0" bIns="0" rIns="0">
            <a:spAutoFit/>
          </a:bodyPr>
          <a:lstStyle/>
          <a:p>
            <a:pPr algn="l">
              <a:lnSpc>
                <a:spcPts val="6407"/>
              </a:lnSpc>
              <a:spcBef>
                <a:spcPct val="0"/>
              </a:spcBef>
            </a:pPr>
            <a:r>
              <a:rPr lang="en-US" b="true" sz="4577">
                <a:solidFill>
                  <a:srgbClr val="28346D"/>
                </a:solidFill>
                <a:latin typeface="Poppins Bold"/>
                <a:ea typeface="Poppins Bold"/>
                <a:cs typeface="Poppins Bold"/>
                <a:sym typeface="Poppins Bold"/>
              </a:rPr>
              <a:t>PROBLEMAS DETECTADOS:</a:t>
            </a:r>
          </a:p>
        </p:txBody>
      </p:sp>
      <p:sp>
        <p:nvSpPr>
          <p:cNvPr name="Freeform 5" id="5"/>
          <p:cNvSpPr/>
          <p:nvPr/>
        </p:nvSpPr>
        <p:spPr>
          <a:xfrm flipH="false" flipV="false" rot="0">
            <a:off x="15666340" y="0"/>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grpSp>
        <p:nvGrpSpPr>
          <p:cNvPr name="Group 6" id="6"/>
          <p:cNvGrpSpPr/>
          <p:nvPr/>
        </p:nvGrpSpPr>
        <p:grpSpPr>
          <a:xfrm rot="0">
            <a:off x="1940078" y="2217932"/>
            <a:ext cx="11585582" cy="2647319"/>
            <a:chOff x="0" y="0"/>
            <a:chExt cx="3228916" cy="737811"/>
          </a:xfrm>
        </p:grpSpPr>
        <p:sp>
          <p:nvSpPr>
            <p:cNvPr name="Freeform 7" id="7"/>
            <p:cNvSpPr/>
            <p:nvPr/>
          </p:nvSpPr>
          <p:spPr>
            <a:xfrm flipH="false" flipV="false" rot="0">
              <a:off x="0" y="0"/>
              <a:ext cx="3228916" cy="737811"/>
            </a:xfrm>
            <a:custGeom>
              <a:avLst/>
              <a:gdLst/>
              <a:ahLst/>
              <a:cxnLst/>
              <a:rect r="r" b="b" t="t" l="l"/>
              <a:pathLst>
                <a:path h="737811" w="3228916">
                  <a:moveTo>
                    <a:pt x="0" y="0"/>
                  </a:moveTo>
                  <a:lnTo>
                    <a:pt x="3228916" y="0"/>
                  </a:lnTo>
                  <a:lnTo>
                    <a:pt x="3228916" y="737811"/>
                  </a:lnTo>
                  <a:lnTo>
                    <a:pt x="0" y="737811"/>
                  </a:lnTo>
                  <a:close/>
                </a:path>
              </a:pathLst>
            </a:custGeom>
            <a:solidFill>
              <a:srgbClr val="E3E8FF"/>
            </a:solidFill>
          </p:spPr>
        </p:sp>
        <p:sp>
          <p:nvSpPr>
            <p:cNvPr name="TextBox 8" id="8"/>
            <p:cNvSpPr txBox="true"/>
            <p:nvPr/>
          </p:nvSpPr>
          <p:spPr>
            <a:xfrm>
              <a:off x="0" y="-9525"/>
              <a:ext cx="3228916" cy="747336"/>
            </a:xfrm>
            <a:prstGeom prst="rect">
              <a:avLst/>
            </a:prstGeom>
          </p:spPr>
          <p:txBody>
            <a:bodyPr anchor="ctr" rtlCol="false" tIns="50800" lIns="50800" bIns="50800" rIns="50800"/>
            <a:lstStyle/>
            <a:p>
              <a:pPr algn="ctr">
                <a:lnSpc>
                  <a:spcPts val="3120"/>
                </a:lnSpc>
              </a:pPr>
            </a:p>
          </p:txBody>
        </p:sp>
      </p:grpSp>
      <p:sp>
        <p:nvSpPr>
          <p:cNvPr name="Freeform 9" id="9"/>
          <p:cNvSpPr/>
          <p:nvPr/>
        </p:nvSpPr>
        <p:spPr>
          <a:xfrm flipH="false" flipV="false" rot="0">
            <a:off x="11100208" y="1552252"/>
            <a:ext cx="4027929" cy="3484159"/>
          </a:xfrm>
          <a:custGeom>
            <a:avLst/>
            <a:gdLst/>
            <a:ahLst/>
            <a:cxnLst/>
            <a:rect r="r" b="b" t="t" l="l"/>
            <a:pathLst>
              <a:path h="3484159" w="4027929">
                <a:moveTo>
                  <a:pt x="0" y="0"/>
                </a:moveTo>
                <a:lnTo>
                  <a:pt x="4027930" y="0"/>
                </a:lnTo>
                <a:lnTo>
                  <a:pt x="4027930" y="3484159"/>
                </a:lnTo>
                <a:lnTo>
                  <a:pt x="0" y="34841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1940078" y="7529062"/>
            <a:ext cx="11594101" cy="2197832"/>
            <a:chOff x="0" y="0"/>
            <a:chExt cx="3231290" cy="612538"/>
          </a:xfrm>
        </p:grpSpPr>
        <p:sp>
          <p:nvSpPr>
            <p:cNvPr name="Freeform 11" id="11"/>
            <p:cNvSpPr/>
            <p:nvPr/>
          </p:nvSpPr>
          <p:spPr>
            <a:xfrm flipH="false" flipV="false" rot="0">
              <a:off x="0" y="0"/>
              <a:ext cx="3231290" cy="612538"/>
            </a:xfrm>
            <a:custGeom>
              <a:avLst/>
              <a:gdLst/>
              <a:ahLst/>
              <a:cxnLst/>
              <a:rect r="r" b="b" t="t" l="l"/>
              <a:pathLst>
                <a:path h="612538" w="3231290">
                  <a:moveTo>
                    <a:pt x="0" y="0"/>
                  </a:moveTo>
                  <a:lnTo>
                    <a:pt x="3231290" y="0"/>
                  </a:lnTo>
                  <a:lnTo>
                    <a:pt x="3231290" y="612538"/>
                  </a:lnTo>
                  <a:lnTo>
                    <a:pt x="0" y="612538"/>
                  </a:lnTo>
                  <a:close/>
                </a:path>
              </a:pathLst>
            </a:custGeom>
            <a:solidFill>
              <a:srgbClr val="E3E8FF"/>
            </a:solidFill>
          </p:spPr>
        </p:sp>
        <p:sp>
          <p:nvSpPr>
            <p:cNvPr name="TextBox 12" id="12"/>
            <p:cNvSpPr txBox="true"/>
            <p:nvPr/>
          </p:nvSpPr>
          <p:spPr>
            <a:xfrm>
              <a:off x="0" y="-9525"/>
              <a:ext cx="3231290" cy="622063"/>
            </a:xfrm>
            <a:prstGeom prst="rect">
              <a:avLst/>
            </a:prstGeom>
          </p:spPr>
          <p:txBody>
            <a:bodyPr anchor="ctr" rtlCol="false" tIns="50800" lIns="50800" bIns="50800" rIns="50800"/>
            <a:lstStyle/>
            <a:p>
              <a:pPr algn="ctr">
                <a:lnSpc>
                  <a:spcPts val="3120"/>
                </a:lnSpc>
              </a:pPr>
            </a:p>
          </p:txBody>
        </p:sp>
      </p:grpSp>
      <p:grpSp>
        <p:nvGrpSpPr>
          <p:cNvPr name="Group 13" id="13"/>
          <p:cNvGrpSpPr/>
          <p:nvPr/>
        </p:nvGrpSpPr>
        <p:grpSpPr>
          <a:xfrm rot="0">
            <a:off x="8628542" y="7621959"/>
            <a:ext cx="9088674" cy="2250055"/>
            <a:chOff x="0" y="0"/>
            <a:chExt cx="5124796" cy="1268730"/>
          </a:xfrm>
        </p:grpSpPr>
        <p:sp>
          <p:nvSpPr>
            <p:cNvPr name="Freeform 14" id="14"/>
            <p:cNvSpPr/>
            <p:nvPr/>
          </p:nvSpPr>
          <p:spPr>
            <a:xfrm flipH="false" flipV="false" rot="0">
              <a:off x="0" y="0"/>
              <a:ext cx="5124796" cy="1268730"/>
            </a:xfrm>
            <a:custGeom>
              <a:avLst/>
              <a:gdLst/>
              <a:ahLst/>
              <a:cxnLst/>
              <a:rect r="r" b="b" t="t" l="l"/>
              <a:pathLst>
                <a:path h="1268730" w="5124796">
                  <a:moveTo>
                    <a:pt x="735330" y="0"/>
                  </a:moveTo>
                  <a:lnTo>
                    <a:pt x="0" y="1268730"/>
                  </a:lnTo>
                  <a:lnTo>
                    <a:pt x="5124796" y="1268730"/>
                  </a:lnTo>
                  <a:lnTo>
                    <a:pt x="4389466" y="0"/>
                  </a:lnTo>
                  <a:close/>
                </a:path>
              </a:pathLst>
            </a:custGeom>
            <a:solidFill>
              <a:srgbClr val="13538A"/>
            </a:solidFill>
          </p:spPr>
        </p:sp>
      </p:grpSp>
      <p:grpSp>
        <p:nvGrpSpPr>
          <p:cNvPr name="Group 15" id="15"/>
          <p:cNvGrpSpPr/>
          <p:nvPr/>
        </p:nvGrpSpPr>
        <p:grpSpPr>
          <a:xfrm rot="0">
            <a:off x="1931559" y="5099282"/>
            <a:ext cx="11594101" cy="2197832"/>
            <a:chOff x="0" y="0"/>
            <a:chExt cx="3231290" cy="612538"/>
          </a:xfrm>
        </p:grpSpPr>
        <p:sp>
          <p:nvSpPr>
            <p:cNvPr name="Freeform 16" id="16"/>
            <p:cNvSpPr/>
            <p:nvPr/>
          </p:nvSpPr>
          <p:spPr>
            <a:xfrm flipH="false" flipV="false" rot="0">
              <a:off x="0" y="0"/>
              <a:ext cx="3231290" cy="612538"/>
            </a:xfrm>
            <a:custGeom>
              <a:avLst/>
              <a:gdLst/>
              <a:ahLst/>
              <a:cxnLst/>
              <a:rect r="r" b="b" t="t" l="l"/>
              <a:pathLst>
                <a:path h="612538" w="3231290">
                  <a:moveTo>
                    <a:pt x="0" y="0"/>
                  </a:moveTo>
                  <a:lnTo>
                    <a:pt x="3231290" y="0"/>
                  </a:lnTo>
                  <a:lnTo>
                    <a:pt x="3231290" y="612538"/>
                  </a:lnTo>
                  <a:lnTo>
                    <a:pt x="0" y="612538"/>
                  </a:lnTo>
                  <a:close/>
                </a:path>
              </a:pathLst>
            </a:custGeom>
            <a:solidFill>
              <a:srgbClr val="E3E8FF"/>
            </a:solidFill>
          </p:spPr>
        </p:sp>
        <p:sp>
          <p:nvSpPr>
            <p:cNvPr name="TextBox 17" id="17"/>
            <p:cNvSpPr txBox="true"/>
            <p:nvPr/>
          </p:nvSpPr>
          <p:spPr>
            <a:xfrm>
              <a:off x="0" y="-9525"/>
              <a:ext cx="3231290" cy="622063"/>
            </a:xfrm>
            <a:prstGeom prst="rect">
              <a:avLst/>
            </a:prstGeom>
          </p:spPr>
          <p:txBody>
            <a:bodyPr anchor="ctr" rtlCol="false" tIns="50800" lIns="50800" bIns="50800" rIns="50800"/>
            <a:lstStyle/>
            <a:p>
              <a:pPr algn="ctr">
                <a:lnSpc>
                  <a:spcPts val="3120"/>
                </a:lnSpc>
              </a:pPr>
            </a:p>
          </p:txBody>
        </p:sp>
      </p:grpSp>
      <p:grpSp>
        <p:nvGrpSpPr>
          <p:cNvPr name="Group 18" id="18"/>
          <p:cNvGrpSpPr/>
          <p:nvPr/>
        </p:nvGrpSpPr>
        <p:grpSpPr>
          <a:xfrm rot="0">
            <a:off x="9821288" y="5149908"/>
            <a:ext cx="6585771" cy="2355035"/>
            <a:chOff x="0" y="0"/>
            <a:chExt cx="3547958" cy="1268730"/>
          </a:xfrm>
        </p:grpSpPr>
        <p:sp>
          <p:nvSpPr>
            <p:cNvPr name="Freeform 19" id="19"/>
            <p:cNvSpPr/>
            <p:nvPr/>
          </p:nvSpPr>
          <p:spPr>
            <a:xfrm flipH="false" flipV="false" rot="0">
              <a:off x="0" y="0"/>
              <a:ext cx="3547958" cy="1268730"/>
            </a:xfrm>
            <a:custGeom>
              <a:avLst/>
              <a:gdLst/>
              <a:ahLst/>
              <a:cxnLst/>
              <a:rect r="r" b="b" t="t" l="l"/>
              <a:pathLst>
                <a:path h="1268730" w="3547958">
                  <a:moveTo>
                    <a:pt x="735330" y="0"/>
                  </a:moveTo>
                  <a:lnTo>
                    <a:pt x="0" y="1268730"/>
                  </a:lnTo>
                  <a:lnTo>
                    <a:pt x="3547958" y="1268730"/>
                  </a:lnTo>
                  <a:lnTo>
                    <a:pt x="2812628" y="0"/>
                  </a:lnTo>
                  <a:close/>
                </a:path>
              </a:pathLst>
            </a:custGeom>
            <a:solidFill>
              <a:srgbClr val="257BE0"/>
            </a:solidFill>
          </p:spPr>
        </p:sp>
      </p:grpSp>
      <p:sp>
        <p:nvSpPr>
          <p:cNvPr name="TextBox 20" id="20"/>
          <p:cNvSpPr txBox="true"/>
          <p:nvPr/>
        </p:nvSpPr>
        <p:spPr>
          <a:xfrm rot="0">
            <a:off x="11652183" y="3978827"/>
            <a:ext cx="2923979" cy="486064"/>
          </a:xfrm>
          <a:prstGeom prst="rect">
            <a:avLst/>
          </a:prstGeom>
        </p:spPr>
        <p:txBody>
          <a:bodyPr anchor="t" rtlCol="false" tIns="0" lIns="0" bIns="0" rIns="0">
            <a:spAutoFit/>
          </a:bodyPr>
          <a:lstStyle/>
          <a:p>
            <a:pPr algn="ctr">
              <a:lnSpc>
                <a:spcPts val="3855"/>
              </a:lnSpc>
              <a:spcBef>
                <a:spcPct val="0"/>
              </a:spcBef>
            </a:pPr>
            <a:r>
              <a:rPr lang="en-US" sz="3213" spc="64">
                <a:solidFill>
                  <a:srgbClr val="FFFFFF"/>
                </a:solidFill>
                <a:latin typeface="Aileron"/>
                <a:ea typeface="Aileron"/>
                <a:cs typeface="Aileron"/>
                <a:sym typeface="Aileron"/>
              </a:rPr>
              <a:t>Consecuencias</a:t>
            </a:r>
          </a:p>
        </p:txBody>
      </p:sp>
      <p:sp>
        <p:nvSpPr>
          <p:cNvPr name="TextBox 21" id="21"/>
          <p:cNvSpPr txBox="true"/>
          <p:nvPr/>
        </p:nvSpPr>
        <p:spPr>
          <a:xfrm rot="0">
            <a:off x="11011468" y="6072127"/>
            <a:ext cx="4322820" cy="594602"/>
          </a:xfrm>
          <a:prstGeom prst="rect">
            <a:avLst/>
          </a:prstGeom>
        </p:spPr>
        <p:txBody>
          <a:bodyPr anchor="t" rtlCol="false" tIns="0" lIns="0" bIns="0" rIns="0">
            <a:spAutoFit/>
          </a:bodyPr>
          <a:lstStyle/>
          <a:p>
            <a:pPr algn="ctr">
              <a:lnSpc>
                <a:spcPts val="4649"/>
              </a:lnSpc>
              <a:spcBef>
                <a:spcPct val="0"/>
              </a:spcBef>
            </a:pPr>
            <a:r>
              <a:rPr lang="en-US" sz="3874" spc="77">
                <a:solidFill>
                  <a:srgbClr val="FFFFFF"/>
                </a:solidFill>
                <a:latin typeface="Aileron"/>
                <a:ea typeface="Aileron"/>
                <a:cs typeface="Aileron"/>
                <a:sym typeface="Aileron"/>
              </a:rPr>
              <a:t>Problema Principal</a:t>
            </a:r>
          </a:p>
        </p:txBody>
      </p:sp>
      <p:sp>
        <p:nvSpPr>
          <p:cNvPr name="TextBox 22" id="22"/>
          <p:cNvSpPr txBox="true"/>
          <p:nvPr/>
        </p:nvSpPr>
        <p:spPr>
          <a:xfrm rot="0">
            <a:off x="11321247" y="8300904"/>
            <a:ext cx="3585852" cy="882640"/>
          </a:xfrm>
          <a:prstGeom prst="rect">
            <a:avLst/>
          </a:prstGeom>
        </p:spPr>
        <p:txBody>
          <a:bodyPr anchor="t" rtlCol="false" tIns="0" lIns="0" bIns="0" rIns="0">
            <a:spAutoFit/>
          </a:bodyPr>
          <a:lstStyle/>
          <a:p>
            <a:pPr algn="ctr">
              <a:lnSpc>
                <a:spcPts val="6917"/>
              </a:lnSpc>
              <a:spcBef>
                <a:spcPct val="0"/>
              </a:spcBef>
            </a:pPr>
            <a:r>
              <a:rPr lang="en-US" sz="5764" spc="115">
                <a:solidFill>
                  <a:srgbClr val="FFFFFF"/>
                </a:solidFill>
                <a:latin typeface="Aileron"/>
                <a:ea typeface="Aileron"/>
                <a:cs typeface="Aileron"/>
                <a:sym typeface="Aileron"/>
              </a:rPr>
              <a:t>Causas</a:t>
            </a:r>
          </a:p>
        </p:txBody>
      </p:sp>
      <p:sp>
        <p:nvSpPr>
          <p:cNvPr name="TextBox 23" id="23"/>
          <p:cNvSpPr txBox="true"/>
          <p:nvPr/>
        </p:nvSpPr>
        <p:spPr>
          <a:xfrm rot="0">
            <a:off x="2604300" y="5702608"/>
            <a:ext cx="6950382" cy="666750"/>
          </a:xfrm>
          <a:prstGeom prst="rect">
            <a:avLst/>
          </a:prstGeom>
        </p:spPr>
        <p:txBody>
          <a:bodyPr anchor="t" rtlCol="false" tIns="0" lIns="0" bIns="0" rIns="0">
            <a:spAutoFit/>
          </a:bodyPr>
          <a:lstStyle/>
          <a:p>
            <a:pPr algn="ctr">
              <a:lnSpc>
                <a:spcPts val="5175"/>
              </a:lnSpc>
              <a:spcBef>
                <a:spcPct val="0"/>
              </a:spcBef>
            </a:pPr>
            <a:r>
              <a:rPr lang="en-US" sz="4312" spc="86">
                <a:solidFill>
                  <a:srgbClr val="13538A"/>
                </a:solidFill>
                <a:latin typeface="Aileron"/>
                <a:ea typeface="Aileron"/>
                <a:cs typeface="Aileron"/>
                <a:sym typeface="Aileron"/>
              </a:rPr>
              <a:t>Baja eficiencia operativa</a:t>
            </a:r>
          </a:p>
        </p:txBody>
      </p:sp>
      <p:sp>
        <p:nvSpPr>
          <p:cNvPr name="TextBox 24" id="24"/>
          <p:cNvSpPr txBox="true"/>
          <p:nvPr/>
        </p:nvSpPr>
        <p:spPr>
          <a:xfrm rot="0">
            <a:off x="2604300" y="2194413"/>
            <a:ext cx="6950382" cy="2628900"/>
          </a:xfrm>
          <a:prstGeom prst="rect">
            <a:avLst/>
          </a:prstGeom>
        </p:spPr>
        <p:txBody>
          <a:bodyPr anchor="t" rtlCol="false" tIns="0" lIns="0" bIns="0" rIns="0">
            <a:spAutoFit/>
          </a:bodyPr>
          <a:lstStyle/>
          <a:p>
            <a:pPr algn="ctr">
              <a:lnSpc>
                <a:spcPts val="3495"/>
              </a:lnSpc>
            </a:pPr>
            <a:r>
              <a:rPr lang="en-US" sz="2913" spc="58">
                <a:solidFill>
                  <a:srgbClr val="13538A"/>
                </a:solidFill>
                <a:latin typeface="Aileron"/>
                <a:ea typeface="Aileron"/>
                <a:cs typeface="Aileron"/>
                <a:sym typeface="Aileron"/>
              </a:rPr>
              <a:t>Pérdida de ventas</a:t>
            </a:r>
          </a:p>
          <a:p>
            <a:pPr algn="ctr">
              <a:lnSpc>
                <a:spcPts val="3495"/>
              </a:lnSpc>
            </a:pPr>
            <a:r>
              <a:rPr lang="en-US" sz="2913" spc="58">
                <a:solidFill>
                  <a:srgbClr val="13538A"/>
                </a:solidFill>
                <a:latin typeface="Aileron"/>
                <a:ea typeface="Aileron"/>
                <a:cs typeface="Aileron"/>
                <a:sym typeface="Aileron"/>
              </a:rPr>
              <a:t>Mala experiencia del cliente</a:t>
            </a:r>
          </a:p>
          <a:p>
            <a:pPr algn="ctr">
              <a:lnSpc>
                <a:spcPts val="3495"/>
              </a:lnSpc>
            </a:pPr>
            <a:r>
              <a:rPr lang="en-US" sz="2913" spc="58">
                <a:solidFill>
                  <a:srgbClr val="13538A"/>
                </a:solidFill>
                <a:latin typeface="Aileron"/>
                <a:ea typeface="Aileron"/>
                <a:cs typeface="Aileron"/>
                <a:sym typeface="Aileron"/>
              </a:rPr>
              <a:t>Errores en Pedidos</a:t>
            </a:r>
          </a:p>
          <a:p>
            <a:pPr algn="ctr">
              <a:lnSpc>
                <a:spcPts val="3495"/>
              </a:lnSpc>
            </a:pPr>
            <a:r>
              <a:rPr lang="en-US" sz="2913" spc="58">
                <a:solidFill>
                  <a:srgbClr val="13538A"/>
                </a:solidFill>
                <a:latin typeface="Aileron"/>
                <a:ea typeface="Aileron"/>
                <a:cs typeface="Aileron"/>
                <a:sym typeface="Aileron"/>
              </a:rPr>
              <a:t>Sobre carga Operativa</a:t>
            </a:r>
          </a:p>
          <a:p>
            <a:pPr algn="ctr">
              <a:lnSpc>
                <a:spcPts val="3495"/>
              </a:lnSpc>
            </a:pPr>
            <a:r>
              <a:rPr lang="en-US" sz="2913" spc="58">
                <a:solidFill>
                  <a:srgbClr val="13538A"/>
                </a:solidFill>
                <a:latin typeface="Aileron"/>
                <a:ea typeface="Aileron"/>
                <a:cs typeface="Aileron"/>
                <a:sym typeface="Aileron"/>
              </a:rPr>
              <a:t>Limitación del crecimiento</a:t>
            </a:r>
          </a:p>
          <a:p>
            <a:pPr algn="ctr">
              <a:lnSpc>
                <a:spcPts val="3495"/>
              </a:lnSpc>
            </a:pPr>
            <a:r>
              <a:rPr lang="en-US" sz="2913" spc="58">
                <a:solidFill>
                  <a:srgbClr val="13538A"/>
                </a:solidFill>
                <a:latin typeface="Aileron"/>
                <a:ea typeface="Aileron"/>
                <a:cs typeface="Aileron"/>
                <a:sym typeface="Aileron"/>
              </a:rPr>
              <a:t>Mala toma de decisiones</a:t>
            </a:r>
          </a:p>
        </p:txBody>
      </p:sp>
      <p:sp>
        <p:nvSpPr>
          <p:cNvPr name="TextBox 25" id="25"/>
          <p:cNvSpPr txBox="true"/>
          <p:nvPr/>
        </p:nvSpPr>
        <p:spPr>
          <a:xfrm rot="0">
            <a:off x="1439530" y="7800108"/>
            <a:ext cx="8381757" cy="1944256"/>
          </a:xfrm>
          <a:prstGeom prst="rect">
            <a:avLst/>
          </a:prstGeom>
        </p:spPr>
        <p:txBody>
          <a:bodyPr anchor="t" rtlCol="false" tIns="0" lIns="0" bIns="0" rIns="0">
            <a:spAutoFit/>
          </a:bodyPr>
          <a:lstStyle/>
          <a:p>
            <a:pPr algn="ctr">
              <a:lnSpc>
                <a:spcPts val="3855"/>
              </a:lnSpc>
            </a:pPr>
            <a:r>
              <a:rPr lang="en-US" sz="3213" spc="64">
                <a:solidFill>
                  <a:srgbClr val="13538A"/>
                </a:solidFill>
                <a:latin typeface="Aileron"/>
                <a:ea typeface="Aileron"/>
                <a:cs typeface="Aileron"/>
                <a:sym typeface="Aileron"/>
              </a:rPr>
              <a:t>Ventas manuales</a:t>
            </a:r>
          </a:p>
          <a:p>
            <a:pPr algn="ctr">
              <a:lnSpc>
                <a:spcPts val="3855"/>
              </a:lnSpc>
            </a:pPr>
            <a:r>
              <a:rPr lang="en-US" sz="3213" spc="64">
                <a:solidFill>
                  <a:srgbClr val="13538A"/>
                </a:solidFill>
                <a:latin typeface="Aileron"/>
                <a:ea typeface="Aileron"/>
                <a:cs typeface="Aileron"/>
                <a:sym typeface="Aileron"/>
              </a:rPr>
              <a:t>Control de stock manual</a:t>
            </a:r>
          </a:p>
          <a:p>
            <a:pPr algn="ctr">
              <a:lnSpc>
                <a:spcPts val="3855"/>
              </a:lnSpc>
            </a:pPr>
            <a:r>
              <a:rPr lang="en-US" sz="3213" spc="64">
                <a:solidFill>
                  <a:srgbClr val="13538A"/>
                </a:solidFill>
                <a:latin typeface="Aileron"/>
                <a:ea typeface="Aileron"/>
                <a:cs typeface="Aileron"/>
                <a:sym typeface="Aileron"/>
              </a:rPr>
              <a:t>Ausencia de reportes</a:t>
            </a:r>
          </a:p>
          <a:p>
            <a:pPr algn="ctr">
              <a:lnSpc>
                <a:spcPts val="3855"/>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4096692" y="-529125"/>
            <a:ext cx="11217616" cy="11345250"/>
          </a:xfrm>
          <a:custGeom>
            <a:avLst/>
            <a:gdLst/>
            <a:ahLst/>
            <a:cxnLst/>
            <a:rect r="r" b="b" t="t" l="l"/>
            <a:pathLst>
              <a:path h="11345250" w="11217616">
                <a:moveTo>
                  <a:pt x="0" y="11345250"/>
                </a:moveTo>
                <a:lnTo>
                  <a:pt x="11217615" y="11345250"/>
                </a:lnTo>
                <a:lnTo>
                  <a:pt x="11217615" y="0"/>
                </a:lnTo>
                <a:lnTo>
                  <a:pt x="0" y="0"/>
                </a:lnTo>
                <a:lnTo>
                  <a:pt x="0" y="11345250"/>
                </a:lnTo>
                <a:close/>
              </a:path>
            </a:pathLst>
          </a:custGeom>
          <a:blipFill>
            <a:blip r:embed="rId3"/>
            <a:stretch>
              <a:fillRect l="0" t="0" r="0" b="0"/>
            </a:stretch>
          </a:blipFill>
        </p:spPr>
      </p:sp>
      <p:sp>
        <p:nvSpPr>
          <p:cNvPr name="TextBox 3" id="3"/>
          <p:cNvSpPr txBox="true"/>
          <p:nvPr/>
        </p:nvSpPr>
        <p:spPr>
          <a:xfrm rot="0">
            <a:off x="3717955" y="641038"/>
            <a:ext cx="13776309" cy="984834"/>
          </a:xfrm>
          <a:prstGeom prst="rect">
            <a:avLst/>
          </a:prstGeom>
        </p:spPr>
        <p:txBody>
          <a:bodyPr anchor="t" rtlCol="false" tIns="0" lIns="0" bIns="0" rIns="0">
            <a:spAutoFit/>
          </a:bodyPr>
          <a:lstStyle/>
          <a:p>
            <a:pPr algn="l">
              <a:lnSpc>
                <a:spcPts val="7667"/>
              </a:lnSpc>
              <a:spcBef>
                <a:spcPct val="0"/>
              </a:spcBef>
            </a:pPr>
            <a:r>
              <a:rPr lang="en-US" b="true" sz="5477">
                <a:solidFill>
                  <a:srgbClr val="28346D"/>
                </a:solidFill>
                <a:latin typeface="Poppins Bold"/>
                <a:ea typeface="Poppins Bold"/>
                <a:cs typeface="Poppins Bold"/>
                <a:sym typeface="Poppins Bold"/>
              </a:rPr>
              <a:t>METRICAS DE CORDILLERA PETS</a:t>
            </a:r>
          </a:p>
        </p:txBody>
      </p:sp>
      <p:sp>
        <p:nvSpPr>
          <p:cNvPr name="TextBox 4" id="4"/>
          <p:cNvSpPr txBox="true"/>
          <p:nvPr/>
        </p:nvSpPr>
        <p:spPr>
          <a:xfrm rot="0">
            <a:off x="1343823" y="8080432"/>
            <a:ext cx="2807083" cy="323745"/>
          </a:xfrm>
          <a:prstGeom prst="rect">
            <a:avLst/>
          </a:prstGeom>
        </p:spPr>
        <p:txBody>
          <a:bodyPr anchor="t" rtlCol="false" tIns="0" lIns="0" bIns="0" rIns="0">
            <a:spAutoFit/>
          </a:bodyPr>
          <a:lstStyle/>
          <a:p>
            <a:pPr algn="l">
              <a:lnSpc>
                <a:spcPts val="2563"/>
              </a:lnSpc>
            </a:pPr>
            <a:r>
              <a:rPr lang="en-US" sz="1830">
                <a:solidFill>
                  <a:srgbClr val="FFFFFF"/>
                </a:solidFill>
                <a:latin typeface="Poppins"/>
                <a:ea typeface="Poppins"/>
                <a:cs typeface="Poppins"/>
                <a:sym typeface="Poppins"/>
              </a:rPr>
              <a:t>Tiempo de compra</a:t>
            </a:r>
          </a:p>
        </p:txBody>
      </p:sp>
      <p:sp>
        <p:nvSpPr>
          <p:cNvPr name="TextBox 5" id="5"/>
          <p:cNvSpPr txBox="true"/>
          <p:nvPr/>
        </p:nvSpPr>
        <p:spPr>
          <a:xfrm rot="0">
            <a:off x="5717381" y="8080432"/>
            <a:ext cx="2807083" cy="646368"/>
          </a:xfrm>
          <a:prstGeom prst="rect">
            <a:avLst/>
          </a:prstGeom>
        </p:spPr>
        <p:txBody>
          <a:bodyPr anchor="t" rtlCol="false" tIns="0" lIns="0" bIns="0" rIns="0">
            <a:spAutoFit/>
          </a:bodyPr>
          <a:lstStyle/>
          <a:p>
            <a:pPr algn="l">
              <a:lnSpc>
                <a:spcPts val="2563"/>
              </a:lnSpc>
            </a:pPr>
            <a:r>
              <a:rPr lang="en-US" sz="1830">
                <a:solidFill>
                  <a:srgbClr val="FFFFFF"/>
                </a:solidFill>
                <a:latin typeface="Poppins"/>
                <a:ea typeface="Poppins"/>
                <a:cs typeface="Poppins"/>
                <a:sym typeface="Poppins"/>
              </a:rPr>
              <a:t>Errores en pedidos o stock</a:t>
            </a:r>
          </a:p>
        </p:txBody>
      </p:sp>
      <p:sp>
        <p:nvSpPr>
          <p:cNvPr name="Freeform 6" id="6"/>
          <p:cNvSpPr/>
          <p:nvPr/>
        </p:nvSpPr>
        <p:spPr>
          <a:xfrm flipH="true" flipV="false" rot="0">
            <a:off x="8887673" y="1625872"/>
            <a:ext cx="11149203" cy="10528588"/>
          </a:xfrm>
          <a:custGeom>
            <a:avLst/>
            <a:gdLst/>
            <a:ahLst/>
            <a:cxnLst/>
            <a:rect r="r" b="b" t="t" l="l"/>
            <a:pathLst>
              <a:path h="10528588" w="11149203">
                <a:moveTo>
                  <a:pt x="11149203" y="0"/>
                </a:moveTo>
                <a:lnTo>
                  <a:pt x="0" y="0"/>
                </a:lnTo>
                <a:lnTo>
                  <a:pt x="0" y="10528588"/>
                </a:lnTo>
                <a:lnTo>
                  <a:pt x="11149203" y="10528588"/>
                </a:lnTo>
                <a:lnTo>
                  <a:pt x="11149203" y="0"/>
                </a:lnTo>
                <a:close/>
              </a:path>
            </a:pathLst>
          </a:custGeom>
          <a:blipFill>
            <a:blip r:embed="rId3"/>
            <a:stretch>
              <a:fillRect l="0" t="-3549" r="0" b="-3549"/>
            </a:stretch>
          </a:blipFill>
        </p:spPr>
      </p:sp>
      <p:sp>
        <p:nvSpPr>
          <p:cNvPr name="TextBox 7" id="7"/>
          <p:cNvSpPr txBox="true"/>
          <p:nvPr/>
        </p:nvSpPr>
        <p:spPr>
          <a:xfrm rot="0">
            <a:off x="13562843" y="8033928"/>
            <a:ext cx="2807083" cy="646368"/>
          </a:xfrm>
          <a:prstGeom prst="rect">
            <a:avLst/>
          </a:prstGeom>
        </p:spPr>
        <p:txBody>
          <a:bodyPr anchor="t" rtlCol="false" tIns="0" lIns="0" bIns="0" rIns="0">
            <a:spAutoFit/>
          </a:bodyPr>
          <a:lstStyle/>
          <a:p>
            <a:pPr algn="l">
              <a:lnSpc>
                <a:spcPts val="2563"/>
              </a:lnSpc>
            </a:pPr>
            <a:r>
              <a:rPr lang="en-US" sz="1830">
                <a:solidFill>
                  <a:srgbClr val="FFFFFF"/>
                </a:solidFill>
                <a:latin typeface="Poppins"/>
                <a:ea typeface="Poppins"/>
                <a:cs typeface="Poppins"/>
                <a:sym typeface="Poppins"/>
              </a:rPr>
              <a:t>Precisión en las decisiones de gestión</a:t>
            </a:r>
          </a:p>
        </p:txBody>
      </p:sp>
      <p:sp>
        <p:nvSpPr>
          <p:cNvPr name="TextBox 8" id="8"/>
          <p:cNvSpPr txBox="true"/>
          <p:nvPr/>
        </p:nvSpPr>
        <p:spPr>
          <a:xfrm rot="0">
            <a:off x="10086565" y="8033928"/>
            <a:ext cx="2807083" cy="323745"/>
          </a:xfrm>
          <a:prstGeom prst="rect">
            <a:avLst/>
          </a:prstGeom>
        </p:spPr>
        <p:txBody>
          <a:bodyPr anchor="t" rtlCol="false" tIns="0" lIns="0" bIns="0" rIns="0">
            <a:spAutoFit/>
          </a:bodyPr>
          <a:lstStyle/>
          <a:p>
            <a:pPr algn="l">
              <a:lnSpc>
                <a:spcPts val="2563"/>
              </a:lnSpc>
            </a:pPr>
            <a:r>
              <a:rPr lang="en-US" sz="1830">
                <a:solidFill>
                  <a:srgbClr val="FFFFFF"/>
                </a:solidFill>
                <a:latin typeface="Poppins"/>
                <a:ea typeface="Poppins"/>
                <a:cs typeface="Poppins"/>
                <a:sym typeface="Poppins"/>
              </a:rPr>
              <a:t>Gestión manual</a:t>
            </a:r>
          </a:p>
        </p:txBody>
      </p:sp>
      <p:sp>
        <p:nvSpPr>
          <p:cNvPr name="Freeform 9" id="9"/>
          <p:cNvSpPr/>
          <p:nvPr/>
        </p:nvSpPr>
        <p:spPr>
          <a:xfrm flipH="false" flipV="false" rot="0">
            <a:off x="15666340" y="0"/>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graphicFrame>
        <p:nvGraphicFramePr>
          <p:cNvPr name="Table 10" id="10"/>
          <p:cNvGraphicFramePr>
            <a:graphicFrameLocks noGrp="true"/>
          </p:cNvGraphicFramePr>
          <p:nvPr/>
        </p:nvGraphicFramePr>
        <p:xfrm>
          <a:off x="1972272" y="2053538"/>
          <a:ext cx="14071029" cy="7707866"/>
        </p:xfrm>
        <a:graphic>
          <a:graphicData uri="http://schemas.openxmlformats.org/drawingml/2006/table">
            <a:tbl>
              <a:tblPr/>
              <a:tblGrid>
                <a:gridCol w="3724415"/>
                <a:gridCol w="3724415"/>
                <a:gridCol w="3930755"/>
                <a:gridCol w="2691445"/>
              </a:tblGrid>
              <a:tr h="820350">
                <a:tc>
                  <a:txBody>
                    <a:bodyPr anchor="t" rtlCol="false"/>
                    <a:lstStyle/>
                    <a:p>
                      <a:pPr algn="ctr">
                        <a:lnSpc>
                          <a:spcPts val="2100"/>
                        </a:lnSpc>
                        <a:defRPr/>
                      </a:pPr>
                      <a:r>
                        <a:rPr lang="en-US" b="true" sz="1500">
                          <a:solidFill>
                            <a:srgbClr val="000000">
                              <a:alpha val="64706"/>
                            </a:srgbClr>
                          </a:solidFill>
                          <a:latin typeface="Arimo Bold"/>
                          <a:ea typeface="Arimo Bold"/>
                          <a:cs typeface="Arimo Bold"/>
                          <a:sym typeface="Arimo Bold"/>
                        </a:rPr>
                        <a:t>MÉTRICA</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99ACFF">
                        <a:alpha val="64706"/>
                      </a:srgbClr>
                    </a:solidFill>
                  </a:tcPr>
                </a:tc>
                <a:tc>
                  <a:txBody>
                    <a:bodyPr anchor="t" rtlCol="false"/>
                    <a:lstStyle/>
                    <a:p>
                      <a:pPr algn="ctr">
                        <a:lnSpc>
                          <a:spcPts val="1959"/>
                        </a:lnSpc>
                        <a:defRPr/>
                      </a:pPr>
                      <a:r>
                        <a:rPr lang="en-US" b="true" sz="1399">
                          <a:solidFill>
                            <a:srgbClr val="000000">
                              <a:alpha val="64706"/>
                            </a:srgbClr>
                          </a:solidFill>
                          <a:latin typeface="Arimo Bold"/>
                          <a:ea typeface="Arimo Bold"/>
                          <a:cs typeface="Arimo Bold"/>
                          <a:sym typeface="Arimo Bold"/>
                        </a:rPr>
                        <a:t>TIEMPO ANTES DEL SISTEMA</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99ACFF">
                        <a:alpha val="64706"/>
                      </a:srgbClr>
                    </a:solidFill>
                  </a:tcPr>
                </a:tc>
                <a:tc>
                  <a:txBody>
                    <a:bodyPr anchor="t" rtlCol="false"/>
                    <a:lstStyle/>
                    <a:p>
                      <a:pPr algn="ctr">
                        <a:lnSpc>
                          <a:spcPts val="1959"/>
                        </a:lnSpc>
                        <a:defRPr/>
                      </a:pPr>
                      <a:r>
                        <a:rPr lang="en-US" b="true" sz="1399">
                          <a:solidFill>
                            <a:srgbClr val="000000">
                              <a:alpha val="64706"/>
                            </a:srgbClr>
                          </a:solidFill>
                          <a:latin typeface="Arimo Bold"/>
                          <a:ea typeface="Arimo Bold"/>
                          <a:cs typeface="Arimo Bold"/>
                          <a:sym typeface="Arimo Bold"/>
                        </a:rPr>
                        <a:t>TIEMPO DESPUES DEL SISTEMA</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99ACFF">
                        <a:alpha val="64706"/>
                      </a:srgbClr>
                    </a:solidFill>
                  </a:tcPr>
                </a:tc>
                <a:tc>
                  <a:txBody>
                    <a:bodyPr anchor="t" rtlCol="false"/>
                    <a:lstStyle/>
                    <a:p>
                      <a:pPr algn="ctr">
                        <a:lnSpc>
                          <a:spcPts val="1959"/>
                        </a:lnSpc>
                        <a:defRPr/>
                      </a:pPr>
                      <a:r>
                        <a:rPr lang="en-US" b="true" sz="1399">
                          <a:solidFill>
                            <a:srgbClr val="000000">
                              <a:alpha val="64706"/>
                            </a:srgbClr>
                          </a:solidFill>
                          <a:latin typeface="Arimo Bold"/>
                          <a:ea typeface="Arimo Bold"/>
                          <a:cs typeface="Arimo Bold"/>
                          <a:sym typeface="Arimo Bold"/>
                        </a:rPr>
                        <a:t>IMPACTO</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99ACFF">
                        <a:alpha val="64706"/>
                      </a:srgbClr>
                    </a:solidFill>
                  </a:tcPr>
                </a:tc>
              </a:tr>
              <a:tr h="834610">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GESTIÓ</a:t>
                      </a:r>
                      <a:r>
                        <a:rPr lang="en-US" sz="1399">
                          <a:solidFill>
                            <a:srgbClr val="000000">
                              <a:alpha val="64706"/>
                            </a:srgbClr>
                          </a:solidFill>
                          <a:latin typeface="Arimo"/>
                          <a:ea typeface="Arimo"/>
                          <a:cs typeface="Arimo"/>
                          <a:sym typeface="Arimo"/>
                        </a:rPr>
                        <a:t>N MANUAL DE PEDIDOS AUTOMATIZADA</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99ACFF">
                        <a:alpha val="64706"/>
                      </a:srgbClr>
                    </a:solidFill>
                  </a:tcPr>
                </a:tc>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8 - 15 MIN</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1 - 3 MIN</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60"/>
                        </a:lnSpc>
                        <a:defRPr/>
                      </a:pPr>
                      <a:r>
                        <a:rPr lang="en-US" sz="1400">
                          <a:solidFill>
                            <a:srgbClr val="000000">
                              <a:alpha val="64706"/>
                            </a:srgbClr>
                          </a:solidFill>
                          <a:latin typeface="Arimo"/>
                          <a:ea typeface="Arimo"/>
                          <a:cs typeface="Arimo"/>
                          <a:sym typeface="Arimo"/>
                        </a:rPr>
                        <a:t>Reducción del 90 - 95% del tiempo operativo</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r>
              <a:tr h="783409">
                <a:tc>
                  <a:txBody>
                    <a:bodyPr anchor="t" rtlCol="false"/>
                    <a:lstStyle/>
                    <a:p>
                      <a:pPr algn="ctr">
                        <a:lnSpc>
                          <a:spcPts val="1960"/>
                        </a:lnSpc>
                        <a:defRPr/>
                      </a:pPr>
                      <a:r>
                        <a:rPr lang="en-US" sz="1400">
                          <a:solidFill>
                            <a:srgbClr val="000000">
                              <a:alpha val="64706"/>
                            </a:srgbClr>
                          </a:solidFill>
                          <a:latin typeface="Arimo"/>
                          <a:ea typeface="Arimo"/>
                          <a:cs typeface="Arimo"/>
                          <a:sym typeface="Arimo"/>
                        </a:rPr>
                        <a:t>CATÁLOGO DIGITAL COMPLETO</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99ACFF">
                        <a:alpha val="64706"/>
                      </a:srgbClr>
                    </a:solidFill>
                  </a:tcPr>
                </a:tc>
                <a:tc>
                  <a:txBody>
                    <a:bodyPr anchor="t" rtlCol="false"/>
                    <a:lstStyle/>
                    <a:p>
                      <a:pPr algn="ctr">
                        <a:lnSpc>
                          <a:spcPts val="2006"/>
                        </a:lnSpc>
                        <a:defRPr/>
                      </a:pPr>
                      <a:r>
                        <a:rPr lang="en-US" sz="1433">
                          <a:solidFill>
                            <a:srgbClr val="000000">
                              <a:alpha val="64706"/>
                            </a:srgbClr>
                          </a:solidFill>
                          <a:latin typeface="Arimo"/>
                          <a:ea typeface="Arimo"/>
                          <a:cs typeface="Arimo"/>
                          <a:sym typeface="Arimo"/>
                        </a:rPr>
                        <a:t>30 - 40 MIN</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10 - 20 segundos para encontrar productos</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60"/>
                        </a:lnSpc>
                        <a:defRPr/>
                      </a:pPr>
                      <a:r>
                        <a:rPr lang="en-US" sz="1400">
                          <a:solidFill>
                            <a:srgbClr val="000000">
                              <a:alpha val="64706"/>
                            </a:srgbClr>
                          </a:solidFill>
                          <a:latin typeface="Arimo"/>
                          <a:ea typeface="Arimo"/>
                          <a:cs typeface="Arimo"/>
                          <a:sym typeface="Arimo"/>
                        </a:rPr>
                        <a:t>Aumento de visibilidad de 60-70%</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r>
              <a:tr h="752785">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STOCK CENTRALIZADO Y EN TIEMPO REAL</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99ACFF">
                        <a:alpha val="64706"/>
                      </a:srgbClr>
                    </a:solidFill>
                  </a:tcPr>
                </a:tc>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20 - 30 MIN</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5 - 15 MIN</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60"/>
                        </a:lnSpc>
                        <a:defRPr/>
                      </a:pPr>
                      <a:r>
                        <a:rPr lang="en-US" sz="1400">
                          <a:solidFill>
                            <a:srgbClr val="000000">
                              <a:alpha val="64706"/>
                            </a:srgbClr>
                          </a:solidFill>
                          <a:latin typeface="Arimo"/>
                          <a:ea typeface="Arimo"/>
                          <a:cs typeface="Arimo"/>
                          <a:sym typeface="Arimo"/>
                        </a:rPr>
                        <a:t>Eliminación del 85 - 95% de errores de stock</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r>
              <a:tr h="752785">
                <a:tc>
                  <a:txBody>
                    <a:bodyPr anchor="t" rtlCol="false"/>
                    <a:lstStyle/>
                    <a:p>
                      <a:pPr algn="ctr">
                        <a:lnSpc>
                          <a:spcPts val="1960"/>
                        </a:lnSpc>
                        <a:defRPr/>
                      </a:pPr>
                      <a:r>
                        <a:rPr lang="en-US" sz="1400">
                          <a:solidFill>
                            <a:srgbClr val="000000">
                              <a:alpha val="64706"/>
                            </a:srgbClr>
                          </a:solidFill>
                          <a:latin typeface="Arimo"/>
                          <a:ea typeface="Arimo"/>
                          <a:cs typeface="Arimo"/>
                          <a:sym typeface="Arimo"/>
                        </a:rPr>
                        <a:t>PROCESO DE COMPRA RÁPIDO</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99ACFF">
                        <a:alpha val="64706"/>
                      </a:srgbClr>
                    </a:solidFill>
                  </a:tcPr>
                </a:tc>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5 - 20 MIN</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1 - 4 MIN</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60"/>
                        </a:lnSpc>
                        <a:defRPr/>
                      </a:pPr>
                      <a:r>
                        <a:rPr lang="en-US" sz="1400">
                          <a:solidFill>
                            <a:srgbClr val="000000">
                              <a:alpha val="64706"/>
                            </a:srgbClr>
                          </a:solidFill>
                          <a:latin typeface="Arimo"/>
                          <a:ea typeface="Arimo"/>
                          <a:cs typeface="Arimo"/>
                          <a:sym typeface="Arimo"/>
                        </a:rPr>
                        <a:t>Imcremento de conversión 35 - 45%</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r>
              <a:tr h="752785">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HISTORIAL AUTOMÁTICO DE CLIENTES</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99ACFF">
                        <a:alpha val="64706"/>
                      </a:srgbClr>
                    </a:solidFill>
                  </a:tcPr>
                </a:tc>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2 HRS PARA REVISAR</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5 SEGUNDOS POR CONSULTA</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60"/>
                        </a:lnSpc>
                        <a:defRPr/>
                      </a:pPr>
                      <a:r>
                        <a:rPr lang="en-US" sz="1400">
                          <a:solidFill>
                            <a:srgbClr val="000000">
                              <a:alpha val="64706"/>
                            </a:srgbClr>
                          </a:solidFill>
                          <a:latin typeface="Arimo"/>
                          <a:ea typeface="Arimo"/>
                          <a:cs typeface="Arimo"/>
                          <a:sym typeface="Arimo"/>
                        </a:rPr>
                        <a:t>Posibilidad de fidelizar y hacer marketing segmentado</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r>
              <a:tr h="752785">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GESTIÓN DE DESPACHO AUTOMATIZADA</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99ACFF">
                        <a:alpha val="64706"/>
                      </a:srgbClr>
                    </a:solidFill>
                  </a:tcPr>
                </a:tc>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10 - 20 MIN COORDINAR</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1 - 3 MIN</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60"/>
                        </a:lnSpc>
                        <a:defRPr/>
                      </a:pPr>
                      <a:r>
                        <a:rPr lang="en-US" sz="1400">
                          <a:solidFill>
                            <a:srgbClr val="000000">
                              <a:alpha val="64706"/>
                            </a:srgbClr>
                          </a:solidFill>
                          <a:latin typeface="Arimo"/>
                          <a:ea typeface="Arimo"/>
                          <a:cs typeface="Arimo"/>
                          <a:sym typeface="Arimo"/>
                        </a:rPr>
                        <a:t>Mejor experiencia post-compra</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r>
              <a:tr h="752785">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REPORTE AUTOMÁTICOS EN 1 CLIC</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99ACFF">
                        <a:alpha val="64706"/>
                      </a:srgbClr>
                    </a:solidFill>
                  </a:tcPr>
                </a:tc>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1 - 2 HRS PARA CREAR</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INMEDIATAMENTE</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60"/>
                        </a:lnSpc>
                        <a:defRPr/>
                      </a:pPr>
                      <a:r>
                        <a:rPr lang="en-US" sz="1400">
                          <a:solidFill>
                            <a:srgbClr val="000000">
                              <a:alpha val="64706"/>
                            </a:srgbClr>
                          </a:solidFill>
                          <a:latin typeface="Arimo"/>
                          <a:ea typeface="Arimo"/>
                          <a:cs typeface="Arimo"/>
                          <a:sym typeface="Arimo"/>
                        </a:rPr>
                        <a:t>Eliminación total del trabajo manual en reportes</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r>
              <a:tr h="752785">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NOTIFICACIONES AUTOMÁTICAS AL CLIENTE</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99ACFF">
                        <a:alpha val="64706"/>
                      </a:srgbClr>
                    </a:solidFill>
                  </a:tcPr>
                </a:tc>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10 - 25 MIN</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0 MIN</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60"/>
                        </a:lnSpc>
                        <a:defRPr/>
                      </a:pPr>
                      <a:r>
                        <a:rPr lang="en-US" sz="1400">
                          <a:solidFill>
                            <a:srgbClr val="000000">
                              <a:alpha val="64706"/>
                            </a:srgbClr>
                          </a:solidFill>
                          <a:latin typeface="Arimo"/>
                          <a:ea typeface="Arimo"/>
                          <a:cs typeface="Arimo"/>
                          <a:sym typeface="Arimo"/>
                        </a:rPr>
                        <a:t>Reducción del 90 - 100% de consultas</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r>
              <a:tr h="752785">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PAGOS AUTOMATIZADOS Y SEGUROS (WEBPAY)</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99ACFF">
                        <a:alpha val="64706"/>
                      </a:srgbClr>
                    </a:solidFill>
                  </a:tcPr>
                </a:tc>
                <a:tc>
                  <a:txBody>
                    <a:bodyPr anchor="t" rtlCol="false"/>
                    <a:lstStyle/>
                    <a:p>
                      <a:pPr algn="ctr">
                        <a:lnSpc>
                          <a:spcPts val="1959"/>
                        </a:lnSpc>
                        <a:defRPr/>
                      </a:pPr>
                      <a:r>
                        <a:rPr lang="en-US" sz="1399">
                          <a:solidFill>
                            <a:srgbClr val="000000">
                              <a:alpha val="64706"/>
                            </a:srgbClr>
                          </a:solidFill>
                          <a:latin typeface="Arimo"/>
                          <a:ea typeface="Arimo"/>
                          <a:cs typeface="Arimo"/>
                          <a:sym typeface="Arimo"/>
                        </a:rPr>
                        <a:t>30 - 35 MIN</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60"/>
                        </a:lnSpc>
                        <a:defRPr/>
                      </a:pPr>
                      <a:r>
                        <a:rPr lang="en-US" sz="1400">
                          <a:solidFill>
                            <a:srgbClr val="000000">
                              <a:alpha val="64706"/>
                            </a:srgbClr>
                          </a:solidFill>
                          <a:latin typeface="Arimo"/>
                          <a:ea typeface="Arimo"/>
                          <a:cs typeface="Arimo"/>
                          <a:sym typeface="Arimo"/>
                        </a:rPr>
                        <a:t>EN SEGUNDOS</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c>
                  <a:txBody>
                    <a:bodyPr anchor="t" rtlCol="false"/>
                    <a:lstStyle/>
                    <a:p>
                      <a:pPr algn="ctr">
                        <a:lnSpc>
                          <a:spcPts val="1960"/>
                        </a:lnSpc>
                        <a:defRPr/>
                      </a:pPr>
                      <a:r>
                        <a:rPr lang="en-US" sz="1400">
                          <a:solidFill>
                            <a:srgbClr val="000000">
                              <a:alpha val="64706"/>
                            </a:srgbClr>
                          </a:solidFill>
                          <a:latin typeface="Arimo"/>
                          <a:ea typeface="Arimo"/>
                          <a:cs typeface="Arimo"/>
                          <a:sym typeface="Arimo"/>
                        </a:rPr>
                        <a:t>Cierre rápido y seguro de ventas</a:t>
                      </a:r>
                      <a:endParaRPr lang="en-US" sz="1100"/>
                    </a:p>
                  </a:txBody>
                  <a:tcPr marL="47625" marR="47625" marT="47625" marB="47625" anchor="ctr">
                    <a:lnL cmpd="sng" algn="ctr" cap="flat" w="0">
                      <a:solidFill>
                        <a:srgbClr val="FF9999"/>
                      </a:solidFill>
                      <a:prstDash val="solid"/>
                      <a:round/>
                      <a:headEnd type="none" w="med" len="med"/>
                      <a:tailEnd type="none" w="med" len="med"/>
                    </a:lnL>
                    <a:lnR cmpd="sng" algn="ctr" cap="flat" w="0">
                      <a:solidFill>
                        <a:srgbClr val="FF9999"/>
                      </a:solidFill>
                      <a:prstDash val="solid"/>
                      <a:round/>
                      <a:headEnd type="none" w="med" len="med"/>
                      <a:tailEnd type="none" w="med" len="med"/>
                    </a:lnR>
                    <a:lnT cmpd="sng" algn="ctr" cap="flat" w="0">
                      <a:solidFill>
                        <a:srgbClr val="FF9999"/>
                      </a:solidFill>
                      <a:prstDash val="solid"/>
                      <a:round/>
                      <a:headEnd type="none" w="med" len="med"/>
                      <a:tailEnd type="none" w="med" len="med"/>
                    </a:lnT>
                    <a:lnB cmpd="sng" algn="ctr" cap="flat" w="0">
                      <a:solidFill>
                        <a:srgbClr val="FF9999"/>
                      </a:solidFill>
                      <a:prstDash val="solid"/>
                      <a:round/>
                      <a:headEnd type="none" w="med" len="med"/>
                      <a:tailEnd type="none" w="med" len="med"/>
                    </a:lnB>
                    <a:solidFill>
                      <a:srgbClr val="FFFFFF">
                        <a:alpha val="64706"/>
                      </a:srgbClr>
                    </a:solidFill>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53754"/>
        </a:solidFill>
      </p:bgPr>
    </p:bg>
    <p:spTree>
      <p:nvGrpSpPr>
        <p:cNvPr id="1" name=""/>
        <p:cNvGrpSpPr/>
        <p:nvPr/>
      </p:nvGrpSpPr>
      <p:grpSpPr>
        <a:xfrm>
          <a:off x="0" y="0"/>
          <a:ext cx="0" cy="0"/>
          <a:chOff x="0" y="0"/>
          <a:chExt cx="0" cy="0"/>
        </a:xfrm>
      </p:grpSpPr>
      <p:grpSp>
        <p:nvGrpSpPr>
          <p:cNvPr name="Group 2" id="2"/>
          <p:cNvGrpSpPr/>
          <p:nvPr/>
        </p:nvGrpSpPr>
        <p:grpSpPr>
          <a:xfrm rot="0">
            <a:off x="272619" y="1028700"/>
            <a:ext cx="3607399" cy="6714238"/>
            <a:chOff x="0" y="0"/>
            <a:chExt cx="2752159" cy="5122431"/>
          </a:xfrm>
        </p:grpSpPr>
        <p:sp>
          <p:nvSpPr>
            <p:cNvPr name="Freeform 3" id="3"/>
            <p:cNvSpPr/>
            <p:nvPr/>
          </p:nvSpPr>
          <p:spPr>
            <a:xfrm flipH="false" flipV="false" rot="0">
              <a:off x="0" y="0"/>
              <a:ext cx="2752159" cy="5122431"/>
            </a:xfrm>
            <a:custGeom>
              <a:avLst/>
              <a:gdLst/>
              <a:ahLst/>
              <a:cxnLst/>
              <a:rect r="r" b="b" t="t" l="l"/>
              <a:pathLst>
                <a:path h="5122431" w="2752159">
                  <a:moveTo>
                    <a:pt x="0" y="0"/>
                  </a:moveTo>
                  <a:lnTo>
                    <a:pt x="2752159" y="0"/>
                  </a:lnTo>
                  <a:lnTo>
                    <a:pt x="2752159" y="5122431"/>
                  </a:lnTo>
                  <a:lnTo>
                    <a:pt x="0" y="5122431"/>
                  </a:lnTo>
                  <a:close/>
                </a:path>
              </a:pathLst>
            </a:custGeom>
            <a:solidFill>
              <a:srgbClr val="F1F1F1"/>
            </a:solidFill>
          </p:spPr>
        </p:sp>
      </p:grpSp>
      <p:grpSp>
        <p:nvGrpSpPr>
          <p:cNvPr name="Group 4" id="4"/>
          <p:cNvGrpSpPr/>
          <p:nvPr/>
        </p:nvGrpSpPr>
        <p:grpSpPr>
          <a:xfrm rot="0">
            <a:off x="14460530" y="1028700"/>
            <a:ext cx="3554851" cy="6714238"/>
            <a:chOff x="0" y="0"/>
            <a:chExt cx="2712069" cy="5122431"/>
          </a:xfrm>
        </p:grpSpPr>
        <p:sp>
          <p:nvSpPr>
            <p:cNvPr name="Freeform 5" id="5"/>
            <p:cNvSpPr/>
            <p:nvPr/>
          </p:nvSpPr>
          <p:spPr>
            <a:xfrm flipH="false" flipV="false" rot="0">
              <a:off x="0" y="0"/>
              <a:ext cx="2712070" cy="5122431"/>
            </a:xfrm>
            <a:custGeom>
              <a:avLst/>
              <a:gdLst/>
              <a:ahLst/>
              <a:cxnLst/>
              <a:rect r="r" b="b" t="t" l="l"/>
              <a:pathLst>
                <a:path h="5122431" w="2712070">
                  <a:moveTo>
                    <a:pt x="0" y="0"/>
                  </a:moveTo>
                  <a:lnTo>
                    <a:pt x="2712070" y="0"/>
                  </a:lnTo>
                  <a:lnTo>
                    <a:pt x="2712070" y="5122431"/>
                  </a:lnTo>
                  <a:lnTo>
                    <a:pt x="0" y="5122431"/>
                  </a:lnTo>
                  <a:close/>
                </a:path>
              </a:pathLst>
            </a:custGeom>
            <a:solidFill>
              <a:srgbClr val="F1F1F1"/>
            </a:solidFill>
          </p:spPr>
        </p:sp>
      </p:grpSp>
      <p:grpSp>
        <p:nvGrpSpPr>
          <p:cNvPr name="Group 6" id="6"/>
          <p:cNvGrpSpPr/>
          <p:nvPr/>
        </p:nvGrpSpPr>
        <p:grpSpPr>
          <a:xfrm rot="0">
            <a:off x="272619" y="7931636"/>
            <a:ext cx="8783965" cy="2093394"/>
            <a:chOff x="0" y="0"/>
            <a:chExt cx="3707150" cy="883488"/>
          </a:xfrm>
        </p:grpSpPr>
        <p:sp>
          <p:nvSpPr>
            <p:cNvPr name="Freeform 7" id="7"/>
            <p:cNvSpPr/>
            <p:nvPr/>
          </p:nvSpPr>
          <p:spPr>
            <a:xfrm flipH="false" flipV="false" rot="0">
              <a:off x="0" y="0"/>
              <a:ext cx="3707150" cy="883488"/>
            </a:xfrm>
            <a:custGeom>
              <a:avLst/>
              <a:gdLst/>
              <a:ahLst/>
              <a:cxnLst/>
              <a:rect r="r" b="b" t="t" l="l"/>
              <a:pathLst>
                <a:path h="883488" w="3707150">
                  <a:moveTo>
                    <a:pt x="0" y="0"/>
                  </a:moveTo>
                  <a:lnTo>
                    <a:pt x="3707150" y="0"/>
                  </a:lnTo>
                  <a:lnTo>
                    <a:pt x="3707150" y="883488"/>
                  </a:lnTo>
                  <a:lnTo>
                    <a:pt x="0" y="883488"/>
                  </a:lnTo>
                  <a:close/>
                </a:path>
              </a:pathLst>
            </a:custGeom>
            <a:solidFill>
              <a:srgbClr val="F1F1F1"/>
            </a:solidFill>
          </p:spPr>
        </p:sp>
      </p:grpSp>
      <p:grpSp>
        <p:nvGrpSpPr>
          <p:cNvPr name="Group 8" id="8"/>
          <p:cNvGrpSpPr/>
          <p:nvPr/>
        </p:nvGrpSpPr>
        <p:grpSpPr>
          <a:xfrm rot="0">
            <a:off x="9231417" y="7931636"/>
            <a:ext cx="8783965" cy="2093394"/>
            <a:chOff x="0" y="0"/>
            <a:chExt cx="3707150" cy="883488"/>
          </a:xfrm>
        </p:grpSpPr>
        <p:sp>
          <p:nvSpPr>
            <p:cNvPr name="Freeform 9" id="9"/>
            <p:cNvSpPr/>
            <p:nvPr/>
          </p:nvSpPr>
          <p:spPr>
            <a:xfrm flipH="false" flipV="false" rot="0">
              <a:off x="0" y="0"/>
              <a:ext cx="3707150" cy="883488"/>
            </a:xfrm>
            <a:custGeom>
              <a:avLst/>
              <a:gdLst/>
              <a:ahLst/>
              <a:cxnLst/>
              <a:rect r="r" b="b" t="t" l="l"/>
              <a:pathLst>
                <a:path h="883488" w="3707150">
                  <a:moveTo>
                    <a:pt x="0" y="0"/>
                  </a:moveTo>
                  <a:lnTo>
                    <a:pt x="3707150" y="0"/>
                  </a:lnTo>
                  <a:lnTo>
                    <a:pt x="3707150" y="883488"/>
                  </a:lnTo>
                  <a:lnTo>
                    <a:pt x="0" y="883488"/>
                  </a:lnTo>
                  <a:close/>
                </a:path>
              </a:pathLst>
            </a:custGeom>
            <a:solidFill>
              <a:srgbClr val="F1F1F1"/>
            </a:solidFill>
          </p:spPr>
        </p:sp>
      </p:grpSp>
      <p:grpSp>
        <p:nvGrpSpPr>
          <p:cNvPr name="Group 10" id="10"/>
          <p:cNvGrpSpPr/>
          <p:nvPr/>
        </p:nvGrpSpPr>
        <p:grpSpPr>
          <a:xfrm rot="0">
            <a:off x="11104803" y="1028700"/>
            <a:ext cx="3152519" cy="3326432"/>
            <a:chOff x="0" y="0"/>
            <a:chExt cx="2405122" cy="2537804"/>
          </a:xfrm>
        </p:grpSpPr>
        <p:sp>
          <p:nvSpPr>
            <p:cNvPr name="Freeform 11" id="11"/>
            <p:cNvSpPr/>
            <p:nvPr/>
          </p:nvSpPr>
          <p:spPr>
            <a:xfrm flipH="false" flipV="false" rot="0">
              <a:off x="0" y="0"/>
              <a:ext cx="2405122" cy="2537804"/>
            </a:xfrm>
            <a:custGeom>
              <a:avLst/>
              <a:gdLst/>
              <a:ahLst/>
              <a:cxnLst/>
              <a:rect r="r" b="b" t="t" l="l"/>
              <a:pathLst>
                <a:path h="2537804" w="2405122">
                  <a:moveTo>
                    <a:pt x="0" y="0"/>
                  </a:moveTo>
                  <a:lnTo>
                    <a:pt x="2405122" y="0"/>
                  </a:lnTo>
                  <a:lnTo>
                    <a:pt x="2405122" y="2537804"/>
                  </a:lnTo>
                  <a:lnTo>
                    <a:pt x="0" y="2537804"/>
                  </a:lnTo>
                  <a:close/>
                </a:path>
              </a:pathLst>
            </a:custGeom>
            <a:solidFill>
              <a:srgbClr val="F1F1F1"/>
            </a:solidFill>
          </p:spPr>
        </p:sp>
      </p:grpSp>
      <p:grpSp>
        <p:nvGrpSpPr>
          <p:cNvPr name="Group 12" id="12"/>
          <p:cNvGrpSpPr/>
          <p:nvPr/>
        </p:nvGrpSpPr>
        <p:grpSpPr>
          <a:xfrm rot="0">
            <a:off x="11104803" y="4482993"/>
            <a:ext cx="3152519" cy="3259945"/>
            <a:chOff x="0" y="0"/>
            <a:chExt cx="2405122" cy="2487080"/>
          </a:xfrm>
        </p:grpSpPr>
        <p:sp>
          <p:nvSpPr>
            <p:cNvPr name="Freeform 13" id="13"/>
            <p:cNvSpPr/>
            <p:nvPr/>
          </p:nvSpPr>
          <p:spPr>
            <a:xfrm flipH="false" flipV="false" rot="0">
              <a:off x="0" y="0"/>
              <a:ext cx="2405122" cy="2487080"/>
            </a:xfrm>
            <a:custGeom>
              <a:avLst/>
              <a:gdLst/>
              <a:ahLst/>
              <a:cxnLst/>
              <a:rect r="r" b="b" t="t" l="l"/>
              <a:pathLst>
                <a:path h="2487080" w="2405122">
                  <a:moveTo>
                    <a:pt x="0" y="0"/>
                  </a:moveTo>
                  <a:lnTo>
                    <a:pt x="2405122" y="0"/>
                  </a:lnTo>
                  <a:lnTo>
                    <a:pt x="2405122" y="2487080"/>
                  </a:lnTo>
                  <a:lnTo>
                    <a:pt x="0" y="2487080"/>
                  </a:lnTo>
                  <a:close/>
                </a:path>
              </a:pathLst>
            </a:custGeom>
            <a:solidFill>
              <a:srgbClr val="F1F1F1"/>
            </a:solidFill>
          </p:spPr>
        </p:sp>
      </p:grpSp>
      <p:grpSp>
        <p:nvGrpSpPr>
          <p:cNvPr name="Group 14" id="14"/>
          <p:cNvGrpSpPr/>
          <p:nvPr/>
        </p:nvGrpSpPr>
        <p:grpSpPr>
          <a:xfrm rot="0">
            <a:off x="7381033" y="1028700"/>
            <a:ext cx="3525935" cy="6714238"/>
            <a:chOff x="0" y="0"/>
            <a:chExt cx="2690009" cy="5122431"/>
          </a:xfrm>
        </p:grpSpPr>
        <p:sp>
          <p:nvSpPr>
            <p:cNvPr name="Freeform 15" id="15"/>
            <p:cNvSpPr/>
            <p:nvPr/>
          </p:nvSpPr>
          <p:spPr>
            <a:xfrm flipH="false" flipV="false" rot="0">
              <a:off x="0" y="0"/>
              <a:ext cx="2690009" cy="5122431"/>
            </a:xfrm>
            <a:custGeom>
              <a:avLst/>
              <a:gdLst/>
              <a:ahLst/>
              <a:cxnLst/>
              <a:rect r="r" b="b" t="t" l="l"/>
              <a:pathLst>
                <a:path h="5122431" w="2690009">
                  <a:moveTo>
                    <a:pt x="0" y="0"/>
                  </a:moveTo>
                  <a:lnTo>
                    <a:pt x="2690009" y="0"/>
                  </a:lnTo>
                  <a:lnTo>
                    <a:pt x="2690009" y="5122431"/>
                  </a:lnTo>
                  <a:lnTo>
                    <a:pt x="0" y="5122431"/>
                  </a:lnTo>
                  <a:close/>
                </a:path>
              </a:pathLst>
            </a:custGeom>
            <a:solidFill>
              <a:srgbClr val="F1F1F1"/>
            </a:solidFill>
          </p:spPr>
        </p:sp>
      </p:grpSp>
      <p:grpSp>
        <p:nvGrpSpPr>
          <p:cNvPr name="Group 16" id="16"/>
          <p:cNvGrpSpPr/>
          <p:nvPr/>
        </p:nvGrpSpPr>
        <p:grpSpPr>
          <a:xfrm rot="0">
            <a:off x="4030678" y="1028700"/>
            <a:ext cx="3152519" cy="3326432"/>
            <a:chOff x="0" y="0"/>
            <a:chExt cx="2405122" cy="2537804"/>
          </a:xfrm>
        </p:grpSpPr>
        <p:sp>
          <p:nvSpPr>
            <p:cNvPr name="Freeform 17" id="17"/>
            <p:cNvSpPr/>
            <p:nvPr/>
          </p:nvSpPr>
          <p:spPr>
            <a:xfrm flipH="false" flipV="false" rot="0">
              <a:off x="0" y="0"/>
              <a:ext cx="2405122" cy="2537804"/>
            </a:xfrm>
            <a:custGeom>
              <a:avLst/>
              <a:gdLst/>
              <a:ahLst/>
              <a:cxnLst/>
              <a:rect r="r" b="b" t="t" l="l"/>
              <a:pathLst>
                <a:path h="2537804" w="2405122">
                  <a:moveTo>
                    <a:pt x="0" y="0"/>
                  </a:moveTo>
                  <a:lnTo>
                    <a:pt x="2405122" y="0"/>
                  </a:lnTo>
                  <a:lnTo>
                    <a:pt x="2405122" y="2537804"/>
                  </a:lnTo>
                  <a:lnTo>
                    <a:pt x="0" y="2537804"/>
                  </a:lnTo>
                  <a:close/>
                </a:path>
              </a:pathLst>
            </a:custGeom>
            <a:solidFill>
              <a:srgbClr val="F1F1F1"/>
            </a:solidFill>
          </p:spPr>
        </p:sp>
      </p:grpSp>
      <p:grpSp>
        <p:nvGrpSpPr>
          <p:cNvPr name="Group 18" id="18"/>
          <p:cNvGrpSpPr/>
          <p:nvPr/>
        </p:nvGrpSpPr>
        <p:grpSpPr>
          <a:xfrm rot="0">
            <a:off x="4030678" y="4482993"/>
            <a:ext cx="3152519" cy="3259945"/>
            <a:chOff x="0" y="0"/>
            <a:chExt cx="2405122" cy="2487080"/>
          </a:xfrm>
        </p:grpSpPr>
        <p:sp>
          <p:nvSpPr>
            <p:cNvPr name="Freeform 19" id="19"/>
            <p:cNvSpPr/>
            <p:nvPr/>
          </p:nvSpPr>
          <p:spPr>
            <a:xfrm flipH="false" flipV="false" rot="0">
              <a:off x="0" y="0"/>
              <a:ext cx="2405122" cy="2487080"/>
            </a:xfrm>
            <a:custGeom>
              <a:avLst/>
              <a:gdLst/>
              <a:ahLst/>
              <a:cxnLst/>
              <a:rect r="r" b="b" t="t" l="l"/>
              <a:pathLst>
                <a:path h="2487080" w="2405122">
                  <a:moveTo>
                    <a:pt x="0" y="0"/>
                  </a:moveTo>
                  <a:lnTo>
                    <a:pt x="2405122" y="0"/>
                  </a:lnTo>
                  <a:lnTo>
                    <a:pt x="2405122" y="2487080"/>
                  </a:lnTo>
                  <a:lnTo>
                    <a:pt x="0" y="2487080"/>
                  </a:lnTo>
                  <a:close/>
                </a:path>
              </a:pathLst>
            </a:custGeom>
            <a:solidFill>
              <a:srgbClr val="F1F1F1"/>
            </a:solidFill>
          </p:spPr>
        </p:sp>
      </p:grpSp>
      <p:sp>
        <p:nvSpPr>
          <p:cNvPr name="Freeform 20" id="20"/>
          <p:cNvSpPr/>
          <p:nvPr/>
        </p:nvSpPr>
        <p:spPr>
          <a:xfrm flipH="false" flipV="false" rot="0">
            <a:off x="427914" y="1309955"/>
            <a:ext cx="589650" cy="459190"/>
          </a:xfrm>
          <a:custGeom>
            <a:avLst/>
            <a:gdLst/>
            <a:ahLst/>
            <a:cxnLst/>
            <a:rect r="r" b="b" t="t" l="l"/>
            <a:pathLst>
              <a:path h="459190" w="589650">
                <a:moveTo>
                  <a:pt x="0" y="0"/>
                </a:moveTo>
                <a:lnTo>
                  <a:pt x="589650" y="0"/>
                </a:lnTo>
                <a:lnTo>
                  <a:pt x="589650" y="459189"/>
                </a:lnTo>
                <a:lnTo>
                  <a:pt x="0" y="4591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1" id="21"/>
          <p:cNvSpPr/>
          <p:nvPr/>
        </p:nvSpPr>
        <p:spPr>
          <a:xfrm flipH="false" flipV="false" rot="0">
            <a:off x="11267542" y="1344276"/>
            <a:ext cx="403625" cy="424869"/>
          </a:xfrm>
          <a:custGeom>
            <a:avLst/>
            <a:gdLst/>
            <a:ahLst/>
            <a:cxnLst/>
            <a:rect r="r" b="b" t="t" l="l"/>
            <a:pathLst>
              <a:path h="424869" w="403625">
                <a:moveTo>
                  <a:pt x="0" y="0"/>
                </a:moveTo>
                <a:lnTo>
                  <a:pt x="403625" y="0"/>
                </a:lnTo>
                <a:lnTo>
                  <a:pt x="403625" y="424868"/>
                </a:lnTo>
                <a:lnTo>
                  <a:pt x="0" y="42486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4201461" y="1417056"/>
            <a:ext cx="508576" cy="545390"/>
          </a:xfrm>
          <a:custGeom>
            <a:avLst/>
            <a:gdLst/>
            <a:ahLst/>
            <a:cxnLst/>
            <a:rect r="r" b="b" t="t" l="l"/>
            <a:pathLst>
              <a:path h="545390" w="508576">
                <a:moveTo>
                  <a:pt x="0" y="0"/>
                </a:moveTo>
                <a:lnTo>
                  <a:pt x="508576" y="0"/>
                </a:lnTo>
                <a:lnTo>
                  <a:pt x="508576" y="545390"/>
                </a:lnTo>
                <a:lnTo>
                  <a:pt x="0" y="54539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false" flipV="false" rot="0">
            <a:off x="4201461" y="4669457"/>
            <a:ext cx="482231" cy="576659"/>
          </a:xfrm>
          <a:custGeom>
            <a:avLst/>
            <a:gdLst/>
            <a:ahLst/>
            <a:cxnLst/>
            <a:rect r="r" b="b" t="t" l="l"/>
            <a:pathLst>
              <a:path h="576659" w="482231">
                <a:moveTo>
                  <a:pt x="0" y="0"/>
                </a:moveTo>
                <a:lnTo>
                  <a:pt x="482231" y="0"/>
                </a:lnTo>
                <a:lnTo>
                  <a:pt x="482231" y="576659"/>
                </a:lnTo>
                <a:lnTo>
                  <a:pt x="0" y="57665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4" id="24"/>
          <p:cNvSpPr/>
          <p:nvPr/>
        </p:nvSpPr>
        <p:spPr>
          <a:xfrm flipH="false" flipV="false" rot="0">
            <a:off x="7507047" y="1394112"/>
            <a:ext cx="565476" cy="511285"/>
          </a:xfrm>
          <a:custGeom>
            <a:avLst/>
            <a:gdLst/>
            <a:ahLst/>
            <a:cxnLst/>
            <a:rect r="r" b="b" t="t" l="l"/>
            <a:pathLst>
              <a:path h="511285" w="565476">
                <a:moveTo>
                  <a:pt x="0" y="0"/>
                </a:moveTo>
                <a:lnTo>
                  <a:pt x="565476" y="0"/>
                </a:lnTo>
                <a:lnTo>
                  <a:pt x="565476" y="511285"/>
                </a:lnTo>
                <a:lnTo>
                  <a:pt x="0" y="51128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5" id="25"/>
          <p:cNvSpPr/>
          <p:nvPr/>
        </p:nvSpPr>
        <p:spPr>
          <a:xfrm flipH="false" flipV="false" rot="0">
            <a:off x="11313052" y="4710904"/>
            <a:ext cx="547657" cy="422381"/>
          </a:xfrm>
          <a:custGeom>
            <a:avLst/>
            <a:gdLst/>
            <a:ahLst/>
            <a:cxnLst/>
            <a:rect r="r" b="b" t="t" l="l"/>
            <a:pathLst>
              <a:path h="422381" w="547657">
                <a:moveTo>
                  <a:pt x="0" y="0"/>
                </a:moveTo>
                <a:lnTo>
                  <a:pt x="547657" y="0"/>
                </a:lnTo>
                <a:lnTo>
                  <a:pt x="547657" y="422380"/>
                </a:lnTo>
                <a:lnTo>
                  <a:pt x="0" y="42238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6" id="26"/>
          <p:cNvSpPr/>
          <p:nvPr/>
        </p:nvSpPr>
        <p:spPr>
          <a:xfrm flipH="false" flipV="false" rot="0">
            <a:off x="14663406" y="1271550"/>
            <a:ext cx="480784" cy="608587"/>
          </a:xfrm>
          <a:custGeom>
            <a:avLst/>
            <a:gdLst/>
            <a:ahLst/>
            <a:cxnLst/>
            <a:rect r="r" b="b" t="t" l="l"/>
            <a:pathLst>
              <a:path h="608587" w="480784">
                <a:moveTo>
                  <a:pt x="0" y="0"/>
                </a:moveTo>
                <a:lnTo>
                  <a:pt x="480784" y="0"/>
                </a:lnTo>
                <a:lnTo>
                  <a:pt x="480784" y="608587"/>
                </a:lnTo>
                <a:lnTo>
                  <a:pt x="0" y="60858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7" id="27"/>
          <p:cNvSpPr/>
          <p:nvPr/>
        </p:nvSpPr>
        <p:spPr>
          <a:xfrm flipH="false" flipV="false" rot="0">
            <a:off x="9388987" y="8099215"/>
            <a:ext cx="385902" cy="518859"/>
          </a:xfrm>
          <a:custGeom>
            <a:avLst/>
            <a:gdLst/>
            <a:ahLst/>
            <a:cxnLst/>
            <a:rect r="r" b="b" t="t" l="l"/>
            <a:pathLst>
              <a:path h="518859" w="385902">
                <a:moveTo>
                  <a:pt x="0" y="0"/>
                </a:moveTo>
                <a:lnTo>
                  <a:pt x="385901" y="0"/>
                </a:lnTo>
                <a:lnTo>
                  <a:pt x="385901" y="518860"/>
                </a:lnTo>
                <a:lnTo>
                  <a:pt x="0" y="51886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8" id="28"/>
          <p:cNvSpPr/>
          <p:nvPr/>
        </p:nvSpPr>
        <p:spPr>
          <a:xfrm flipH="false" flipV="false" rot="0">
            <a:off x="357675" y="8193053"/>
            <a:ext cx="507489" cy="425022"/>
          </a:xfrm>
          <a:custGeom>
            <a:avLst/>
            <a:gdLst/>
            <a:ahLst/>
            <a:cxnLst/>
            <a:rect r="r" b="b" t="t" l="l"/>
            <a:pathLst>
              <a:path h="425022" w="507489">
                <a:moveTo>
                  <a:pt x="0" y="0"/>
                </a:moveTo>
                <a:lnTo>
                  <a:pt x="507489" y="0"/>
                </a:lnTo>
                <a:lnTo>
                  <a:pt x="507489" y="425022"/>
                </a:lnTo>
                <a:lnTo>
                  <a:pt x="0" y="425022"/>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29" id="29"/>
          <p:cNvSpPr txBox="true"/>
          <p:nvPr/>
        </p:nvSpPr>
        <p:spPr>
          <a:xfrm rot="0">
            <a:off x="0" y="232173"/>
            <a:ext cx="18288000" cy="529827"/>
          </a:xfrm>
          <a:prstGeom prst="rect">
            <a:avLst/>
          </a:prstGeom>
        </p:spPr>
        <p:txBody>
          <a:bodyPr anchor="t" rtlCol="false" tIns="0" lIns="0" bIns="0" rIns="0">
            <a:spAutoFit/>
          </a:bodyPr>
          <a:lstStyle/>
          <a:p>
            <a:pPr algn="ctr">
              <a:lnSpc>
                <a:spcPts val="4396"/>
              </a:lnSpc>
            </a:pPr>
            <a:r>
              <a:rPr lang="en-US" b="true" sz="3140">
                <a:solidFill>
                  <a:srgbClr val="FFFFFF"/>
                </a:solidFill>
                <a:latin typeface="Open Sans Bold"/>
                <a:ea typeface="Open Sans Bold"/>
                <a:cs typeface="Open Sans Bold"/>
                <a:sym typeface="Open Sans Bold"/>
              </a:rPr>
              <a:t>MODELO CANVAS</a:t>
            </a:r>
          </a:p>
        </p:txBody>
      </p:sp>
      <p:sp>
        <p:nvSpPr>
          <p:cNvPr name="TextBox 30" id="30"/>
          <p:cNvSpPr txBox="true"/>
          <p:nvPr/>
        </p:nvSpPr>
        <p:spPr>
          <a:xfrm rot="0">
            <a:off x="9928363" y="8070640"/>
            <a:ext cx="7863181" cy="233611"/>
          </a:xfrm>
          <a:prstGeom prst="rect">
            <a:avLst/>
          </a:prstGeom>
        </p:spPr>
        <p:txBody>
          <a:bodyPr anchor="t" rtlCol="false" tIns="0" lIns="0" bIns="0" rIns="0">
            <a:spAutoFit/>
          </a:bodyPr>
          <a:lstStyle/>
          <a:p>
            <a:pPr algn="l">
              <a:lnSpc>
                <a:spcPts val="1898"/>
              </a:lnSpc>
            </a:pPr>
            <a:r>
              <a:rPr lang="en-US" sz="1356" b="true">
                <a:solidFill>
                  <a:srgbClr val="2B3825"/>
                </a:solidFill>
                <a:latin typeface="Open Sans Bold"/>
                <a:ea typeface="Open Sans Bold"/>
                <a:cs typeface="Open Sans Bold"/>
                <a:sym typeface="Open Sans Bold"/>
              </a:rPr>
              <a:t>Fuente de Ingresos</a:t>
            </a:r>
          </a:p>
        </p:txBody>
      </p:sp>
      <p:sp>
        <p:nvSpPr>
          <p:cNvPr name="TextBox 31" id="31"/>
          <p:cNvSpPr txBox="true"/>
          <p:nvPr/>
        </p:nvSpPr>
        <p:spPr>
          <a:xfrm rot="0">
            <a:off x="1017564" y="8101878"/>
            <a:ext cx="7947162" cy="233611"/>
          </a:xfrm>
          <a:prstGeom prst="rect">
            <a:avLst/>
          </a:prstGeom>
        </p:spPr>
        <p:txBody>
          <a:bodyPr anchor="t" rtlCol="false" tIns="0" lIns="0" bIns="0" rIns="0">
            <a:spAutoFit/>
          </a:bodyPr>
          <a:lstStyle/>
          <a:p>
            <a:pPr algn="l">
              <a:lnSpc>
                <a:spcPts val="1898"/>
              </a:lnSpc>
            </a:pPr>
            <a:r>
              <a:rPr lang="en-US" sz="1356" b="true">
                <a:solidFill>
                  <a:srgbClr val="2B3825"/>
                </a:solidFill>
                <a:latin typeface="Open Sans Bold"/>
                <a:ea typeface="Open Sans Bold"/>
                <a:cs typeface="Open Sans Bold"/>
                <a:sym typeface="Open Sans Bold"/>
              </a:rPr>
              <a:t>Estructura de Costos</a:t>
            </a:r>
          </a:p>
        </p:txBody>
      </p:sp>
      <p:sp>
        <p:nvSpPr>
          <p:cNvPr name="TextBox 32" id="32"/>
          <p:cNvSpPr txBox="true"/>
          <p:nvPr/>
        </p:nvSpPr>
        <p:spPr>
          <a:xfrm rot="0">
            <a:off x="4862437" y="4614486"/>
            <a:ext cx="2145938" cy="233611"/>
          </a:xfrm>
          <a:prstGeom prst="rect">
            <a:avLst/>
          </a:prstGeom>
        </p:spPr>
        <p:txBody>
          <a:bodyPr anchor="t" rtlCol="false" tIns="0" lIns="0" bIns="0" rIns="0">
            <a:spAutoFit/>
          </a:bodyPr>
          <a:lstStyle/>
          <a:p>
            <a:pPr algn="l">
              <a:lnSpc>
                <a:spcPts val="1898"/>
              </a:lnSpc>
            </a:pPr>
            <a:r>
              <a:rPr lang="en-US" sz="1356" b="true">
                <a:solidFill>
                  <a:srgbClr val="2B3825"/>
                </a:solidFill>
                <a:latin typeface="Open Sans Bold"/>
                <a:ea typeface="Open Sans Bold"/>
                <a:cs typeface="Open Sans Bold"/>
                <a:sym typeface="Open Sans Bold"/>
              </a:rPr>
              <a:t>Recursos Clave</a:t>
            </a:r>
          </a:p>
        </p:txBody>
      </p:sp>
      <p:sp>
        <p:nvSpPr>
          <p:cNvPr name="TextBox 33" id="33"/>
          <p:cNvSpPr txBox="true"/>
          <p:nvPr/>
        </p:nvSpPr>
        <p:spPr>
          <a:xfrm rot="0">
            <a:off x="517379" y="1918277"/>
            <a:ext cx="3103724" cy="2380566"/>
          </a:xfrm>
          <a:prstGeom prst="rect">
            <a:avLst/>
          </a:prstGeom>
        </p:spPr>
        <p:txBody>
          <a:bodyPr anchor="t" rtlCol="false" tIns="0" lIns="0" bIns="0" rIns="0">
            <a:spAutoFit/>
          </a:bodyPr>
          <a:lstStyle/>
          <a:p>
            <a:pPr algn="l" marL="491588" indent="-245794" lvl="1">
              <a:lnSpc>
                <a:spcPts val="3187"/>
              </a:lnSpc>
              <a:buFont typeface="Arial"/>
              <a:buChar char="•"/>
            </a:pPr>
            <a:r>
              <a:rPr lang="en-US" sz="2276">
                <a:solidFill>
                  <a:srgbClr val="2B3825"/>
                </a:solidFill>
                <a:latin typeface="Open Sans"/>
                <a:ea typeface="Open Sans"/>
                <a:cs typeface="Open Sans"/>
                <a:sym typeface="Open Sans"/>
              </a:rPr>
              <a:t>Cliente (Dueño de la Pyme)</a:t>
            </a:r>
          </a:p>
          <a:p>
            <a:pPr algn="l" marL="491588" indent="-245794" lvl="1">
              <a:lnSpc>
                <a:spcPts val="3187"/>
              </a:lnSpc>
              <a:buFont typeface="Arial"/>
              <a:buChar char="•"/>
            </a:pPr>
            <a:r>
              <a:rPr lang="en-US" sz="2276">
                <a:solidFill>
                  <a:srgbClr val="2B3825"/>
                </a:solidFill>
                <a:latin typeface="Open Sans"/>
                <a:ea typeface="Open Sans"/>
                <a:cs typeface="Open Sans"/>
                <a:sym typeface="Open Sans"/>
              </a:rPr>
              <a:t>Proveedor cloud: DigitalOcean</a:t>
            </a:r>
          </a:p>
          <a:p>
            <a:pPr algn="l" marL="491588" indent="-245794" lvl="1">
              <a:lnSpc>
                <a:spcPts val="3187"/>
              </a:lnSpc>
              <a:buFont typeface="Arial"/>
              <a:buChar char="•"/>
            </a:pPr>
            <a:r>
              <a:rPr lang="en-US" sz="2276">
                <a:solidFill>
                  <a:srgbClr val="2B3825"/>
                </a:solidFill>
                <a:latin typeface="Open Sans"/>
                <a:ea typeface="Open Sans"/>
                <a:cs typeface="Open Sans"/>
                <a:sym typeface="Open Sans"/>
              </a:rPr>
              <a:t>Equipo de proyecto</a:t>
            </a:r>
          </a:p>
        </p:txBody>
      </p:sp>
      <p:sp>
        <p:nvSpPr>
          <p:cNvPr name="TextBox 34" id="34"/>
          <p:cNvSpPr txBox="true"/>
          <p:nvPr/>
        </p:nvSpPr>
        <p:spPr>
          <a:xfrm rot="0">
            <a:off x="533384" y="8760950"/>
            <a:ext cx="8353306" cy="744806"/>
          </a:xfrm>
          <a:prstGeom prst="rect">
            <a:avLst/>
          </a:prstGeom>
        </p:spPr>
        <p:txBody>
          <a:bodyPr anchor="t" rtlCol="false" tIns="0" lIns="0" bIns="0" rIns="0">
            <a:spAutoFit/>
          </a:bodyPr>
          <a:lstStyle/>
          <a:p>
            <a:pPr algn="l" marL="469997" indent="-234999" lvl="1">
              <a:lnSpc>
                <a:spcPts val="3047"/>
              </a:lnSpc>
              <a:buFont typeface="Arial"/>
              <a:buChar char="•"/>
            </a:pPr>
            <a:r>
              <a:rPr lang="en-US" sz="2176">
                <a:solidFill>
                  <a:srgbClr val="2B3825"/>
                </a:solidFill>
                <a:latin typeface="Open Sans"/>
                <a:ea typeface="Open Sans"/>
                <a:cs typeface="Open Sans"/>
                <a:sym typeface="Open Sans"/>
              </a:rPr>
              <a:t>Total de desarrollo inicial estimado: $5.147.164</a:t>
            </a:r>
          </a:p>
          <a:p>
            <a:pPr algn="l" marL="469997" indent="-234999" lvl="1">
              <a:lnSpc>
                <a:spcPts val="3047"/>
              </a:lnSpc>
              <a:buFont typeface="Arial"/>
              <a:buChar char="•"/>
            </a:pPr>
            <a:r>
              <a:rPr lang="en-US" sz="2176">
                <a:solidFill>
                  <a:srgbClr val="2B3825"/>
                </a:solidFill>
                <a:latin typeface="Open Sans"/>
                <a:ea typeface="Open Sans"/>
                <a:cs typeface="Open Sans"/>
                <a:sym typeface="Open Sans"/>
              </a:rPr>
              <a:t>Total Mantención Mensual: $47.164</a:t>
            </a:r>
          </a:p>
        </p:txBody>
      </p:sp>
      <p:sp>
        <p:nvSpPr>
          <p:cNvPr name="TextBox 35" id="35"/>
          <p:cNvSpPr txBox="true"/>
          <p:nvPr/>
        </p:nvSpPr>
        <p:spPr>
          <a:xfrm rot="0">
            <a:off x="9534706" y="8698176"/>
            <a:ext cx="8256838" cy="1181052"/>
          </a:xfrm>
          <a:prstGeom prst="rect">
            <a:avLst/>
          </a:prstGeom>
        </p:spPr>
        <p:txBody>
          <a:bodyPr anchor="t" rtlCol="false" tIns="0" lIns="0" bIns="0" rIns="0">
            <a:spAutoFit/>
          </a:bodyPr>
          <a:lstStyle/>
          <a:p>
            <a:pPr algn="l" marL="729072" indent="-364536" lvl="1">
              <a:lnSpc>
                <a:spcPts val="4727"/>
              </a:lnSpc>
              <a:buFont typeface="Arial"/>
              <a:buChar char="•"/>
            </a:pPr>
            <a:r>
              <a:rPr lang="en-US" sz="3376">
                <a:solidFill>
                  <a:srgbClr val="2B3825"/>
                </a:solidFill>
                <a:latin typeface="Open Sans"/>
                <a:ea typeface="Open Sans"/>
                <a:cs typeface="Open Sans"/>
                <a:sym typeface="Open Sans"/>
              </a:rPr>
              <a:t>Arriendo del Servicio para el derecho a uso del sistema</a:t>
            </a:r>
          </a:p>
        </p:txBody>
      </p:sp>
      <p:sp>
        <p:nvSpPr>
          <p:cNvPr name="TextBox 36" id="36"/>
          <p:cNvSpPr txBox="true"/>
          <p:nvPr/>
        </p:nvSpPr>
        <p:spPr>
          <a:xfrm rot="0">
            <a:off x="4182217" y="2019877"/>
            <a:ext cx="2789240" cy="2186891"/>
          </a:xfrm>
          <a:prstGeom prst="rect">
            <a:avLst/>
          </a:prstGeom>
        </p:spPr>
        <p:txBody>
          <a:bodyPr anchor="t" rtlCol="false" tIns="0" lIns="0" bIns="0" rIns="0">
            <a:spAutoFit/>
          </a:bodyPr>
          <a:lstStyle/>
          <a:p>
            <a:pPr algn="l" marL="275692" indent="-137846" lvl="1">
              <a:lnSpc>
                <a:spcPts val="1787"/>
              </a:lnSpc>
              <a:buFont typeface="Arial"/>
              <a:buChar char="•"/>
            </a:pPr>
            <a:r>
              <a:rPr lang="en-US" sz="1276">
                <a:solidFill>
                  <a:srgbClr val="2B3825"/>
                </a:solidFill>
                <a:latin typeface="Open Sans"/>
                <a:ea typeface="Open Sans"/>
                <a:cs typeface="Open Sans"/>
                <a:sym typeface="Open Sans"/>
              </a:rPr>
              <a:t>Levantamiento de requerimientos</a:t>
            </a:r>
          </a:p>
          <a:p>
            <a:pPr algn="l" marL="275692" indent="-137846" lvl="1">
              <a:lnSpc>
                <a:spcPts val="1787"/>
              </a:lnSpc>
              <a:buFont typeface="Arial"/>
              <a:buChar char="•"/>
            </a:pPr>
            <a:r>
              <a:rPr lang="en-US" sz="1276">
                <a:solidFill>
                  <a:srgbClr val="2B3825"/>
                </a:solidFill>
                <a:latin typeface="Open Sans"/>
                <a:ea typeface="Open Sans"/>
                <a:cs typeface="Open Sans"/>
                <a:sym typeface="Open Sans"/>
              </a:rPr>
              <a:t>Definición y planificación del proyecto</a:t>
            </a:r>
          </a:p>
          <a:p>
            <a:pPr algn="l" marL="275692" indent="-137846" lvl="1">
              <a:lnSpc>
                <a:spcPts val="1787"/>
              </a:lnSpc>
              <a:buFont typeface="Arial"/>
              <a:buChar char="•"/>
            </a:pPr>
            <a:r>
              <a:rPr lang="en-US" sz="1276">
                <a:solidFill>
                  <a:srgbClr val="2B3825"/>
                </a:solidFill>
                <a:latin typeface="Open Sans"/>
                <a:ea typeface="Open Sans"/>
                <a:cs typeface="Open Sans"/>
                <a:sym typeface="Open Sans"/>
              </a:rPr>
              <a:t>Diseño UI/UX</a:t>
            </a:r>
          </a:p>
          <a:p>
            <a:pPr algn="l" marL="275692" indent="-137846" lvl="1">
              <a:lnSpc>
                <a:spcPts val="1787"/>
              </a:lnSpc>
              <a:buFont typeface="Arial"/>
              <a:buChar char="•"/>
            </a:pPr>
            <a:r>
              <a:rPr lang="en-US" sz="1276">
                <a:solidFill>
                  <a:srgbClr val="2B3825"/>
                </a:solidFill>
                <a:latin typeface="Open Sans"/>
                <a:ea typeface="Open Sans"/>
                <a:cs typeface="Open Sans"/>
                <a:sym typeface="Open Sans"/>
              </a:rPr>
              <a:t>Desarrollo del sitio web</a:t>
            </a:r>
          </a:p>
          <a:p>
            <a:pPr algn="l" marL="275692" indent="-137846" lvl="1">
              <a:lnSpc>
                <a:spcPts val="1787"/>
              </a:lnSpc>
              <a:buFont typeface="Arial"/>
              <a:buChar char="•"/>
            </a:pPr>
            <a:r>
              <a:rPr lang="en-US" sz="1276">
                <a:solidFill>
                  <a:srgbClr val="2B3825"/>
                </a:solidFill>
                <a:latin typeface="Open Sans"/>
                <a:ea typeface="Open Sans"/>
                <a:cs typeface="Open Sans"/>
                <a:sym typeface="Open Sans"/>
              </a:rPr>
              <a:t>Pruebas y validación</a:t>
            </a:r>
          </a:p>
          <a:p>
            <a:pPr algn="l" marL="275692" indent="-137846" lvl="1">
              <a:lnSpc>
                <a:spcPts val="1787"/>
              </a:lnSpc>
              <a:buFont typeface="Arial"/>
              <a:buChar char="•"/>
            </a:pPr>
            <a:r>
              <a:rPr lang="en-US" sz="1276">
                <a:solidFill>
                  <a:srgbClr val="2B3825"/>
                </a:solidFill>
                <a:latin typeface="Open Sans"/>
                <a:ea typeface="Open Sans"/>
                <a:cs typeface="Open Sans"/>
                <a:sym typeface="Open Sans"/>
              </a:rPr>
              <a:t>Implementación y capacitación</a:t>
            </a:r>
          </a:p>
          <a:p>
            <a:pPr algn="l" marL="275692" indent="-137846" lvl="1">
              <a:lnSpc>
                <a:spcPts val="1787"/>
              </a:lnSpc>
              <a:buFont typeface="Arial"/>
              <a:buChar char="•"/>
            </a:pPr>
            <a:r>
              <a:rPr lang="en-US" sz="1276">
                <a:solidFill>
                  <a:srgbClr val="2B3825"/>
                </a:solidFill>
                <a:latin typeface="Open Sans"/>
                <a:ea typeface="Open Sans"/>
                <a:cs typeface="Open Sans"/>
                <a:sym typeface="Open Sans"/>
              </a:rPr>
              <a:t>Soporte, mantenimiento y análisis de métricas</a:t>
            </a:r>
          </a:p>
        </p:txBody>
      </p:sp>
      <p:sp>
        <p:nvSpPr>
          <p:cNvPr name="TextBox 37" id="37"/>
          <p:cNvSpPr txBox="true"/>
          <p:nvPr/>
        </p:nvSpPr>
        <p:spPr>
          <a:xfrm rot="0">
            <a:off x="11289129" y="1933871"/>
            <a:ext cx="2789240" cy="2136726"/>
          </a:xfrm>
          <a:prstGeom prst="rect">
            <a:avLst/>
          </a:prstGeom>
        </p:spPr>
        <p:txBody>
          <a:bodyPr anchor="t" rtlCol="false" tIns="0" lIns="0" bIns="0" rIns="0">
            <a:spAutoFit/>
          </a:bodyPr>
          <a:lstStyle/>
          <a:p>
            <a:pPr algn="l" marL="297283" indent="-148641" lvl="1">
              <a:lnSpc>
                <a:spcPts val="1927"/>
              </a:lnSpc>
              <a:buFont typeface="Arial"/>
              <a:buChar char="•"/>
            </a:pPr>
            <a:r>
              <a:rPr lang="en-US" sz="1376">
                <a:solidFill>
                  <a:srgbClr val="2B3825"/>
                </a:solidFill>
                <a:latin typeface="Open Sans"/>
                <a:ea typeface="Open Sans"/>
                <a:cs typeface="Open Sans"/>
                <a:sym typeface="Open Sans"/>
              </a:rPr>
              <a:t>Atención personalizada mediante  redes sociales.</a:t>
            </a:r>
          </a:p>
          <a:p>
            <a:pPr algn="l" marL="297283" indent="-148641" lvl="1">
              <a:lnSpc>
                <a:spcPts val="1927"/>
              </a:lnSpc>
              <a:buFont typeface="Arial"/>
              <a:buChar char="•"/>
            </a:pPr>
            <a:r>
              <a:rPr lang="en-US" sz="1376">
                <a:solidFill>
                  <a:srgbClr val="2B3825"/>
                </a:solidFill>
                <a:latin typeface="Open Sans"/>
                <a:ea typeface="Open Sans"/>
                <a:cs typeface="Open Sans"/>
                <a:sym typeface="Open Sans"/>
              </a:rPr>
              <a:t>Comunicación automatizada (confirmaciones, seguimiento de pedidos, recomendaciones).</a:t>
            </a:r>
          </a:p>
          <a:p>
            <a:pPr algn="l" marL="297283" indent="-148641" lvl="1">
              <a:lnSpc>
                <a:spcPts val="1927"/>
              </a:lnSpc>
              <a:buFont typeface="Arial"/>
              <a:buChar char="•"/>
            </a:pPr>
            <a:r>
              <a:rPr lang="en-US" sz="1376">
                <a:solidFill>
                  <a:srgbClr val="2B3825"/>
                </a:solidFill>
                <a:latin typeface="Open Sans"/>
                <a:ea typeface="Open Sans"/>
                <a:cs typeface="Open Sans"/>
                <a:sym typeface="Open Sans"/>
              </a:rPr>
              <a:t>Servicio postventa y soporte rápido en línea.</a:t>
            </a:r>
          </a:p>
          <a:p>
            <a:pPr algn="l">
              <a:lnSpc>
                <a:spcPts val="1927"/>
              </a:lnSpc>
            </a:pPr>
          </a:p>
        </p:txBody>
      </p:sp>
      <p:sp>
        <p:nvSpPr>
          <p:cNvPr name="TextBox 38" id="38"/>
          <p:cNvSpPr txBox="true"/>
          <p:nvPr/>
        </p:nvSpPr>
        <p:spPr>
          <a:xfrm rot="0">
            <a:off x="11289129" y="5263446"/>
            <a:ext cx="2789240" cy="2277696"/>
          </a:xfrm>
          <a:prstGeom prst="rect">
            <a:avLst/>
          </a:prstGeom>
        </p:spPr>
        <p:txBody>
          <a:bodyPr anchor="t" rtlCol="false" tIns="0" lIns="0" bIns="0" rIns="0">
            <a:spAutoFit/>
          </a:bodyPr>
          <a:lstStyle/>
          <a:p>
            <a:pPr algn="l" marL="556356" indent="-278178" lvl="1">
              <a:lnSpc>
                <a:spcPts val="3607"/>
              </a:lnSpc>
              <a:buFont typeface="Arial"/>
              <a:buChar char="•"/>
            </a:pPr>
            <a:r>
              <a:rPr lang="en-US" sz="2576">
                <a:solidFill>
                  <a:srgbClr val="2B3825"/>
                </a:solidFill>
                <a:latin typeface="Open Sans"/>
                <a:ea typeface="Open Sans"/>
                <a:cs typeface="Open Sans"/>
                <a:sym typeface="Open Sans"/>
              </a:rPr>
              <a:t>Correo electrónico</a:t>
            </a:r>
          </a:p>
          <a:p>
            <a:pPr algn="l" marL="556356" indent="-278178" lvl="1">
              <a:lnSpc>
                <a:spcPts val="3607"/>
              </a:lnSpc>
              <a:buFont typeface="Arial"/>
              <a:buChar char="•"/>
            </a:pPr>
            <a:r>
              <a:rPr lang="en-US" sz="2576">
                <a:solidFill>
                  <a:srgbClr val="2B3825"/>
                </a:solidFill>
                <a:latin typeface="Open Sans"/>
                <a:ea typeface="Open Sans"/>
                <a:cs typeface="Open Sans"/>
                <a:sym typeface="Open Sans"/>
              </a:rPr>
              <a:t>Facebook</a:t>
            </a:r>
          </a:p>
          <a:p>
            <a:pPr algn="l" marL="556356" indent="-278178" lvl="1">
              <a:lnSpc>
                <a:spcPts val="3607"/>
              </a:lnSpc>
              <a:buFont typeface="Arial"/>
              <a:buChar char="•"/>
            </a:pPr>
            <a:r>
              <a:rPr lang="en-US" sz="2576">
                <a:solidFill>
                  <a:srgbClr val="2B3825"/>
                </a:solidFill>
                <a:latin typeface="Open Sans"/>
                <a:ea typeface="Open Sans"/>
                <a:cs typeface="Open Sans"/>
                <a:sym typeface="Open Sans"/>
              </a:rPr>
              <a:t>Instagram</a:t>
            </a:r>
          </a:p>
          <a:p>
            <a:pPr algn="l" marL="556356" indent="-278178" lvl="1">
              <a:lnSpc>
                <a:spcPts val="3607"/>
              </a:lnSpc>
              <a:buFont typeface="Arial"/>
              <a:buChar char="•"/>
            </a:pPr>
            <a:r>
              <a:rPr lang="en-US" sz="2576">
                <a:solidFill>
                  <a:srgbClr val="2B3825"/>
                </a:solidFill>
                <a:latin typeface="Open Sans"/>
                <a:ea typeface="Open Sans"/>
                <a:cs typeface="Open Sans"/>
                <a:sym typeface="Open Sans"/>
              </a:rPr>
              <a:t>Whatsapp</a:t>
            </a:r>
          </a:p>
        </p:txBody>
      </p:sp>
      <p:sp>
        <p:nvSpPr>
          <p:cNvPr name="TextBox 39" id="39"/>
          <p:cNvSpPr txBox="true"/>
          <p:nvPr/>
        </p:nvSpPr>
        <p:spPr>
          <a:xfrm rot="0">
            <a:off x="4219134" y="5333296"/>
            <a:ext cx="2789240" cy="2207846"/>
          </a:xfrm>
          <a:prstGeom prst="rect">
            <a:avLst/>
          </a:prstGeom>
        </p:spPr>
        <p:txBody>
          <a:bodyPr anchor="t" rtlCol="false" tIns="0" lIns="0" bIns="0" rIns="0">
            <a:spAutoFit/>
          </a:bodyPr>
          <a:lstStyle/>
          <a:p>
            <a:pPr algn="l" marL="340460" indent="-170230" lvl="1">
              <a:lnSpc>
                <a:spcPts val="2207"/>
              </a:lnSpc>
              <a:buFont typeface="Arial"/>
              <a:buChar char="•"/>
            </a:pPr>
            <a:r>
              <a:rPr lang="en-US" sz="1576">
                <a:solidFill>
                  <a:srgbClr val="2B3825"/>
                </a:solidFill>
                <a:latin typeface="Open Sans"/>
                <a:ea typeface="Open Sans"/>
                <a:cs typeface="Open Sans"/>
                <a:sym typeface="Open Sans"/>
              </a:rPr>
              <a:t>Plataforma cloud DigitalOcean</a:t>
            </a:r>
          </a:p>
          <a:p>
            <a:pPr algn="l" marL="340460" indent="-170230" lvl="1">
              <a:lnSpc>
                <a:spcPts val="2207"/>
              </a:lnSpc>
              <a:buFont typeface="Arial"/>
              <a:buChar char="•"/>
            </a:pPr>
            <a:r>
              <a:rPr lang="en-US" sz="1576">
                <a:solidFill>
                  <a:srgbClr val="2B3825"/>
                </a:solidFill>
                <a:latin typeface="Open Sans"/>
                <a:ea typeface="Open Sans"/>
                <a:cs typeface="Open Sans"/>
                <a:sym typeface="Open Sans"/>
              </a:rPr>
              <a:t>Base de datos de productos, clientes y ventas.</a:t>
            </a:r>
          </a:p>
          <a:p>
            <a:pPr algn="l" marL="340462" indent="-170231" lvl="1">
              <a:lnSpc>
                <a:spcPts val="2207"/>
              </a:lnSpc>
              <a:buFont typeface="Arial"/>
              <a:buChar char="•"/>
            </a:pPr>
            <a:r>
              <a:rPr lang="en-US" sz="1576">
                <a:solidFill>
                  <a:srgbClr val="2B3825"/>
                </a:solidFill>
                <a:latin typeface="Open Sans"/>
                <a:ea typeface="Open Sans"/>
                <a:cs typeface="Open Sans"/>
                <a:sym typeface="Open Sans"/>
              </a:rPr>
              <a:t>Personal técnico (desarrollo y administración).</a:t>
            </a:r>
          </a:p>
        </p:txBody>
      </p:sp>
      <p:sp>
        <p:nvSpPr>
          <p:cNvPr name="TextBox 40" id="40"/>
          <p:cNvSpPr txBox="true"/>
          <p:nvPr/>
        </p:nvSpPr>
        <p:spPr>
          <a:xfrm rot="0">
            <a:off x="7592772" y="2010352"/>
            <a:ext cx="3036756" cy="5034280"/>
          </a:xfrm>
          <a:prstGeom prst="rect">
            <a:avLst/>
          </a:prstGeom>
        </p:spPr>
        <p:txBody>
          <a:bodyPr anchor="t" rtlCol="false" tIns="0" lIns="0" bIns="0" rIns="0">
            <a:spAutoFit/>
          </a:bodyPr>
          <a:lstStyle/>
          <a:p>
            <a:pPr algn="l" marL="280668" indent="-140334" lvl="1">
              <a:lnSpc>
                <a:spcPts val="1819"/>
              </a:lnSpc>
              <a:buFont typeface="Arial"/>
              <a:buChar char="•"/>
            </a:pPr>
            <a:r>
              <a:rPr lang="en-US" sz="1299">
                <a:solidFill>
                  <a:srgbClr val="2B3825"/>
                </a:solidFill>
                <a:latin typeface="Open Sans"/>
                <a:ea typeface="Open Sans"/>
                <a:cs typeface="Open Sans"/>
                <a:sym typeface="Open Sans"/>
              </a:rPr>
              <a:t>Digitalización de los procesos operativos del negocio tanto externos cómo internos.</a:t>
            </a:r>
          </a:p>
          <a:p>
            <a:pPr algn="l" marL="280668" indent="-140334" lvl="1">
              <a:lnSpc>
                <a:spcPts val="1819"/>
              </a:lnSpc>
              <a:buFont typeface="Arial"/>
              <a:buChar char="•"/>
            </a:pPr>
            <a:r>
              <a:rPr lang="en-US" sz="1299">
                <a:solidFill>
                  <a:srgbClr val="2B3825"/>
                </a:solidFill>
                <a:latin typeface="Open Sans"/>
                <a:ea typeface="Open Sans"/>
                <a:cs typeface="Open Sans"/>
                <a:sym typeface="Open Sans"/>
              </a:rPr>
              <a:t>Plataforma e-commerce disponible 24/7 con catálogo actualizado, pagos seguros y gestión automatizada.</a:t>
            </a:r>
          </a:p>
          <a:p>
            <a:pPr algn="l" marL="280668" indent="-140334" lvl="1">
              <a:lnSpc>
                <a:spcPts val="1819"/>
              </a:lnSpc>
              <a:buFont typeface="Arial"/>
              <a:buChar char="•"/>
            </a:pPr>
            <a:r>
              <a:rPr lang="en-US" sz="1299">
                <a:solidFill>
                  <a:srgbClr val="2B3825"/>
                </a:solidFill>
                <a:latin typeface="Open Sans"/>
                <a:ea typeface="Open Sans"/>
                <a:cs typeface="Open Sans"/>
                <a:sym typeface="Open Sans"/>
              </a:rPr>
              <a:t>Experiencia de compra rápida, confiable y moderna para los clientes.</a:t>
            </a:r>
          </a:p>
          <a:p>
            <a:pPr algn="l" marL="280668" indent="-140334" lvl="1">
              <a:lnSpc>
                <a:spcPts val="1819"/>
              </a:lnSpc>
              <a:buFont typeface="Arial"/>
              <a:buChar char="•"/>
            </a:pPr>
            <a:r>
              <a:rPr lang="en-US" sz="1299">
                <a:solidFill>
                  <a:srgbClr val="2B3825"/>
                </a:solidFill>
                <a:latin typeface="Open Sans"/>
                <a:ea typeface="Open Sans"/>
                <a:cs typeface="Open Sans"/>
                <a:sym typeface="Open Sans"/>
              </a:rPr>
              <a:t>Panel administrativo que permite obtener reportes de ventas y tomar decisiones.</a:t>
            </a:r>
          </a:p>
          <a:p>
            <a:pPr algn="l" marL="280668" indent="-140334" lvl="1">
              <a:lnSpc>
                <a:spcPts val="1819"/>
              </a:lnSpc>
              <a:buFont typeface="Arial"/>
              <a:buChar char="•"/>
            </a:pPr>
            <a:r>
              <a:rPr lang="en-US" sz="1299">
                <a:solidFill>
                  <a:srgbClr val="2B3825"/>
                </a:solidFill>
                <a:latin typeface="Open Sans"/>
                <a:ea typeface="Open Sans"/>
                <a:cs typeface="Open Sans"/>
                <a:sym typeface="Open Sans"/>
              </a:rPr>
              <a:t> Asesoría continua, soporte técnico y capacitación al personal de Cordillera Pets, garantizando que comprendan y aprovechen todas las funciones del sistema.</a:t>
            </a:r>
          </a:p>
          <a:p>
            <a:pPr algn="l" marL="280668" indent="-140334" lvl="1">
              <a:lnSpc>
                <a:spcPts val="1819"/>
              </a:lnSpc>
              <a:buFont typeface="Arial"/>
              <a:buChar char="•"/>
            </a:pPr>
            <a:r>
              <a:rPr lang="en-US" sz="1299">
                <a:solidFill>
                  <a:srgbClr val="2B3825"/>
                </a:solidFill>
                <a:latin typeface="Open Sans"/>
                <a:ea typeface="Open Sans"/>
                <a:cs typeface="Open Sans"/>
                <a:sym typeface="Open Sans"/>
              </a:rPr>
              <a:t>Escalabilidad para el negocio (posibilidad de agregar módulos nuevos, sucursales, despacho con empresas externas, entre otros)</a:t>
            </a:r>
          </a:p>
        </p:txBody>
      </p:sp>
      <p:sp>
        <p:nvSpPr>
          <p:cNvPr name="TextBox 41" id="41"/>
          <p:cNvSpPr txBox="true"/>
          <p:nvPr/>
        </p:nvSpPr>
        <p:spPr>
          <a:xfrm rot="0">
            <a:off x="14733572" y="1991687"/>
            <a:ext cx="3036756" cy="4698316"/>
          </a:xfrm>
          <a:prstGeom prst="rect">
            <a:avLst/>
          </a:prstGeom>
        </p:spPr>
        <p:txBody>
          <a:bodyPr anchor="t" rtlCol="false" tIns="0" lIns="0" bIns="0" rIns="0">
            <a:spAutoFit/>
          </a:bodyPr>
          <a:lstStyle/>
          <a:p>
            <a:pPr algn="l" marL="383641" indent="-191820" lvl="1">
              <a:lnSpc>
                <a:spcPts val="2487"/>
              </a:lnSpc>
              <a:buFont typeface="Arial"/>
              <a:buChar char="•"/>
            </a:pPr>
            <a:r>
              <a:rPr lang="en-US" sz="1776">
                <a:solidFill>
                  <a:srgbClr val="2B3825"/>
                </a:solidFill>
                <a:latin typeface="Open Sans"/>
                <a:ea typeface="Open Sans"/>
                <a:cs typeface="Open Sans"/>
                <a:sym typeface="Open Sans"/>
              </a:rPr>
              <a:t>Dueños de mascotas que buscan productos de forma rápida y segura.</a:t>
            </a:r>
          </a:p>
          <a:p>
            <a:pPr algn="l" marL="383641" indent="-191820" lvl="1">
              <a:lnSpc>
                <a:spcPts val="2487"/>
              </a:lnSpc>
              <a:buFont typeface="Arial"/>
              <a:buChar char="•"/>
            </a:pPr>
            <a:r>
              <a:rPr lang="en-US" sz="1776">
                <a:solidFill>
                  <a:srgbClr val="2B3825"/>
                </a:solidFill>
                <a:latin typeface="Open Sans"/>
                <a:ea typeface="Open Sans"/>
                <a:cs typeface="Open Sans"/>
                <a:sym typeface="Open Sans"/>
              </a:rPr>
              <a:t>Clientes recurrentes que valoran la comodidad de comprar en línea.</a:t>
            </a:r>
          </a:p>
          <a:p>
            <a:pPr algn="l" marL="383641" indent="-191820" lvl="1">
              <a:lnSpc>
                <a:spcPts val="2487"/>
              </a:lnSpc>
              <a:buFont typeface="Arial"/>
              <a:buChar char="•"/>
            </a:pPr>
            <a:r>
              <a:rPr lang="en-US" sz="1776">
                <a:solidFill>
                  <a:srgbClr val="2B3825"/>
                </a:solidFill>
                <a:latin typeface="Open Sans"/>
                <a:ea typeface="Open Sans"/>
                <a:cs typeface="Open Sans"/>
                <a:sym typeface="Open Sans"/>
              </a:rPr>
              <a:t>Nuevos clientes atraídos por redes sociales y campañas digitales.</a:t>
            </a:r>
          </a:p>
          <a:p>
            <a:pPr algn="l" marL="383641" indent="-191820" lvl="1">
              <a:lnSpc>
                <a:spcPts val="2487"/>
              </a:lnSpc>
              <a:buFont typeface="Arial"/>
              <a:buChar char="•"/>
            </a:pPr>
            <a:r>
              <a:rPr lang="en-US" sz="1776">
                <a:solidFill>
                  <a:srgbClr val="2B3825"/>
                </a:solidFill>
                <a:latin typeface="Open Sans"/>
                <a:ea typeface="Open Sans"/>
                <a:cs typeface="Open Sans"/>
                <a:sym typeface="Open Sans"/>
              </a:rPr>
              <a:t>Personal interno que usa el panel administrativo para gestionar stock y ventas.</a:t>
            </a:r>
          </a:p>
          <a:p>
            <a:pPr algn="l">
              <a:lnSpc>
                <a:spcPts val="2487"/>
              </a:lnSpc>
            </a:pPr>
          </a:p>
        </p:txBody>
      </p:sp>
      <p:sp>
        <p:nvSpPr>
          <p:cNvPr name="TextBox 42" id="42"/>
          <p:cNvSpPr txBox="true"/>
          <p:nvPr/>
        </p:nvSpPr>
        <p:spPr>
          <a:xfrm rot="0">
            <a:off x="4862437" y="1268235"/>
            <a:ext cx="2310347" cy="233611"/>
          </a:xfrm>
          <a:prstGeom prst="rect">
            <a:avLst/>
          </a:prstGeom>
        </p:spPr>
        <p:txBody>
          <a:bodyPr anchor="t" rtlCol="false" tIns="0" lIns="0" bIns="0" rIns="0">
            <a:spAutoFit/>
          </a:bodyPr>
          <a:lstStyle/>
          <a:p>
            <a:pPr algn="l">
              <a:lnSpc>
                <a:spcPts val="1898"/>
              </a:lnSpc>
            </a:pPr>
            <a:r>
              <a:rPr lang="en-US" sz="1356" b="true">
                <a:solidFill>
                  <a:srgbClr val="2B3825"/>
                </a:solidFill>
                <a:latin typeface="Open Sans Bold"/>
                <a:ea typeface="Open Sans Bold"/>
                <a:cs typeface="Open Sans Bold"/>
                <a:sym typeface="Open Sans Bold"/>
              </a:rPr>
              <a:t>Actividades Clave</a:t>
            </a:r>
          </a:p>
        </p:txBody>
      </p:sp>
      <p:sp>
        <p:nvSpPr>
          <p:cNvPr name="TextBox 43" id="43"/>
          <p:cNvSpPr txBox="true"/>
          <p:nvPr/>
        </p:nvSpPr>
        <p:spPr>
          <a:xfrm rot="0">
            <a:off x="8214642" y="1268235"/>
            <a:ext cx="2734591" cy="233611"/>
          </a:xfrm>
          <a:prstGeom prst="rect">
            <a:avLst/>
          </a:prstGeom>
        </p:spPr>
        <p:txBody>
          <a:bodyPr anchor="t" rtlCol="false" tIns="0" lIns="0" bIns="0" rIns="0">
            <a:spAutoFit/>
          </a:bodyPr>
          <a:lstStyle/>
          <a:p>
            <a:pPr algn="l">
              <a:lnSpc>
                <a:spcPts val="1898"/>
              </a:lnSpc>
            </a:pPr>
            <a:r>
              <a:rPr lang="en-US" sz="1356" b="true">
                <a:solidFill>
                  <a:srgbClr val="2B3825"/>
                </a:solidFill>
                <a:latin typeface="Open Sans Bold"/>
                <a:ea typeface="Open Sans Bold"/>
                <a:cs typeface="Open Sans Bold"/>
                <a:sym typeface="Open Sans Bold"/>
              </a:rPr>
              <a:t>Propuesta de Valor</a:t>
            </a:r>
          </a:p>
        </p:txBody>
      </p:sp>
      <p:sp>
        <p:nvSpPr>
          <p:cNvPr name="TextBox 44" id="44"/>
          <p:cNvSpPr txBox="true"/>
          <p:nvPr/>
        </p:nvSpPr>
        <p:spPr>
          <a:xfrm rot="0">
            <a:off x="11865705" y="1311172"/>
            <a:ext cx="2391617" cy="233611"/>
          </a:xfrm>
          <a:prstGeom prst="rect">
            <a:avLst/>
          </a:prstGeom>
        </p:spPr>
        <p:txBody>
          <a:bodyPr anchor="t" rtlCol="false" tIns="0" lIns="0" bIns="0" rIns="0">
            <a:spAutoFit/>
          </a:bodyPr>
          <a:lstStyle/>
          <a:p>
            <a:pPr algn="l">
              <a:lnSpc>
                <a:spcPts val="1898"/>
              </a:lnSpc>
            </a:pPr>
            <a:r>
              <a:rPr lang="en-US" sz="1356" b="true">
                <a:solidFill>
                  <a:srgbClr val="2B3825"/>
                </a:solidFill>
                <a:latin typeface="Open Sans Bold"/>
                <a:ea typeface="Open Sans Bold"/>
                <a:cs typeface="Open Sans Bold"/>
                <a:sym typeface="Open Sans Bold"/>
              </a:rPr>
              <a:t>Relación con Clientes</a:t>
            </a:r>
          </a:p>
        </p:txBody>
      </p:sp>
      <p:sp>
        <p:nvSpPr>
          <p:cNvPr name="TextBox 45" id="45"/>
          <p:cNvSpPr txBox="true"/>
          <p:nvPr/>
        </p:nvSpPr>
        <p:spPr>
          <a:xfrm rot="0">
            <a:off x="12068913" y="4620944"/>
            <a:ext cx="2188409" cy="233611"/>
          </a:xfrm>
          <a:prstGeom prst="rect">
            <a:avLst/>
          </a:prstGeom>
        </p:spPr>
        <p:txBody>
          <a:bodyPr anchor="t" rtlCol="false" tIns="0" lIns="0" bIns="0" rIns="0">
            <a:spAutoFit/>
          </a:bodyPr>
          <a:lstStyle/>
          <a:p>
            <a:pPr algn="l">
              <a:lnSpc>
                <a:spcPts val="1898"/>
              </a:lnSpc>
            </a:pPr>
            <a:r>
              <a:rPr lang="en-US" sz="1356" b="true">
                <a:solidFill>
                  <a:srgbClr val="2B3825"/>
                </a:solidFill>
                <a:latin typeface="Open Sans Bold"/>
                <a:ea typeface="Open Sans Bold"/>
                <a:cs typeface="Open Sans Bold"/>
                <a:sym typeface="Open Sans Bold"/>
              </a:rPr>
              <a:t>Canales</a:t>
            </a:r>
          </a:p>
        </p:txBody>
      </p:sp>
      <p:sp>
        <p:nvSpPr>
          <p:cNvPr name="TextBox 46" id="46"/>
          <p:cNvSpPr txBox="true"/>
          <p:nvPr/>
        </p:nvSpPr>
        <p:spPr>
          <a:xfrm rot="0">
            <a:off x="15204713" y="1252970"/>
            <a:ext cx="2774115" cy="233611"/>
          </a:xfrm>
          <a:prstGeom prst="rect">
            <a:avLst/>
          </a:prstGeom>
        </p:spPr>
        <p:txBody>
          <a:bodyPr anchor="t" rtlCol="false" tIns="0" lIns="0" bIns="0" rIns="0">
            <a:spAutoFit/>
          </a:bodyPr>
          <a:lstStyle/>
          <a:p>
            <a:pPr algn="l">
              <a:lnSpc>
                <a:spcPts val="1898"/>
              </a:lnSpc>
            </a:pPr>
            <a:r>
              <a:rPr lang="en-US" sz="1356" b="true">
                <a:solidFill>
                  <a:srgbClr val="2B3825"/>
                </a:solidFill>
                <a:latin typeface="Open Sans Bold"/>
                <a:ea typeface="Open Sans Bold"/>
                <a:cs typeface="Open Sans Bold"/>
                <a:sym typeface="Open Sans Bold"/>
              </a:rPr>
              <a:t>Segmento de Clientes</a:t>
            </a:r>
          </a:p>
        </p:txBody>
      </p:sp>
      <p:sp>
        <p:nvSpPr>
          <p:cNvPr name="TextBox 47" id="47"/>
          <p:cNvSpPr txBox="true"/>
          <p:nvPr/>
        </p:nvSpPr>
        <p:spPr>
          <a:xfrm rot="0">
            <a:off x="1286556" y="1268235"/>
            <a:ext cx="2233914" cy="233611"/>
          </a:xfrm>
          <a:prstGeom prst="rect">
            <a:avLst/>
          </a:prstGeom>
        </p:spPr>
        <p:txBody>
          <a:bodyPr anchor="t" rtlCol="false" tIns="0" lIns="0" bIns="0" rIns="0">
            <a:spAutoFit/>
          </a:bodyPr>
          <a:lstStyle/>
          <a:p>
            <a:pPr algn="l">
              <a:lnSpc>
                <a:spcPts val="1898"/>
              </a:lnSpc>
            </a:pPr>
            <a:r>
              <a:rPr lang="en-US" sz="1356" b="true">
                <a:solidFill>
                  <a:srgbClr val="2B3825"/>
                </a:solidFill>
                <a:latin typeface="Open Sans Bold"/>
                <a:ea typeface="Open Sans Bold"/>
                <a:cs typeface="Open Sans Bold"/>
                <a:sym typeface="Open Sans Bold"/>
              </a:rPr>
              <a:t>Socios Clave</a:t>
            </a:r>
          </a:p>
        </p:txBody>
      </p:sp>
      <p:sp>
        <p:nvSpPr>
          <p:cNvPr name="Freeform 48" id="48"/>
          <p:cNvSpPr/>
          <p:nvPr/>
        </p:nvSpPr>
        <p:spPr>
          <a:xfrm flipH="false" flipV="false" rot="0">
            <a:off x="15666340" y="-26123"/>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21"/>
            <a:stretch>
              <a:fillRect l="-2024" t="-67794" r="0" b="-46912"/>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9774644" y="-444812"/>
            <a:ext cx="9939266" cy="9007460"/>
          </a:xfrm>
          <a:custGeom>
            <a:avLst/>
            <a:gdLst/>
            <a:ahLst/>
            <a:cxnLst/>
            <a:rect r="r" b="b" t="t" l="l"/>
            <a:pathLst>
              <a:path h="9007460" w="9939266">
                <a:moveTo>
                  <a:pt x="9939267" y="9007460"/>
                </a:moveTo>
                <a:lnTo>
                  <a:pt x="0" y="9007460"/>
                </a:lnTo>
                <a:lnTo>
                  <a:pt x="0" y="0"/>
                </a:lnTo>
                <a:lnTo>
                  <a:pt x="9939267" y="0"/>
                </a:lnTo>
                <a:lnTo>
                  <a:pt x="9939267" y="9007460"/>
                </a:lnTo>
                <a:close/>
              </a:path>
            </a:pathLst>
          </a:custGeom>
          <a:blipFill>
            <a:blip r:embed="rId3"/>
            <a:stretch>
              <a:fillRect l="0" t="0" r="0" b="0"/>
            </a:stretch>
          </a:blipFill>
        </p:spPr>
      </p:sp>
      <p:sp>
        <p:nvSpPr>
          <p:cNvPr name="Freeform 3" id="3"/>
          <p:cNvSpPr/>
          <p:nvPr/>
        </p:nvSpPr>
        <p:spPr>
          <a:xfrm flipH="false" flipV="false" rot="0">
            <a:off x="15666340" y="59293"/>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sp>
        <p:nvSpPr>
          <p:cNvPr name="Freeform 4" id="4"/>
          <p:cNvSpPr/>
          <p:nvPr/>
        </p:nvSpPr>
        <p:spPr>
          <a:xfrm flipH="false" flipV="false" rot="0">
            <a:off x="-2125622" y="1324101"/>
            <a:ext cx="10429472" cy="9451709"/>
          </a:xfrm>
          <a:custGeom>
            <a:avLst/>
            <a:gdLst/>
            <a:ahLst/>
            <a:cxnLst/>
            <a:rect r="r" b="b" t="t" l="l"/>
            <a:pathLst>
              <a:path h="9451709" w="10429472">
                <a:moveTo>
                  <a:pt x="0" y="0"/>
                </a:moveTo>
                <a:lnTo>
                  <a:pt x="10429472" y="0"/>
                </a:lnTo>
                <a:lnTo>
                  <a:pt x="10429472" y="9451710"/>
                </a:lnTo>
                <a:lnTo>
                  <a:pt x="0" y="9451710"/>
                </a:lnTo>
                <a:lnTo>
                  <a:pt x="0" y="0"/>
                </a:lnTo>
                <a:close/>
              </a:path>
            </a:pathLst>
          </a:custGeom>
          <a:blipFill>
            <a:blip r:embed="rId3"/>
            <a:stretch>
              <a:fillRect l="0" t="0" r="0" b="0"/>
            </a:stretch>
          </a:blipFill>
        </p:spPr>
      </p:sp>
      <p:grpSp>
        <p:nvGrpSpPr>
          <p:cNvPr name="Group 5" id="5"/>
          <p:cNvGrpSpPr/>
          <p:nvPr/>
        </p:nvGrpSpPr>
        <p:grpSpPr>
          <a:xfrm rot="0">
            <a:off x="1851239" y="4776826"/>
            <a:ext cx="4278174" cy="3565883"/>
            <a:chOff x="0" y="0"/>
            <a:chExt cx="8131201" cy="6777404"/>
          </a:xfrm>
        </p:grpSpPr>
        <p:sp>
          <p:nvSpPr>
            <p:cNvPr name="Freeform 6" id="6"/>
            <p:cNvSpPr/>
            <p:nvPr/>
          </p:nvSpPr>
          <p:spPr>
            <a:xfrm flipH="false" flipV="false" rot="0">
              <a:off x="31750" y="31750"/>
              <a:ext cx="8066459" cy="6713904"/>
            </a:xfrm>
            <a:custGeom>
              <a:avLst/>
              <a:gdLst/>
              <a:ahLst/>
              <a:cxnLst/>
              <a:rect r="r" b="b" t="t" l="l"/>
              <a:pathLst>
                <a:path h="6713904" w="8066459">
                  <a:moveTo>
                    <a:pt x="7974991" y="6713904"/>
                  </a:moveTo>
                  <a:lnTo>
                    <a:pt x="92710" y="6713904"/>
                  </a:lnTo>
                  <a:cubicBezTo>
                    <a:pt x="41910" y="6713904"/>
                    <a:pt x="0" y="6671994"/>
                    <a:pt x="0" y="6621194"/>
                  </a:cubicBezTo>
                  <a:lnTo>
                    <a:pt x="0" y="92710"/>
                  </a:lnTo>
                  <a:cubicBezTo>
                    <a:pt x="0" y="41910"/>
                    <a:pt x="41910" y="0"/>
                    <a:pt x="92710" y="0"/>
                  </a:cubicBezTo>
                  <a:lnTo>
                    <a:pt x="7973721" y="0"/>
                  </a:lnTo>
                  <a:cubicBezTo>
                    <a:pt x="8024521" y="0"/>
                    <a:pt x="8066431" y="41910"/>
                    <a:pt x="8066431" y="92710"/>
                  </a:cubicBezTo>
                  <a:lnTo>
                    <a:pt x="8066431" y="6619925"/>
                  </a:lnTo>
                  <a:cubicBezTo>
                    <a:pt x="8067701" y="6671994"/>
                    <a:pt x="8025791" y="6713904"/>
                    <a:pt x="7974991" y="6713904"/>
                  </a:cubicBezTo>
                  <a:close/>
                </a:path>
              </a:pathLst>
            </a:custGeom>
            <a:solidFill>
              <a:srgbClr val="13538A"/>
            </a:solidFill>
          </p:spPr>
        </p:sp>
        <p:sp>
          <p:nvSpPr>
            <p:cNvPr name="Freeform 7" id="7"/>
            <p:cNvSpPr/>
            <p:nvPr/>
          </p:nvSpPr>
          <p:spPr>
            <a:xfrm flipH="false" flipV="false" rot="0">
              <a:off x="0" y="0"/>
              <a:ext cx="8131201" cy="6777404"/>
            </a:xfrm>
            <a:custGeom>
              <a:avLst/>
              <a:gdLst/>
              <a:ahLst/>
              <a:cxnLst/>
              <a:rect r="r" b="b" t="t" l="l"/>
              <a:pathLst>
                <a:path h="6777404" w="8131201">
                  <a:moveTo>
                    <a:pt x="8006741" y="59690"/>
                  </a:moveTo>
                  <a:cubicBezTo>
                    <a:pt x="8042301" y="59690"/>
                    <a:pt x="8071510" y="88900"/>
                    <a:pt x="8071510" y="124460"/>
                  </a:cubicBezTo>
                  <a:lnTo>
                    <a:pt x="8071510" y="6652944"/>
                  </a:lnTo>
                  <a:cubicBezTo>
                    <a:pt x="8071510" y="6688504"/>
                    <a:pt x="8042301" y="6717714"/>
                    <a:pt x="8006741" y="6717714"/>
                  </a:cubicBezTo>
                  <a:lnTo>
                    <a:pt x="124460" y="6717714"/>
                  </a:lnTo>
                  <a:cubicBezTo>
                    <a:pt x="88900" y="6717714"/>
                    <a:pt x="59690" y="6688504"/>
                    <a:pt x="59690" y="6652944"/>
                  </a:cubicBezTo>
                  <a:lnTo>
                    <a:pt x="59690" y="124460"/>
                  </a:lnTo>
                  <a:cubicBezTo>
                    <a:pt x="59690" y="88900"/>
                    <a:pt x="88900" y="59690"/>
                    <a:pt x="124460" y="59690"/>
                  </a:cubicBezTo>
                  <a:lnTo>
                    <a:pt x="8006741" y="59690"/>
                  </a:lnTo>
                  <a:moveTo>
                    <a:pt x="8006741" y="0"/>
                  </a:moveTo>
                  <a:lnTo>
                    <a:pt x="124460" y="0"/>
                  </a:lnTo>
                  <a:cubicBezTo>
                    <a:pt x="55880" y="0"/>
                    <a:pt x="0" y="55880"/>
                    <a:pt x="0" y="124460"/>
                  </a:cubicBezTo>
                  <a:lnTo>
                    <a:pt x="0" y="6652944"/>
                  </a:lnTo>
                  <a:cubicBezTo>
                    <a:pt x="0" y="6721525"/>
                    <a:pt x="55880" y="6777404"/>
                    <a:pt x="124460" y="6777404"/>
                  </a:cubicBezTo>
                  <a:lnTo>
                    <a:pt x="8006741" y="6777404"/>
                  </a:lnTo>
                  <a:cubicBezTo>
                    <a:pt x="8075321" y="6777404"/>
                    <a:pt x="8131201" y="6721525"/>
                    <a:pt x="8131201" y="6652944"/>
                  </a:cubicBezTo>
                  <a:lnTo>
                    <a:pt x="8131201" y="124460"/>
                  </a:lnTo>
                  <a:cubicBezTo>
                    <a:pt x="8131201" y="55880"/>
                    <a:pt x="8075321" y="0"/>
                    <a:pt x="8006741" y="0"/>
                  </a:cubicBezTo>
                  <a:close/>
                </a:path>
              </a:pathLst>
            </a:custGeom>
            <a:solidFill>
              <a:srgbClr val="13538A"/>
            </a:solidFill>
          </p:spPr>
        </p:sp>
      </p:grpSp>
      <p:grpSp>
        <p:nvGrpSpPr>
          <p:cNvPr name="Group 8" id="8"/>
          <p:cNvGrpSpPr/>
          <p:nvPr/>
        </p:nvGrpSpPr>
        <p:grpSpPr>
          <a:xfrm rot="0">
            <a:off x="1661450" y="3410858"/>
            <a:ext cx="4679531" cy="1006980"/>
            <a:chOff x="0" y="0"/>
            <a:chExt cx="8894031" cy="1913890"/>
          </a:xfrm>
        </p:grpSpPr>
        <p:sp>
          <p:nvSpPr>
            <p:cNvPr name="Freeform 9" id="9"/>
            <p:cNvSpPr/>
            <p:nvPr/>
          </p:nvSpPr>
          <p:spPr>
            <a:xfrm flipH="false" flipV="false" rot="0">
              <a:off x="31750" y="31750"/>
              <a:ext cx="8829288" cy="1850390"/>
            </a:xfrm>
            <a:custGeom>
              <a:avLst/>
              <a:gdLst/>
              <a:ahLst/>
              <a:cxnLst/>
              <a:rect r="r" b="b" t="t" l="l"/>
              <a:pathLst>
                <a:path h="1850390" w="8829288">
                  <a:moveTo>
                    <a:pt x="8737820" y="1850390"/>
                  </a:moveTo>
                  <a:lnTo>
                    <a:pt x="92710" y="1850390"/>
                  </a:lnTo>
                  <a:cubicBezTo>
                    <a:pt x="41910" y="1850390"/>
                    <a:pt x="0" y="1808480"/>
                    <a:pt x="0" y="1757680"/>
                  </a:cubicBezTo>
                  <a:lnTo>
                    <a:pt x="0" y="92710"/>
                  </a:lnTo>
                  <a:cubicBezTo>
                    <a:pt x="0" y="41910"/>
                    <a:pt x="41910" y="0"/>
                    <a:pt x="92710" y="0"/>
                  </a:cubicBezTo>
                  <a:lnTo>
                    <a:pt x="8736550" y="0"/>
                  </a:lnTo>
                  <a:cubicBezTo>
                    <a:pt x="8787350" y="0"/>
                    <a:pt x="8829260" y="41910"/>
                    <a:pt x="8829260" y="92710"/>
                  </a:cubicBezTo>
                  <a:lnTo>
                    <a:pt x="8829260" y="1756410"/>
                  </a:lnTo>
                  <a:cubicBezTo>
                    <a:pt x="8830531" y="1808480"/>
                    <a:pt x="8788620" y="1850390"/>
                    <a:pt x="8737820" y="1850390"/>
                  </a:cubicBezTo>
                  <a:close/>
                </a:path>
              </a:pathLst>
            </a:custGeom>
            <a:solidFill>
              <a:srgbClr val="257BE0"/>
            </a:solidFill>
          </p:spPr>
        </p:sp>
        <p:sp>
          <p:nvSpPr>
            <p:cNvPr name="Freeform 10" id="10"/>
            <p:cNvSpPr/>
            <p:nvPr/>
          </p:nvSpPr>
          <p:spPr>
            <a:xfrm flipH="false" flipV="false" rot="0">
              <a:off x="0" y="0"/>
              <a:ext cx="8894031" cy="1913890"/>
            </a:xfrm>
            <a:custGeom>
              <a:avLst/>
              <a:gdLst/>
              <a:ahLst/>
              <a:cxnLst/>
              <a:rect r="r" b="b" t="t" l="l"/>
              <a:pathLst>
                <a:path h="1913890" w="8894031">
                  <a:moveTo>
                    <a:pt x="8769570" y="59690"/>
                  </a:moveTo>
                  <a:cubicBezTo>
                    <a:pt x="8805131" y="59690"/>
                    <a:pt x="8834341" y="88900"/>
                    <a:pt x="8834341" y="124460"/>
                  </a:cubicBezTo>
                  <a:lnTo>
                    <a:pt x="8834341" y="1789430"/>
                  </a:lnTo>
                  <a:cubicBezTo>
                    <a:pt x="8834341" y="1824990"/>
                    <a:pt x="8805131" y="1854200"/>
                    <a:pt x="8769570" y="1854200"/>
                  </a:cubicBezTo>
                  <a:lnTo>
                    <a:pt x="124460" y="1854200"/>
                  </a:lnTo>
                  <a:cubicBezTo>
                    <a:pt x="88900" y="1854200"/>
                    <a:pt x="59690" y="1824990"/>
                    <a:pt x="59690" y="1789430"/>
                  </a:cubicBezTo>
                  <a:lnTo>
                    <a:pt x="59690" y="124460"/>
                  </a:lnTo>
                  <a:cubicBezTo>
                    <a:pt x="59690" y="88900"/>
                    <a:pt x="88900" y="59690"/>
                    <a:pt x="124460" y="59690"/>
                  </a:cubicBezTo>
                  <a:lnTo>
                    <a:pt x="8769571" y="59690"/>
                  </a:lnTo>
                  <a:moveTo>
                    <a:pt x="8769571" y="0"/>
                  </a:moveTo>
                  <a:lnTo>
                    <a:pt x="124460" y="0"/>
                  </a:lnTo>
                  <a:cubicBezTo>
                    <a:pt x="55880" y="0"/>
                    <a:pt x="0" y="55880"/>
                    <a:pt x="0" y="124460"/>
                  </a:cubicBezTo>
                  <a:lnTo>
                    <a:pt x="0" y="1789430"/>
                  </a:lnTo>
                  <a:cubicBezTo>
                    <a:pt x="0" y="1858010"/>
                    <a:pt x="55880" y="1913890"/>
                    <a:pt x="124460" y="1913890"/>
                  </a:cubicBezTo>
                  <a:lnTo>
                    <a:pt x="8769571" y="1913890"/>
                  </a:lnTo>
                  <a:cubicBezTo>
                    <a:pt x="8838150" y="1913890"/>
                    <a:pt x="8894031" y="1858010"/>
                    <a:pt x="8894031" y="1789430"/>
                  </a:cubicBezTo>
                  <a:lnTo>
                    <a:pt x="8894031" y="124460"/>
                  </a:lnTo>
                  <a:cubicBezTo>
                    <a:pt x="8894031" y="55880"/>
                    <a:pt x="8838150" y="0"/>
                    <a:pt x="8769571" y="0"/>
                  </a:cubicBezTo>
                  <a:close/>
                </a:path>
              </a:pathLst>
            </a:custGeom>
            <a:solidFill>
              <a:srgbClr val="257BE0"/>
            </a:solidFill>
          </p:spPr>
        </p:sp>
      </p:grpSp>
      <p:sp>
        <p:nvSpPr>
          <p:cNvPr name="AutoShape 11" id="11"/>
          <p:cNvSpPr/>
          <p:nvPr/>
        </p:nvSpPr>
        <p:spPr>
          <a:xfrm>
            <a:off x="4081509" y="5255486"/>
            <a:ext cx="630589" cy="0"/>
          </a:xfrm>
          <a:prstGeom prst="line">
            <a:avLst/>
          </a:prstGeom>
          <a:ln cap="flat" w="19050">
            <a:solidFill>
              <a:srgbClr val="003882"/>
            </a:solidFill>
            <a:prstDash val="solid"/>
            <a:headEnd type="none" len="sm" w="sm"/>
            <a:tailEnd type="none" len="sm" w="sm"/>
          </a:ln>
        </p:spPr>
      </p:sp>
      <p:grpSp>
        <p:nvGrpSpPr>
          <p:cNvPr name="Group 12" id="12"/>
          <p:cNvGrpSpPr/>
          <p:nvPr/>
        </p:nvGrpSpPr>
        <p:grpSpPr>
          <a:xfrm rot="0">
            <a:off x="6822143" y="4776826"/>
            <a:ext cx="4492358" cy="3584776"/>
            <a:chOff x="0" y="0"/>
            <a:chExt cx="8538284" cy="6813312"/>
          </a:xfrm>
        </p:grpSpPr>
        <p:sp>
          <p:nvSpPr>
            <p:cNvPr name="Freeform 13" id="13"/>
            <p:cNvSpPr/>
            <p:nvPr/>
          </p:nvSpPr>
          <p:spPr>
            <a:xfrm flipH="false" flipV="false" rot="0">
              <a:off x="31750" y="31750"/>
              <a:ext cx="8473542" cy="6749812"/>
            </a:xfrm>
            <a:custGeom>
              <a:avLst/>
              <a:gdLst/>
              <a:ahLst/>
              <a:cxnLst/>
              <a:rect r="r" b="b" t="t" l="l"/>
              <a:pathLst>
                <a:path h="6749812" w="8473542">
                  <a:moveTo>
                    <a:pt x="8382074" y="6749812"/>
                  </a:moveTo>
                  <a:lnTo>
                    <a:pt x="92710" y="6749812"/>
                  </a:lnTo>
                  <a:cubicBezTo>
                    <a:pt x="41910" y="6749812"/>
                    <a:pt x="0" y="6707902"/>
                    <a:pt x="0" y="6657102"/>
                  </a:cubicBezTo>
                  <a:lnTo>
                    <a:pt x="0" y="92710"/>
                  </a:lnTo>
                  <a:cubicBezTo>
                    <a:pt x="0" y="41910"/>
                    <a:pt x="41910" y="0"/>
                    <a:pt x="92710" y="0"/>
                  </a:cubicBezTo>
                  <a:lnTo>
                    <a:pt x="8380804" y="0"/>
                  </a:lnTo>
                  <a:cubicBezTo>
                    <a:pt x="8431604" y="0"/>
                    <a:pt x="8473514" y="41910"/>
                    <a:pt x="8473514" y="92710"/>
                  </a:cubicBezTo>
                  <a:lnTo>
                    <a:pt x="8473514" y="6655832"/>
                  </a:lnTo>
                  <a:cubicBezTo>
                    <a:pt x="8474784" y="6707902"/>
                    <a:pt x="8432874" y="6749812"/>
                    <a:pt x="8382074" y="6749812"/>
                  </a:cubicBezTo>
                  <a:close/>
                </a:path>
              </a:pathLst>
            </a:custGeom>
            <a:solidFill>
              <a:srgbClr val="13538A"/>
            </a:solidFill>
          </p:spPr>
        </p:sp>
        <p:sp>
          <p:nvSpPr>
            <p:cNvPr name="Freeform 14" id="14"/>
            <p:cNvSpPr/>
            <p:nvPr/>
          </p:nvSpPr>
          <p:spPr>
            <a:xfrm flipH="false" flipV="false" rot="0">
              <a:off x="0" y="0"/>
              <a:ext cx="8538284" cy="6813312"/>
            </a:xfrm>
            <a:custGeom>
              <a:avLst/>
              <a:gdLst/>
              <a:ahLst/>
              <a:cxnLst/>
              <a:rect r="r" b="b" t="t" l="l"/>
              <a:pathLst>
                <a:path h="6813312" w="8538284">
                  <a:moveTo>
                    <a:pt x="8413824" y="59690"/>
                  </a:moveTo>
                  <a:cubicBezTo>
                    <a:pt x="8449384" y="59690"/>
                    <a:pt x="8478594" y="88900"/>
                    <a:pt x="8478594" y="124460"/>
                  </a:cubicBezTo>
                  <a:lnTo>
                    <a:pt x="8478594" y="6688852"/>
                  </a:lnTo>
                  <a:cubicBezTo>
                    <a:pt x="8478594" y="6724412"/>
                    <a:pt x="8449384" y="6753622"/>
                    <a:pt x="8413824" y="6753622"/>
                  </a:cubicBezTo>
                  <a:lnTo>
                    <a:pt x="124460" y="6753622"/>
                  </a:lnTo>
                  <a:cubicBezTo>
                    <a:pt x="88900" y="6753622"/>
                    <a:pt x="59690" y="6724412"/>
                    <a:pt x="59690" y="6688852"/>
                  </a:cubicBezTo>
                  <a:lnTo>
                    <a:pt x="59690" y="124460"/>
                  </a:lnTo>
                  <a:cubicBezTo>
                    <a:pt x="59690" y="88900"/>
                    <a:pt x="88900" y="59690"/>
                    <a:pt x="124460" y="59690"/>
                  </a:cubicBezTo>
                  <a:lnTo>
                    <a:pt x="8413824" y="59690"/>
                  </a:lnTo>
                  <a:moveTo>
                    <a:pt x="8413824" y="0"/>
                  </a:moveTo>
                  <a:lnTo>
                    <a:pt x="124460" y="0"/>
                  </a:lnTo>
                  <a:cubicBezTo>
                    <a:pt x="55880" y="0"/>
                    <a:pt x="0" y="55880"/>
                    <a:pt x="0" y="124460"/>
                  </a:cubicBezTo>
                  <a:lnTo>
                    <a:pt x="0" y="6688852"/>
                  </a:lnTo>
                  <a:cubicBezTo>
                    <a:pt x="0" y="6757432"/>
                    <a:pt x="55880" y="6813312"/>
                    <a:pt x="124460" y="6813312"/>
                  </a:cubicBezTo>
                  <a:lnTo>
                    <a:pt x="8413824" y="6813312"/>
                  </a:lnTo>
                  <a:cubicBezTo>
                    <a:pt x="8482404" y="6813312"/>
                    <a:pt x="8538284" y="6757432"/>
                    <a:pt x="8538284" y="6688852"/>
                  </a:cubicBezTo>
                  <a:lnTo>
                    <a:pt x="8538284" y="124460"/>
                  </a:lnTo>
                  <a:cubicBezTo>
                    <a:pt x="8538284" y="55880"/>
                    <a:pt x="8482404" y="0"/>
                    <a:pt x="8413824" y="0"/>
                  </a:cubicBezTo>
                  <a:close/>
                </a:path>
              </a:pathLst>
            </a:custGeom>
            <a:solidFill>
              <a:srgbClr val="13538A"/>
            </a:solidFill>
          </p:spPr>
        </p:sp>
      </p:grpSp>
      <p:grpSp>
        <p:nvGrpSpPr>
          <p:cNvPr name="Group 15" id="15"/>
          <p:cNvGrpSpPr/>
          <p:nvPr/>
        </p:nvGrpSpPr>
        <p:grpSpPr>
          <a:xfrm rot="0">
            <a:off x="6730032" y="3410858"/>
            <a:ext cx="4676580" cy="1006980"/>
            <a:chOff x="0" y="0"/>
            <a:chExt cx="8888422" cy="1913890"/>
          </a:xfrm>
        </p:grpSpPr>
        <p:sp>
          <p:nvSpPr>
            <p:cNvPr name="Freeform 16" id="16"/>
            <p:cNvSpPr/>
            <p:nvPr/>
          </p:nvSpPr>
          <p:spPr>
            <a:xfrm flipH="false" flipV="false" rot="0">
              <a:off x="31750" y="31750"/>
              <a:ext cx="8823680" cy="1850390"/>
            </a:xfrm>
            <a:custGeom>
              <a:avLst/>
              <a:gdLst/>
              <a:ahLst/>
              <a:cxnLst/>
              <a:rect r="r" b="b" t="t" l="l"/>
              <a:pathLst>
                <a:path h="1850390" w="8823680">
                  <a:moveTo>
                    <a:pt x="8732212" y="1850390"/>
                  </a:moveTo>
                  <a:lnTo>
                    <a:pt x="92710" y="1850390"/>
                  </a:lnTo>
                  <a:cubicBezTo>
                    <a:pt x="41910" y="1850390"/>
                    <a:pt x="0" y="1808480"/>
                    <a:pt x="0" y="1757680"/>
                  </a:cubicBezTo>
                  <a:lnTo>
                    <a:pt x="0" y="92710"/>
                  </a:lnTo>
                  <a:cubicBezTo>
                    <a:pt x="0" y="41910"/>
                    <a:pt x="41910" y="0"/>
                    <a:pt x="92710" y="0"/>
                  </a:cubicBezTo>
                  <a:lnTo>
                    <a:pt x="8730942" y="0"/>
                  </a:lnTo>
                  <a:cubicBezTo>
                    <a:pt x="8781742" y="0"/>
                    <a:pt x="8823652" y="41910"/>
                    <a:pt x="8823652" y="92710"/>
                  </a:cubicBezTo>
                  <a:lnTo>
                    <a:pt x="8823652" y="1756410"/>
                  </a:lnTo>
                  <a:cubicBezTo>
                    <a:pt x="8824922" y="1808480"/>
                    <a:pt x="8783012" y="1850390"/>
                    <a:pt x="8732212" y="1850390"/>
                  </a:cubicBezTo>
                  <a:close/>
                </a:path>
              </a:pathLst>
            </a:custGeom>
            <a:solidFill>
              <a:srgbClr val="257BE0"/>
            </a:solidFill>
          </p:spPr>
        </p:sp>
        <p:sp>
          <p:nvSpPr>
            <p:cNvPr name="Freeform 17" id="17"/>
            <p:cNvSpPr/>
            <p:nvPr/>
          </p:nvSpPr>
          <p:spPr>
            <a:xfrm flipH="false" flipV="false" rot="0">
              <a:off x="0" y="0"/>
              <a:ext cx="8888423" cy="1913890"/>
            </a:xfrm>
            <a:custGeom>
              <a:avLst/>
              <a:gdLst/>
              <a:ahLst/>
              <a:cxnLst/>
              <a:rect r="r" b="b" t="t" l="l"/>
              <a:pathLst>
                <a:path h="1913890" w="8888423">
                  <a:moveTo>
                    <a:pt x="8763962" y="59690"/>
                  </a:moveTo>
                  <a:cubicBezTo>
                    <a:pt x="8799522" y="59690"/>
                    <a:pt x="8828732" y="88900"/>
                    <a:pt x="8828732" y="124460"/>
                  </a:cubicBezTo>
                  <a:lnTo>
                    <a:pt x="8828732" y="1789430"/>
                  </a:lnTo>
                  <a:cubicBezTo>
                    <a:pt x="8828732" y="1824990"/>
                    <a:pt x="8799522" y="1854200"/>
                    <a:pt x="8763962" y="1854200"/>
                  </a:cubicBezTo>
                  <a:lnTo>
                    <a:pt x="124460" y="1854200"/>
                  </a:lnTo>
                  <a:cubicBezTo>
                    <a:pt x="88900" y="1854200"/>
                    <a:pt x="59690" y="1824990"/>
                    <a:pt x="59690" y="1789430"/>
                  </a:cubicBezTo>
                  <a:lnTo>
                    <a:pt x="59690" y="124460"/>
                  </a:lnTo>
                  <a:cubicBezTo>
                    <a:pt x="59690" y="88900"/>
                    <a:pt x="88900" y="59690"/>
                    <a:pt x="124460" y="59690"/>
                  </a:cubicBezTo>
                  <a:lnTo>
                    <a:pt x="8763962" y="59690"/>
                  </a:lnTo>
                  <a:moveTo>
                    <a:pt x="8763962" y="0"/>
                  </a:moveTo>
                  <a:lnTo>
                    <a:pt x="124460" y="0"/>
                  </a:lnTo>
                  <a:cubicBezTo>
                    <a:pt x="55880" y="0"/>
                    <a:pt x="0" y="55880"/>
                    <a:pt x="0" y="124460"/>
                  </a:cubicBezTo>
                  <a:lnTo>
                    <a:pt x="0" y="1789430"/>
                  </a:lnTo>
                  <a:cubicBezTo>
                    <a:pt x="0" y="1858010"/>
                    <a:pt x="55880" y="1913890"/>
                    <a:pt x="124460" y="1913890"/>
                  </a:cubicBezTo>
                  <a:lnTo>
                    <a:pt x="8763962" y="1913890"/>
                  </a:lnTo>
                  <a:cubicBezTo>
                    <a:pt x="8832542" y="1913890"/>
                    <a:pt x="8888423" y="1858010"/>
                    <a:pt x="8888423" y="1789430"/>
                  </a:cubicBezTo>
                  <a:lnTo>
                    <a:pt x="8888423" y="124460"/>
                  </a:lnTo>
                  <a:cubicBezTo>
                    <a:pt x="8888423" y="55880"/>
                    <a:pt x="8832542" y="0"/>
                    <a:pt x="8763962" y="0"/>
                  </a:cubicBezTo>
                  <a:close/>
                </a:path>
              </a:pathLst>
            </a:custGeom>
            <a:solidFill>
              <a:srgbClr val="257BE0"/>
            </a:solidFill>
          </p:spPr>
        </p:sp>
      </p:grpSp>
      <p:grpSp>
        <p:nvGrpSpPr>
          <p:cNvPr name="Group 18" id="18"/>
          <p:cNvGrpSpPr/>
          <p:nvPr/>
        </p:nvGrpSpPr>
        <p:grpSpPr>
          <a:xfrm rot="0">
            <a:off x="11820171" y="4776826"/>
            <a:ext cx="4308391" cy="3565883"/>
            <a:chOff x="0" y="0"/>
            <a:chExt cx="8188633" cy="6777404"/>
          </a:xfrm>
        </p:grpSpPr>
        <p:sp>
          <p:nvSpPr>
            <p:cNvPr name="Freeform 19" id="19"/>
            <p:cNvSpPr/>
            <p:nvPr/>
          </p:nvSpPr>
          <p:spPr>
            <a:xfrm flipH="false" flipV="false" rot="0">
              <a:off x="31750" y="31750"/>
              <a:ext cx="8123891" cy="6713904"/>
            </a:xfrm>
            <a:custGeom>
              <a:avLst/>
              <a:gdLst/>
              <a:ahLst/>
              <a:cxnLst/>
              <a:rect r="r" b="b" t="t" l="l"/>
              <a:pathLst>
                <a:path h="6713904" w="8123891">
                  <a:moveTo>
                    <a:pt x="8032423" y="6713904"/>
                  </a:moveTo>
                  <a:lnTo>
                    <a:pt x="92710" y="6713904"/>
                  </a:lnTo>
                  <a:cubicBezTo>
                    <a:pt x="41910" y="6713904"/>
                    <a:pt x="0" y="6671994"/>
                    <a:pt x="0" y="6621194"/>
                  </a:cubicBezTo>
                  <a:lnTo>
                    <a:pt x="0" y="92710"/>
                  </a:lnTo>
                  <a:cubicBezTo>
                    <a:pt x="0" y="41910"/>
                    <a:pt x="41910" y="0"/>
                    <a:pt x="92710" y="0"/>
                  </a:cubicBezTo>
                  <a:lnTo>
                    <a:pt x="8031153" y="0"/>
                  </a:lnTo>
                  <a:cubicBezTo>
                    <a:pt x="8081953" y="0"/>
                    <a:pt x="8123863" y="41910"/>
                    <a:pt x="8123863" y="92710"/>
                  </a:cubicBezTo>
                  <a:lnTo>
                    <a:pt x="8123863" y="6619925"/>
                  </a:lnTo>
                  <a:cubicBezTo>
                    <a:pt x="8125134" y="6671994"/>
                    <a:pt x="8083223" y="6713904"/>
                    <a:pt x="8032423" y="6713904"/>
                  </a:cubicBezTo>
                  <a:close/>
                </a:path>
              </a:pathLst>
            </a:custGeom>
            <a:solidFill>
              <a:srgbClr val="13538A"/>
            </a:solidFill>
          </p:spPr>
        </p:sp>
        <p:sp>
          <p:nvSpPr>
            <p:cNvPr name="Freeform 20" id="20"/>
            <p:cNvSpPr/>
            <p:nvPr/>
          </p:nvSpPr>
          <p:spPr>
            <a:xfrm flipH="false" flipV="false" rot="0">
              <a:off x="0" y="0"/>
              <a:ext cx="8188634" cy="6777404"/>
            </a:xfrm>
            <a:custGeom>
              <a:avLst/>
              <a:gdLst/>
              <a:ahLst/>
              <a:cxnLst/>
              <a:rect r="r" b="b" t="t" l="l"/>
              <a:pathLst>
                <a:path h="6777404" w="8188634">
                  <a:moveTo>
                    <a:pt x="8064173" y="59690"/>
                  </a:moveTo>
                  <a:cubicBezTo>
                    <a:pt x="8099734" y="59690"/>
                    <a:pt x="8128943" y="88900"/>
                    <a:pt x="8128943" y="124460"/>
                  </a:cubicBezTo>
                  <a:lnTo>
                    <a:pt x="8128943" y="6652944"/>
                  </a:lnTo>
                  <a:cubicBezTo>
                    <a:pt x="8128943" y="6688504"/>
                    <a:pt x="8099734" y="6717714"/>
                    <a:pt x="8064173" y="6717714"/>
                  </a:cubicBezTo>
                  <a:lnTo>
                    <a:pt x="124460" y="6717714"/>
                  </a:lnTo>
                  <a:cubicBezTo>
                    <a:pt x="88900" y="6717714"/>
                    <a:pt x="59690" y="6688504"/>
                    <a:pt x="59690" y="6652944"/>
                  </a:cubicBezTo>
                  <a:lnTo>
                    <a:pt x="59690" y="124460"/>
                  </a:lnTo>
                  <a:cubicBezTo>
                    <a:pt x="59690" y="88900"/>
                    <a:pt x="88900" y="59690"/>
                    <a:pt x="124460" y="59690"/>
                  </a:cubicBezTo>
                  <a:lnTo>
                    <a:pt x="8064174" y="59690"/>
                  </a:lnTo>
                  <a:moveTo>
                    <a:pt x="8064174" y="0"/>
                  </a:moveTo>
                  <a:lnTo>
                    <a:pt x="124460" y="0"/>
                  </a:lnTo>
                  <a:cubicBezTo>
                    <a:pt x="55880" y="0"/>
                    <a:pt x="0" y="55880"/>
                    <a:pt x="0" y="124460"/>
                  </a:cubicBezTo>
                  <a:lnTo>
                    <a:pt x="0" y="6652944"/>
                  </a:lnTo>
                  <a:cubicBezTo>
                    <a:pt x="0" y="6721525"/>
                    <a:pt x="55880" y="6777404"/>
                    <a:pt x="124460" y="6777404"/>
                  </a:cubicBezTo>
                  <a:lnTo>
                    <a:pt x="8064174" y="6777404"/>
                  </a:lnTo>
                  <a:cubicBezTo>
                    <a:pt x="8132753" y="6777404"/>
                    <a:pt x="8188634" y="6721525"/>
                    <a:pt x="8188634" y="6652944"/>
                  </a:cubicBezTo>
                  <a:lnTo>
                    <a:pt x="8188634" y="124460"/>
                  </a:lnTo>
                  <a:cubicBezTo>
                    <a:pt x="8188634" y="55880"/>
                    <a:pt x="8132753" y="0"/>
                    <a:pt x="8064174" y="0"/>
                  </a:cubicBezTo>
                  <a:close/>
                </a:path>
              </a:pathLst>
            </a:custGeom>
            <a:solidFill>
              <a:srgbClr val="13538A"/>
            </a:solidFill>
          </p:spPr>
        </p:sp>
      </p:grpSp>
      <p:grpSp>
        <p:nvGrpSpPr>
          <p:cNvPr name="Group 21" id="21"/>
          <p:cNvGrpSpPr/>
          <p:nvPr/>
        </p:nvGrpSpPr>
        <p:grpSpPr>
          <a:xfrm rot="0">
            <a:off x="11689868" y="3410858"/>
            <a:ext cx="4497632" cy="1006980"/>
            <a:chOff x="0" y="0"/>
            <a:chExt cx="8548308" cy="1913890"/>
          </a:xfrm>
        </p:grpSpPr>
        <p:sp>
          <p:nvSpPr>
            <p:cNvPr name="Freeform 22" id="22"/>
            <p:cNvSpPr/>
            <p:nvPr/>
          </p:nvSpPr>
          <p:spPr>
            <a:xfrm flipH="false" flipV="false" rot="0">
              <a:off x="31750" y="31750"/>
              <a:ext cx="8483566" cy="1850390"/>
            </a:xfrm>
            <a:custGeom>
              <a:avLst/>
              <a:gdLst/>
              <a:ahLst/>
              <a:cxnLst/>
              <a:rect r="r" b="b" t="t" l="l"/>
              <a:pathLst>
                <a:path h="1850390" w="8483566">
                  <a:moveTo>
                    <a:pt x="8392098" y="1850390"/>
                  </a:moveTo>
                  <a:lnTo>
                    <a:pt x="92710" y="1850390"/>
                  </a:lnTo>
                  <a:cubicBezTo>
                    <a:pt x="41910" y="1850390"/>
                    <a:pt x="0" y="1808480"/>
                    <a:pt x="0" y="1757680"/>
                  </a:cubicBezTo>
                  <a:lnTo>
                    <a:pt x="0" y="92710"/>
                  </a:lnTo>
                  <a:cubicBezTo>
                    <a:pt x="0" y="41910"/>
                    <a:pt x="41910" y="0"/>
                    <a:pt x="92710" y="0"/>
                  </a:cubicBezTo>
                  <a:lnTo>
                    <a:pt x="8390828" y="0"/>
                  </a:lnTo>
                  <a:cubicBezTo>
                    <a:pt x="8441628" y="0"/>
                    <a:pt x="8483538" y="41910"/>
                    <a:pt x="8483538" y="92710"/>
                  </a:cubicBezTo>
                  <a:lnTo>
                    <a:pt x="8483538" y="1756410"/>
                  </a:lnTo>
                  <a:cubicBezTo>
                    <a:pt x="8484808" y="1808480"/>
                    <a:pt x="8442898" y="1850390"/>
                    <a:pt x="8392098" y="1850390"/>
                  </a:cubicBezTo>
                  <a:close/>
                </a:path>
              </a:pathLst>
            </a:custGeom>
            <a:solidFill>
              <a:srgbClr val="257BE0"/>
            </a:solidFill>
          </p:spPr>
        </p:sp>
        <p:sp>
          <p:nvSpPr>
            <p:cNvPr name="Freeform 23" id="23"/>
            <p:cNvSpPr/>
            <p:nvPr/>
          </p:nvSpPr>
          <p:spPr>
            <a:xfrm flipH="false" flipV="false" rot="0">
              <a:off x="0" y="0"/>
              <a:ext cx="8548308" cy="1913890"/>
            </a:xfrm>
            <a:custGeom>
              <a:avLst/>
              <a:gdLst/>
              <a:ahLst/>
              <a:cxnLst/>
              <a:rect r="r" b="b" t="t" l="l"/>
              <a:pathLst>
                <a:path h="1913890" w="8548308">
                  <a:moveTo>
                    <a:pt x="8423848" y="59690"/>
                  </a:moveTo>
                  <a:cubicBezTo>
                    <a:pt x="8459408" y="59690"/>
                    <a:pt x="8488618" y="88900"/>
                    <a:pt x="8488618" y="124460"/>
                  </a:cubicBezTo>
                  <a:lnTo>
                    <a:pt x="8488618" y="1789430"/>
                  </a:lnTo>
                  <a:cubicBezTo>
                    <a:pt x="8488618" y="1824990"/>
                    <a:pt x="8459408" y="1854200"/>
                    <a:pt x="8423848" y="1854200"/>
                  </a:cubicBezTo>
                  <a:lnTo>
                    <a:pt x="124460" y="1854200"/>
                  </a:lnTo>
                  <a:cubicBezTo>
                    <a:pt x="88900" y="1854200"/>
                    <a:pt x="59690" y="1824990"/>
                    <a:pt x="59690" y="1789430"/>
                  </a:cubicBezTo>
                  <a:lnTo>
                    <a:pt x="59690" y="124460"/>
                  </a:lnTo>
                  <a:cubicBezTo>
                    <a:pt x="59690" y="88900"/>
                    <a:pt x="88900" y="59690"/>
                    <a:pt x="124460" y="59690"/>
                  </a:cubicBezTo>
                  <a:lnTo>
                    <a:pt x="8423849" y="59690"/>
                  </a:lnTo>
                  <a:moveTo>
                    <a:pt x="8423849" y="0"/>
                  </a:moveTo>
                  <a:lnTo>
                    <a:pt x="124460" y="0"/>
                  </a:lnTo>
                  <a:cubicBezTo>
                    <a:pt x="55880" y="0"/>
                    <a:pt x="0" y="55880"/>
                    <a:pt x="0" y="124460"/>
                  </a:cubicBezTo>
                  <a:lnTo>
                    <a:pt x="0" y="1789430"/>
                  </a:lnTo>
                  <a:cubicBezTo>
                    <a:pt x="0" y="1858010"/>
                    <a:pt x="55880" y="1913890"/>
                    <a:pt x="124460" y="1913890"/>
                  </a:cubicBezTo>
                  <a:lnTo>
                    <a:pt x="8423849" y="1913890"/>
                  </a:lnTo>
                  <a:cubicBezTo>
                    <a:pt x="8492428" y="1913890"/>
                    <a:pt x="8548308" y="1858010"/>
                    <a:pt x="8548308" y="1789430"/>
                  </a:cubicBezTo>
                  <a:lnTo>
                    <a:pt x="8548308" y="124460"/>
                  </a:lnTo>
                  <a:cubicBezTo>
                    <a:pt x="8548308" y="55880"/>
                    <a:pt x="8492428" y="0"/>
                    <a:pt x="8423849" y="0"/>
                  </a:cubicBezTo>
                  <a:close/>
                </a:path>
              </a:pathLst>
            </a:custGeom>
            <a:solidFill>
              <a:srgbClr val="257BE0"/>
            </a:solidFill>
          </p:spPr>
        </p:sp>
      </p:grpSp>
      <p:sp>
        <p:nvSpPr>
          <p:cNvPr name="AutoShape 24" id="24"/>
          <p:cNvSpPr/>
          <p:nvPr/>
        </p:nvSpPr>
        <p:spPr>
          <a:xfrm>
            <a:off x="13463552" y="5319545"/>
            <a:ext cx="606251" cy="0"/>
          </a:xfrm>
          <a:prstGeom prst="line">
            <a:avLst/>
          </a:prstGeom>
          <a:ln cap="flat" w="19050">
            <a:solidFill>
              <a:srgbClr val="003882"/>
            </a:solidFill>
            <a:prstDash val="solid"/>
            <a:headEnd type="none" len="sm" w="sm"/>
            <a:tailEnd type="none" len="sm" w="sm"/>
          </a:ln>
        </p:spPr>
      </p:sp>
      <p:sp>
        <p:nvSpPr>
          <p:cNvPr name="AutoShape 25" id="25"/>
          <p:cNvSpPr/>
          <p:nvPr/>
        </p:nvSpPr>
        <p:spPr>
          <a:xfrm flipV="true">
            <a:off x="9165044" y="3028641"/>
            <a:ext cx="0" cy="382217"/>
          </a:xfrm>
          <a:prstGeom prst="line">
            <a:avLst/>
          </a:prstGeom>
          <a:ln cap="flat" w="19050">
            <a:solidFill>
              <a:srgbClr val="003882"/>
            </a:solidFill>
            <a:prstDash val="solid"/>
            <a:headEnd type="none" len="sm" w="sm"/>
            <a:tailEnd type="none" len="sm" w="sm"/>
          </a:ln>
        </p:spPr>
      </p:sp>
      <p:sp>
        <p:nvSpPr>
          <p:cNvPr name="AutoShape 26" id="26"/>
          <p:cNvSpPr/>
          <p:nvPr/>
        </p:nvSpPr>
        <p:spPr>
          <a:xfrm flipV="true">
            <a:off x="4081509" y="3028641"/>
            <a:ext cx="0" cy="382217"/>
          </a:xfrm>
          <a:prstGeom prst="line">
            <a:avLst/>
          </a:prstGeom>
          <a:ln cap="flat" w="19050">
            <a:solidFill>
              <a:srgbClr val="003882"/>
            </a:solidFill>
            <a:prstDash val="solid"/>
            <a:headEnd type="none" len="sm" w="sm"/>
            <a:tailEnd type="none" len="sm" w="sm"/>
          </a:ln>
        </p:spPr>
      </p:sp>
      <p:grpSp>
        <p:nvGrpSpPr>
          <p:cNvPr name="Group 27" id="27"/>
          <p:cNvGrpSpPr/>
          <p:nvPr/>
        </p:nvGrpSpPr>
        <p:grpSpPr>
          <a:xfrm rot="0">
            <a:off x="6773658" y="1631136"/>
            <a:ext cx="4492358" cy="1006980"/>
            <a:chOff x="0" y="0"/>
            <a:chExt cx="8538284" cy="1913890"/>
          </a:xfrm>
        </p:grpSpPr>
        <p:sp>
          <p:nvSpPr>
            <p:cNvPr name="Freeform 28" id="28"/>
            <p:cNvSpPr/>
            <p:nvPr/>
          </p:nvSpPr>
          <p:spPr>
            <a:xfrm flipH="false" flipV="false" rot="0">
              <a:off x="31750" y="31750"/>
              <a:ext cx="8473542" cy="1850390"/>
            </a:xfrm>
            <a:custGeom>
              <a:avLst/>
              <a:gdLst/>
              <a:ahLst/>
              <a:cxnLst/>
              <a:rect r="r" b="b" t="t" l="l"/>
              <a:pathLst>
                <a:path h="1850390" w="8473542">
                  <a:moveTo>
                    <a:pt x="8382074" y="1850390"/>
                  </a:moveTo>
                  <a:lnTo>
                    <a:pt x="92710" y="1850390"/>
                  </a:lnTo>
                  <a:cubicBezTo>
                    <a:pt x="41910" y="1850390"/>
                    <a:pt x="0" y="1808480"/>
                    <a:pt x="0" y="1757680"/>
                  </a:cubicBezTo>
                  <a:lnTo>
                    <a:pt x="0" y="92710"/>
                  </a:lnTo>
                  <a:cubicBezTo>
                    <a:pt x="0" y="41910"/>
                    <a:pt x="41910" y="0"/>
                    <a:pt x="92710" y="0"/>
                  </a:cubicBezTo>
                  <a:lnTo>
                    <a:pt x="8380804" y="0"/>
                  </a:lnTo>
                  <a:cubicBezTo>
                    <a:pt x="8431604" y="0"/>
                    <a:pt x="8473514" y="41910"/>
                    <a:pt x="8473514" y="92710"/>
                  </a:cubicBezTo>
                  <a:lnTo>
                    <a:pt x="8473514" y="1756410"/>
                  </a:lnTo>
                  <a:cubicBezTo>
                    <a:pt x="8474784" y="1808480"/>
                    <a:pt x="8432874" y="1850390"/>
                    <a:pt x="8382074" y="1850390"/>
                  </a:cubicBezTo>
                  <a:close/>
                </a:path>
              </a:pathLst>
            </a:custGeom>
            <a:solidFill>
              <a:srgbClr val="0866FF"/>
            </a:solidFill>
          </p:spPr>
        </p:sp>
        <p:sp>
          <p:nvSpPr>
            <p:cNvPr name="Freeform 29" id="29"/>
            <p:cNvSpPr/>
            <p:nvPr/>
          </p:nvSpPr>
          <p:spPr>
            <a:xfrm flipH="false" flipV="false" rot="0">
              <a:off x="0" y="0"/>
              <a:ext cx="8538284" cy="1913890"/>
            </a:xfrm>
            <a:custGeom>
              <a:avLst/>
              <a:gdLst/>
              <a:ahLst/>
              <a:cxnLst/>
              <a:rect r="r" b="b" t="t" l="l"/>
              <a:pathLst>
                <a:path h="1913890" w="8538284">
                  <a:moveTo>
                    <a:pt x="8413824" y="59690"/>
                  </a:moveTo>
                  <a:cubicBezTo>
                    <a:pt x="8449384" y="59690"/>
                    <a:pt x="8478594" y="88900"/>
                    <a:pt x="8478594" y="124460"/>
                  </a:cubicBezTo>
                  <a:lnTo>
                    <a:pt x="8478594" y="1789430"/>
                  </a:lnTo>
                  <a:cubicBezTo>
                    <a:pt x="8478594" y="1824990"/>
                    <a:pt x="8449384" y="1854200"/>
                    <a:pt x="8413824" y="1854200"/>
                  </a:cubicBezTo>
                  <a:lnTo>
                    <a:pt x="124460" y="1854200"/>
                  </a:lnTo>
                  <a:cubicBezTo>
                    <a:pt x="88900" y="1854200"/>
                    <a:pt x="59690" y="1824990"/>
                    <a:pt x="59690" y="1789430"/>
                  </a:cubicBezTo>
                  <a:lnTo>
                    <a:pt x="59690" y="124460"/>
                  </a:lnTo>
                  <a:cubicBezTo>
                    <a:pt x="59690" y="88900"/>
                    <a:pt x="88900" y="59690"/>
                    <a:pt x="124460" y="59690"/>
                  </a:cubicBezTo>
                  <a:lnTo>
                    <a:pt x="8413824" y="59690"/>
                  </a:lnTo>
                  <a:moveTo>
                    <a:pt x="8413824" y="0"/>
                  </a:moveTo>
                  <a:lnTo>
                    <a:pt x="124460" y="0"/>
                  </a:lnTo>
                  <a:cubicBezTo>
                    <a:pt x="55880" y="0"/>
                    <a:pt x="0" y="55880"/>
                    <a:pt x="0" y="124460"/>
                  </a:cubicBezTo>
                  <a:lnTo>
                    <a:pt x="0" y="1789430"/>
                  </a:lnTo>
                  <a:cubicBezTo>
                    <a:pt x="0" y="1858010"/>
                    <a:pt x="55880" y="1913890"/>
                    <a:pt x="124460" y="1913890"/>
                  </a:cubicBezTo>
                  <a:lnTo>
                    <a:pt x="8413824" y="1913890"/>
                  </a:lnTo>
                  <a:cubicBezTo>
                    <a:pt x="8482404" y="1913890"/>
                    <a:pt x="8538284" y="1858010"/>
                    <a:pt x="8538284" y="1789430"/>
                  </a:cubicBezTo>
                  <a:lnTo>
                    <a:pt x="8538284" y="124460"/>
                  </a:lnTo>
                  <a:cubicBezTo>
                    <a:pt x="8538284" y="55880"/>
                    <a:pt x="8482404" y="0"/>
                    <a:pt x="8413824" y="0"/>
                  </a:cubicBezTo>
                  <a:close/>
                </a:path>
              </a:pathLst>
            </a:custGeom>
            <a:solidFill>
              <a:srgbClr val="257BE0"/>
            </a:solidFill>
          </p:spPr>
        </p:sp>
      </p:grpSp>
      <p:sp>
        <p:nvSpPr>
          <p:cNvPr name="AutoShape 30" id="30"/>
          <p:cNvSpPr/>
          <p:nvPr/>
        </p:nvSpPr>
        <p:spPr>
          <a:xfrm flipV="true">
            <a:off x="4081509" y="3019116"/>
            <a:ext cx="9988294" cy="0"/>
          </a:xfrm>
          <a:prstGeom prst="line">
            <a:avLst/>
          </a:prstGeom>
          <a:ln cap="flat" w="19050">
            <a:solidFill>
              <a:srgbClr val="003882"/>
            </a:solidFill>
            <a:prstDash val="solid"/>
            <a:headEnd type="none" len="sm" w="sm"/>
            <a:tailEnd type="none" len="sm" w="sm"/>
          </a:ln>
        </p:spPr>
      </p:sp>
      <p:sp>
        <p:nvSpPr>
          <p:cNvPr name="TextBox 31" id="31"/>
          <p:cNvSpPr txBox="true"/>
          <p:nvPr/>
        </p:nvSpPr>
        <p:spPr>
          <a:xfrm rot="0">
            <a:off x="1982264" y="4944160"/>
            <a:ext cx="4016125" cy="3174065"/>
          </a:xfrm>
          <a:prstGeom prst="rect">
            <a:avLst/>
          </a:prstGeom>
        </p:spPr>
        <p:txBody>
          <a:bodyPr anchor="t" rtlCol="false" tIns="0" lIns="0" bIns="0" rIns="0">
            <a:spAutoFit/>
          </a:bodyPr>
          <a:lstStyle/>
          <a:p>
            <a:pPr algn="l" marL="439749" indent="-219875" lvl="1">
              <a:lnSpc>
                <a:spcPts val="2851"/>
              </a:lnSpc>
              <a:buFont typeface="Arial"/>
              <a:buChar char="•"/>
            </a:pPr>
            <a:r>
              <a:rPr lang="en-US" b="true" sz="2036">
                <a:solidFill>
                  <a:srgbClr val="FFFFFF"/>
                </a:solidFill>
                <a:latin typeface="Poppins Medium"/>
                <a:ea typeface="Poppins Medium"/>
                <a:cs typeface="Poppins Medium"/>
                <a:sym typeface="Poppins Medium"/>
              </a:rPr>
              <a:t>Amplíe su alcance de mercado.</a:t>
            </a:r>
          </a:p>
          <a:p>
            <a:pPr algn="l" marL="439749" indent="-219875" lvl="1">
              <a:lnSpc>
                <a:spcPts val="2851"/>
              </a:lnSpc>
              <a:buFont typeface="Arial"/>
              <a:buChar char="•"/>
            </a:pPr>
            <a:r>
              <a:rPr lang="en-US" b="true" sz="2036">
                <a:solidFill>
                  <a:srgbClr val="FFFFFF"/>
                </a:solidFill>
                <a:latin typeface="Poppins Medium"/>
                <a:ea typeface="Poppins Medium"/>
                <a:cs typeface="Poppins Medium"/>
                <a:sym typeface="Poppins Medium"/>
              </a:rPr>
              <a:t>Aumente sus ingresos.</a:t>
            </a:r>
          </a:p>
          <a:p>
            <a:pPr algn="l" marL="439749" indent="-219875" lvl="1">
              <a:lnSpc>
                <a:spcPts val="2851"/>
              </a:lnSpc>
              <a:buFont typeface="Arial"/>
              <a:buChar char="•"/>
            </a:pPr>
            <a:r>
              <a:rPr lang="en-US" b="true" sz="2036">
                <a:solidFill>
                  <a:srgbClr val="FFFFFF"/>
                </a:solidFill>
                <a:latin typeface="Poppins Medium"/>
                <a:ea typeface="Poppins Medium"/>
                <a:cs typeface="Poppins Medium"/>
                <a:sym typeface="Poppins Medium"/>
              </a:rPr>
              <a:t>Modernice sus procesos de venta.</a:t>
            </a:r>
          </a:p>
          <a:p>
            <a:pPr algn="l" marL="439749" indent="-219875" lvl="1">
              <a:lnSpc>
                <a:spcPts val="2851"/>
              </a:lnSpc>
              <a:buFont typeface="Arial"/>
              <a:buChar char="•"/>
            </a:pPr>
            <a:r>
              <a:rPr lang="en-US" b="true" sz="2036">
                <a:solidFill>
                  <a:srgbClr val="FFFFFF"/>
                </a:solidFill>
                <a:latin typeface="Poppins Medium"/>
                <a:ea typeface="Poppins Medium"/>
                <a:cs typeface="Poppins Medium"/>
                <a:sym typeface="Poppins Medium"/>
              </a:rPr>
              <a:t>Asegure la sostenibilidad y competitividad frente al comercio electrónico.</a:t>
            </a:r>
          </a:p>
          <a:p>
            <a:pPr algn="just">
              <a:lnSpc>
                <a:spcPts val="2151"/>
              </a:lnSpc>
            </a:pPr>
          </a:p>
        </p:txBody>
      </p:sp>
      <p:sp>
        <p:nvSpPr>
          <p:cNvPr name="TextBox 32" id="32"/>
          <p:cNvSpPr txBox="true"/>
          <p:nvPr/>
        </p:nvSpPr>
        <p:spPr>
          <a:xfrm rot="0">
            <a:off x="1468782" y="3616550"/>
            <a:ext cx="5064867" cy="509869"/>
          </a:xfrm>
          <a:prstGeom prst="rect">
            <a:avLst/>
          </a:prstGeom>
        </p:spPr>
        <p:txBody>
          <a:bodyPr anchor="t" rtlCol="false" tIns="0" lIns="0" bIns="0" rIns="0">
            <a:spAutoFit/>
          </a:bodyPr>
          <a:lstStyle/>
          <a:p>
            <a:pPr algn="ctr">
              <a:lnSpc>
                <a:spcPts val="3921"/>
              </a:lnSpc>
              <a:spcBef>
                <a:spcPct val="0"/>
              </a:spcBef>
            </a:pPr>
            <a:r>
              <a:rPr lang="en-US" sz="2801">
                <a:solidFill>
                  <a:srgbClr val="FFFFFF"/>
                </a:solidFill>
                <a:latin typeface="Poppins"/>
                <a:ea typeface="Poppins"/>
                <a:cs typeface="Poppins"/>
                <a:sym typeface="Poppins"/>
              </a:rPr>
              <a:t>Objetivo Estratégico</a:t>
            </a:r>
          </a:p>
        </p:txBody>
      </p:sp>
      <p:sp>
        <p:nvSpPr>
          <p:cNvPr name="TextBox 33" id="33"/>
          <p:cNvSpPr txBox="true"/>
          <p:nvPr/>
        </p:nvSpPr>
        <p:spPr>
          <a:xfrm rot="0">
            <a:off x="7020916" y="4880108"/>
            <a:ext cx="3895052" cy="3536015"/>
          </a:xfrm>
          <a:prstGeom prst="rect">
            <a:avLst/>
          </a:prstGeom>
        </p:spPr>
        <p:txBody>
          <a:bodyPr anchor="t" rtlCol="false" tIns="0" lIns="0" bIns="0" rIns="0">
            <a:spAutoFit/>
          </a:bodyPr>
          <a:lstStyle/>
          <a:p>
            <a:pPr algn="l" marL="439749" indent="-219875" lvl="1">
              <a:lnSpc>
                <a:spcPts val="2851"/>
              </a:lnSpc>
              <a:buFont typeface="Arial"/>
              <a:buChar char="•"/>
            </a:pPr>
            <a:r>
              <a:rPr lang="en-US" b="true" sz="2036">
                <a:solidFill>
                  <a:srgbClr val="FFFFFF"/>
                </a:solidFill>
                <a:latin typeface="Poppins Medium"/>
                <a:ea typeface="Poppins Medium"/>
                <a:cs typeface="Poppins Medium"/>
                <a:sym typeface="Poppins Medium"/>
              </a:rPr>
              <a:t>Digitalizar sus procesos de venta.</a:t>
            </a:r>
          </a:p>
          <a:p>
            <a:pPr algn="l" marL="439749" indent="-219875" lvl="1">
              <a:lnSpc>
                <a:spcPts val="2851"/>
              </a:lnSpc>
              <a:buFont typeface="Arial"/>
              <a:buChar char="•"/>
            </a:pPr>
            <a:r>
              <a:rPr lang="en-US" b="true" sz="2036">
                <a:solidFill>
                  <a:srgbClr val="FFFFFF"/>
                </a:solidFill>
                <a:latin typeface="Poppins Medium"/>
                <a:ea typeface="Poppins Medium"/>
                <a:cs typeface="Poppins Medium"/>
                <a:sym typeface="Poppins Medium"/>
              </a:rPr>
              <a:t>Automatizar la g</a:t>
            </a:r>
            <a:r>
              <a:rPr lang="en-US" b="true" sz="2036">
                <a:solidFill>
                  <a:srgbClr val="FFFFFF"/>
                </a:solidFill>
                <a:latin typeface="Poppins Medium"/>
                <a:ea typeface="Poppins Medium"/>
                <a:cs typeface="Poppins Medium"/>
                <a:sym typeface="Poppins Medium"/>
              </a:rPr>
              <a:t>estión de pedidos.</a:t>
            </a:r>
          </a:p>
          <a:p>
            <a:pPr algn="l" marL="439749" indent="-219875" lvl="1">
              <a:lnSpc>
                <a:spcPts val="2851"/>
              </a:lnSpc>
              <a:buFont typeface="Arial"/>
              <a:buChar char="•"/>
            </a:pPr>
            <a:r>
              <a:rPr lang="en-US" b="true" sz="2036">
                <a:solidFill>
                  <a:srgbClr val="FFFFFF"/>
                </a:solidFill>
                <a:latin typeface="Poppins Medium"/>
                <a:ea typeface="Poppins Medium"/>
                <a:cs typeface="Poppins Medium"/>
                <a:sym typeface="Poppins Medium"/>
              </a:rPr>
              <a:t>Ofrecer a los clientes una experiencia de compra accesible, ágil y segura desde cualquier dispositivo.</a:t>
            </a:r>
          </a:p>
          <a:p>
            <a:pPr algn="just">
              <a:lnSpc>
                <a:spcPts val="2151"/>
              </a:lnSpc>
              <a:spcBef>
                <a:spcPct val="0"/>
              </a:spcBef>
            </a:pPr>
          </a:p>
        </p:txBody>
      </p:sp>
      <p:sp>
        <p:nvSpPr>
          <p:cNvPr name="TextBox 34" id="34"/>
          <p:cNvSpPr txBox="true"/>
          <p:nvPr/>
        </p:nvSpPr>
        <p:spPr>
          <a:xfrm rot="0">
            <a:off x="7087897" y="3438779"/>
            <a:ext cx="3960849" cy="914999"/>
          </a:xfrm>
          <a:prstGeom prst="rect">
            <a:avLst/>
          </a:prstGeom>
        </p:spPr>
        <p:txBody>
          <a:bodyPr anchor="t" rtlCol="false" tIns="0" lIns="0" bIns="0" rIns="0">
            <a:spAutoFit/>
          </a:bodyPr>
          <a:lstStyle/>
          <a:p>
            <a:pPr algn="ctr">
              <a:lnSpc>
                <a:spcPts val="3641"/>
              </a:lnSpc>
              <a:spcBef>
                <a:spcPct val="0"/>
              </a:spcBef>
            </a:pPr>
            <a:r>
              <a:rPr lang="en-US" sz="2601">
                <a:solidFill>
                  <a:srgbClr val="FFFFFF"/>
                </a:solidFill>
                <a:latin typeface="Poppins"/>
                <a:ea typeface="Poppins"/>
                <a:cs typeface="Poppins"/>
                <a:sym typeface="Poppins"/>
              </a:rPr>
              <a:t>Objetivo General de Desarrollo</a:t>
            </a:r>
          </a:p>
        </p:txBody>
      </p:sp>
      <p:sp>
        <p:nvSpPr>
          <p:cNvPr name="TextBox 35" id="35"/>
          <p:cNvSpPr txBox="true"/>
          <p:nvPr/>
        </p:nvSpPr>
        <p:spPr>
          <a:xfrm rot="0">
            <a:off x="11897982" y="4950482"/>
            <a:ext cx="4100454" cy="3174065"/>
          </a:xfrm>
          <a:prstGeom prst="rect">
            <a:avLst/>
          </a:prstGeom>
        </p:spPr>
        <p:txBody>
          <a:bodyPr anchor="t" rtlCol="false" tIns="0" lIns="0" bIns="0" rIns="0">
            <a:spAutoFit/>
          </a:bodyPr>
          <a:lstStyle/>
          <a:p>
            <a:pPr algn="l" marL="439749" indent="-219875" lvl="1">
              <a:lnSpc>
                <a:spcPts val="2851"/>
              </a:lnSpc>
              <a:buFont typeface="Arial"/>
              <a:buChar char="•"/>
            </a:pPr>
            <a:r>
              <a:rPr lang="en-US" sz="2036">
                <a:solidFill>
                  <a:srgbClr val="FFFFFF"/>
                </a:solidFill>
                <a:latin typeface="Poppins"/>
                <a:ea typeface="Poppins"/>
                <a:cs typeface="Poppins"/>
                <a:sym typeface="Poppins"/>
              </a:rPr>
              <a:t>Plataforma Web funcional y Tecnología Base.</a:t>
            </a:r>
          </a:p>
          <a:p>
            <a:pPr algn="l" marL="439749" indent="-219875" lvl="1">
              <a:lnSpc>
                <a:spcPts val="2851"/>
              </a:lnSpc>
              <a:buFont typeface="Arial"/>
              <a:buChar char="•"/>
            </a:pPr>
            <a:r>
              <a:rPr lang="en-US" sz="2036">
                <a:solidFill>
                  <a:srgbClr val="FFFFFF"/>
                </a:solidFill>
                <a:latin typeface="Poppins"/>
                <a:ea typeface="Poppins"/>
                <a:cs typeface="Poppins"/>
                <a:sym typeface="Poppins"/>
              </a:rPr>
              <a:t>Transacción y Pago.</a:t>
            </a:r>
          </a:p>
          <a:p>
            <a:pPr algn="l" marL="439749" indent="-219875" lvl="1">
              <a:lnSpc>
                <a:spcPts val="2851"/>
              </a:lnSpc>
              <a:buFont typeface="Arial"/>
              <a:buChar char="•"/>
            </a:pPr>
            <a:r>
              <a:rPr lang="en-US" sz="2036">
                <a:solidFill>
                  <a:srgbClr val="FFFFFF"/>
                </a:solidFill>
                <a:latin typeface="Poppins"/>
                <a:ea typeface="Poppins"/>
                <a:cs typeface="Poppins"/>
                <a:sym typeface="Poppins"/>
              </a:rPr>
              <a:t>Gestión de catálogo y Stock.</a:t>
            </a:r>
          </a:p>
          <a:p>
            <a:pPr algn="l" marL="439749" indent="-219875" lvl="1">
              <a:lnSpc>
                <a:spcPts val="2851"/>
              </a:lnSpc>
              <a:buFont typeface="Arial"/>
              <a:buChar char="•"/>
            </a:pPr>
            <a:r>
              <a:rPr lang="en-US" sz="2036">
                <a:solidFill>
                  <a:srgbClr val="FFFFFF"/>
                </a:solidFill>
                <a:latin typeface="Poppins"/>
                <a:ea typeface="Poppins"/>
                <a:cs typeface="Poppins"/>
                <a:sym typeface="Poppins"/>
              </a:rPr>
              <a:t>Gestión de clientes y Operaciones.</a:t>
            </a:r>
          </a:p>
          <a:p>
            <a:pPr algn="l" marL="439749" indent="-219875" lvl="1">
              <a:lnSpc>
                <a:spcPts val="2851"/>
              </a:lnSpc>
              <a:buFont typeface="Arial"/>
              <a:buChar char="•"/>
            </a:pPr>
            <a:r>
              <a:rPr lang="en-US" sz="2036">
                <a:solidFill>
                  <a:srgbClr val="FFFFFF"/>
                </a:solidFill>
                <a:latin typeface="Poppins"/>
                <a:ea typeface="Poppins"/>
                <a:cs typeface="Poppins"/>
                <a:sym typeface="Poppins"/>
              </a:rPr>
              <a:t>Análisis de Marketing Básico</a:t>
            </a:r>
          </a:p>
          <a:p>
            <a:pPr algn="ctr">
              <a:lnSpc>
                <a:spcPts val="2151"/>
              </a:lnSpc>
              <a:spcBef>
                <a:spcPct val="0"/>
              </a:spcBef>
            </a:pPr>
          </a:p>
        </p:txBody>
      </p:sp>
      <p:sp>
        <p:nvSpPr>
          <p:cNvPr name="TextBox 36" id="36"/>
          <p:cNvSpPr txBox="true"/>
          <p:nvPr/>
        </p:nvSpPr>
        <p:spPr>
          <a:xfrm rot="0">
            <a:off x="11784488" y="3464652"/>
            <a:ext cx="4308391" cy="914999"/>
          </a:xfrm>
          <a:prstGeom prst="rect">
            <a:avLst/>
          </a:prstGeom>
        </p:spPr>
        <p:txBody>
          <a:bodyPr anchor="t" rtlCol="false" tIns="0" lIns="0" bIns="0" rIns="0">
            <a:spAutoFit/>
          </a:bodyPr>
          <a:lstStyle/>
          <a:p>
            <a:pPr algn="ctr">
              <a:lnSpc>
                <a:spcPts val="3641"/>
              </a:lnSpc>
              <a:spcBef>
                <a:spcPct val="0"/>
              </a:spcBef>
            </a:pPr>
            <a:r>
              <a:rPr lang="en-US" sz="2601">
                <a:solidFill>
                  <a:srgbClr val="FFFFFF"/>
                </a:solidFill>
                <a:latin typeface="Poppins"/>
                <a:ea typeface="Poppins"/>
                <a:cs typeface="Poppins"/>
                <a:sym typeface="Poppins"/>
              </a:rPr>
              <a:t>Objetivos Específicos Priorizados</a:t>
            </a:r>
          </a:p>
        </p:txBody>
      </p:sp>
      <p:sp>
        <p:nvSpPr>
          <p:cNvPr name="TextBox 37" id="37"/>
          <p:cNvSpPr txBox="true"/>
          <p:nvPr/>
        </p:nvSpPr>
        <p:spPr>
          <a:xfrm rot="0">
            <a:off x="7020916" y="1860561"/>
            <a:ext cx="4027830" cy="491805"/>
          </a:xfrm>
          <a:prstGeom prst="rect">
            <a:avLst/>
          </a:prstGeom>
        </p:spPr>
        <p:txBody>
          <a:bodyPr anchor="t" rtlCol="false" tIns="0" lIns="0" bIns="0" rIns="0">
            <a:spAutoFit/>
          </a:bodyPr>
          <a:lstStyle/>
          <a:p>
            <a:pPr algn="ctr">
              <a:lnSpc>
                <a:spcPts val="3867"/>
              </a:lnSpc>
              <a:spcBef>
                <a:spcPct val="0"/>
              </a:spcBef>
            </a:pPr>
            <a:r>
              <a:rPr lang="en-US" sz="2762">
                <a:solidFill>
                  <a:srgbClr val="FFFFFF"/>
                </a:solidFill>
                <a:latin typeface="Poppins"/>
                <a:ea typeface="Poppins"/>
                <a:cs typeface="Poppins"/>
                <a:sym typeface="Poppins"/>
              </a:rPr>
              <a:t>Objetivos Generales</a:t>
            </a:r>
          </a:p>
        </p:txBody>
      </p:sp>
      <p:sp>
        <p:nvSpPr>
          <p:cNvPr name="AutoShape 38" id="38"/>
          <p:cNvSpPr/>
          <p:nvPr/>
        </p:nvSpPr>
        <p:spPr>
          <a:xfrm flipV="true">
            <a:off x="14034119" y="3019116"/>
            <a:ext cx="5562" cy="391742"/>
          </a:xfrm>
          <a:prstGeom prst="line">
            <a:avLst/>
          </a:prstGeom>
          <a:ln cap="flat" w="19050">
            <a:solidFill>
              <a:srgbClr val="003882"/>
            </a:solidFill>
            <a:prstDash val="solid"/>
            <a:headEnd type="none" len="sm" w="sm"/>
            <a:tailEnd type="none" len="sm" w="sm"/>
          </a:ln>
        </p:spPr>
      </p:sp>
      <p:sp>
        <p:nvSpPr>
          <p:cNvPr name="AutoShape 39" id="39"/>
          <p:cNvSpPr/>
          <p:nvPr/>
        </p:nvSpPr>
        <p:spPr>
          <a:xfrm flipV="true">
            <a:off x="9165044" y="2636899"/>
            <a:ext cx="0" cy="382217"/>
          </a:xfrm>
          <a:prstGeom prst="line">
            <a:avLst/>
          </a:prstGeom>
          <a:ln cap="flat" w="19050">
            <a:solidFill>
              <a:srgbClr val="003882"/>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9382374" y="-885640"/>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sp>
        <p:nvSpPr>
          <p:cNvPr name="Freeform 3" id="3"/>
          <p:cNvSpPr/>
          <p:nvPr/>
        </p:nvSpPr>
        <p:spPr>
          <a:xfrm flipH="false" flipV="false" rot="0">
            <a:off x="15666340" y="59293"/>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sp>
        <p:nvSpPr>
          <p:cNvPr name="Freeform 4" id="4"/>
          <p:cNvSpPr/>
          <p:nvPr/>
        </p:nvSpPr>
        <p:spPr>
          <a:xfrm flipH="false" flipV="false" rot="0">
            <a:off x="-1363543" y="1916072"/>
            <a:ext cx="10429472" cy="9451709"/>
          </a:xfrm>
          <a:custGeom>
            <a:avLst/>
            <a:gdLst/>
            <a:ahLst/>
            <a:cxnLst/>
            <a:rect r="r" b="b" t="t" l="l"/>
            <a:pathLst>
              <a:path h="9451709" w="10429472">
                <a:moveTo>
                  <a:pt x="0" y="0"/>
                </a:moveTo>
                <a:lnTo>
                  <a:pt x="10429472" y="0"/>
                </a:lnTo>
                <a:lnTo>
                  <a:pt x="10429472" y="9451709"/>
                </a:lnTo>
                <a:lnTo>
                  <a:pt x="0" y="9451709"/>
                </a:lnTo>
                <a:lnTo>
                  <a:pt x="0" y="0"/>
                </a:lnTo>
                <a:close/>
              </a:path>
            </a:pathLst>
          </a:custGeom>
          <a:blipFill>
            <a:blip r:embed="rId3"/>
            <a:stretch>
              <a:fillRect l="0" t="0" r="0" b="0"/>
            </a:stretch>
          </a:blipFill>
        </p:spPr>
      </p:sp>
      <p:grpSp>
        <p:nvGrpSpPr>
          <p:cNvPr name="Group 5" id="5"/>
          <p:cNvGrpSpPr/>
          <p:nvPr/>
        </p:nvGrpSpPr>
        <p:grpSpPr>
          <a:xfrm rot="0">
            <a:off x="1014915" y="6027787"/>
            <a:ext cx="1771726" cy="1006980"/>
            <a:chOff x="0" y="0"/>
            <a:chExt cx="3367385" cy="1913890"/>
          </a:xfrm>
        </p:grpSpPr>
        <p:sp>
          <p:nvSpPr>
            <p:cNvPr name="Freeform 6" id="6"/>
            <p:cNvSpPr/>
            <p:nvPr/>
          </p:nvSpPr>
          <p:spPr>
            <a:xfrm flipH="false" flipV="false" rot="0">
              <a:off x="31750" y="31750"/>
              <a:ext cx="3302643" cy="1850390"/>
            </a:xfrm>
            <a:custGeom>
              <a:avLst/>
              <a:gdLst/>
              <a:ahLst/>
              <a:cxnLst/>
              <a:rect r="r" b="b" t="t" l="l"/>
              <a:pathLst>
                <a:path h="1850390" w="3302643">
                  <a:moveTo>
                    <a:pt x="3211175" y="1850390"/>
                  </a:moveTo>
                  <a:lnTo>
                    <a:pt x="92710" y="1850390"/>
                  </a:lnTo>
                  <a:cubicBezTo>
                    <a:pt x="41910" y="1850390"/>
                    <a:pt x="0" y="1808480"/>
                    <a:pt x="0" y="1757680"/>
                  </a:cubicBezTo>
                  <a:lnTo>
                    <a:pt x="0" y="92710"/>
                  </a:lnTo>
                  <a:cubicBezTo>
                    <a:pt x="0" y="41910"/>
                    <a:pt x="41910" y="0"/>
                    <a:pt x="92710" y="0"/>
                  </a:cubicBezTo>
                  <a:lnTo>
                    <a:pt x="3209905" y="0"/>
                  </a:lnTo>
                  <a:cubicBezTo>
                    <a:pt x="3260705" y="0"/>
                    <a:pt x="3302615" y="41910"/>
                    <a:pt x="3302615" y="92710"/>
                  </a:cubicBezTo>
                  <a:lnTo>
                    <a:pt x="3302615" y="1756410"/>
                  </a:lnTo>
                  <a:cubicBezTo>
                    <a:pt x="3303885" y="1808480"/>
                    <a:pt x="3261975" y="1850390"/>
                    <a:pt x="3211175" y="1850390"/>
                  </a:cubicBezTo>
                  <a:close/>
                </a:path>
              </a:pathLst>
            </a:custGeom>
            <a:solidFill>
              <a:srgbClr val="13538A"/>
            </a:solidFill>
          </p:spPr>
        </p:sp>
        <p:sp>
          <p:nvSpPr>
            <p:cNvPr name="Freeform 7" id="7"/>
            <p:cNvSpPr/>
            <p:nvPr/>
          </p:nvSpPr>
          <p:spPr>
            <a:xfrm flipH="false" flipV="false" rot="0">
              <a:off x="0" y="0"/>
              <a:ext cx="3367385" cy="1913890"/>
            </a:xfrm>
            <a:custGeom>
              <a:avLst/>
              <a:gdLst/>
              <a:ahLst/>
              <a:cxnLst/>
              <a:rect r="r" b="b" t="t" l="l"/>
              <a:pathLst>
                <a:path h="1913890" w="3367385">
                  <a:moveTo>
                    <a:pt x="3242925" y="59690"/>
                  </a:moveTo>
                  <a:cubicBezTo>
                    <a:pt x="3278485" y="59690"/>
                    <a:pt x="3307695" y="88900"/>
                    <a:pt x="3307695" y="124460"/>
                  </a:cubicBezTo>
                  <a:lnTo>
                    <a:pt x="3307695" y="1789430"/>
                  </a:lnTo>
                  <a:cubicBezTo>
                    <a:pt x="3307695" y="1824990"/>
                    <a:pt x="3278485" y="1854200"/>
                    <a:pt x="3242925" y="1854200"/>
                  </a:cubicBezTo>
                  <a:lnTo>
                    <a:pt x="124460" y="1854200"/>
                  </a:lnTo>
                  <a:cubicBezTo>
                    <a:pt x="88900" y="1854200"/>
                    <a:pt x="59690" y="1824990"/>
                    <a:pt x="59690" y="1789430"/>
                  </a:cubicBezTo>
                  <a:lnTo>
                    <a:pt x="59690" y="124460"/>
                  </a:lnTo>
                  <a:cubicBezTo>
                    <a:pt x="59690" y="88900"/>
                    <a:pt x="88900" y="59690"/>
                    <a:pt x="124460" y="59690"/>
                  </a:cubicBezTo>
                  <a:lnTo>
                    <a:pt x="3242925" y="59690"/>
                  </a:lnTo>
                  <a:moveTo>
                    <a:pt x="3242925" y="0"/>
                  </a:moveTo>
                  <a:lnTo>
                    <a:pt x="124460" y="0"/>
                  </a:lnTo>
                  <a:cubicBezTo>
                    <a:pt x="55880" y="0"/>
                    <a:pt x="0" y="55880"/>
                    <a:pt x="0" y="124460"/>
                  </a:cubicBezTo>
                  <a:lnTo>
                    <a:pt x="0" y="1789430"/>
                  </a:lnTo>
                  <a:cubicBezTo>
                    <a:pt x="0" y="1858010"/>
                    <a:pt x="55880" y="1913890"/>
                    <a:pt x="124460" y="1913890"/>
                  </a:cubicBezTo>
                  <a:lnTo>
                    <a:pt x="3242925" y="1913890"/>
                  </a:lnTo>
                  <a:cubicBezTo>
                    <a:pt x="3311505" y="1913890"/>
                    <a:pt x="3367385" y="1858010"/>
                    <a:pt x="3367385" y="1789430"/>
                  </a:cubicBezTo>
                  <a:lnTo>
                    <a:pt x="3367385" y="124460"/>
                  </a:lnTo>
                  <a:cubicBezTo>
                    <a:pt x="3367385" y="55880"/>
                    <a:pt x="3311505" y="0"/>
                    <a:pt x="3242925" y="0"/>
                  </a:cubicBezTo>
                  <a:close/>
                </a:path>
              </a:pathLst>
            </a:custGeom>
            <a:solidFill>
              <a:srgbClr val="13538A"/>
            </a:solidFill>
          </p:spPr>
        </p:sp>
      </p:grpSp>
      <p:grpSp>
        <p:nvGrpSpPr>
          <p:cNvPr name="Group 8" id="8"/>
          <p:cNvGrpSpPr/>
          <p:nvPr/>
        </p:nvGrpSpPr>
        <p:grpSpPr>
          <a:xfrm rot="0">
            <a:off x="1014915" y="4754657"/>
            <a:ext cx="1771726" cy="1006980"/>
            <a:chOff x="0" y="0"/>
            <a:chExt cx="3367385" cy="1913890"/>
          </a:xfrm>
        </p:grpSpPr>
        <p:sp>
          <p:nvSpPr>
            <p:cNvPr name="Freeform 9" id="9"/>
            <p:cNvSpPr/>
            <p:nvPr/>
          </p:nvSpPr>
          <p:spPr>
            <a:xfrm flipH="false" flipV="false" rot="0">
              <a:off x="31750" y="31750"/>
              <a:ext cx="3302643" cy="1850390"/>
            </a:xfrm>
            <a:custGeom>
              <a:avLst/>
              <a:gdLst/>
              <a:ahLst/>
              <a:cxnLst/>
              <a:rect r="r" b="b" t="t" l="l"/>
              <a:pathLst>
                <a:path h="1850390" w="3302643">
                  <a:moveTo>
                    <a:pt x="3211175" y="1850390"/>
                  </a:moveTo>
                  <a:lnTo>
                    <a:pt x="92710" y="1850390"/>
                  </a:lnTo>
                  <a:cubicBezTo>
                    <a:pt x="41910" y="1850390"/>
                    <a:pt x="0" y="1808480"/>
                    <a:pt x="0" y="1757680"/>
                  </a:cubicBezTo>
                  <a:lnTo>
                    <a:pt x="0" y="92710"/>
                  </a:lnTo>
                  <a:cubicBezTo>
                    <a:pt x="0" y="41910"/>
                    <a:pt x="41910" y="0"/>
                    <a:pt x="92710" y="0"/>
                  </a:cubicBezTo>
                  <a:lnTo>
                    <a:pt x="3209905" y="0"/>
                  </a:lnTo>
                  <a:cubicBezTo>
                    <a:pt x="3260705" y="0"/>
                    <a:pt x="3302615" y="41910"/>
                    <a:pt x="3302615" y="92710"/>
                  </a:cubicBezTo>
                  <a:lnTo>
                    <a:pt x="3302615" y="1756410"/>
                  </a:lnTo>
                  <a:cubicBezTo>
                    <a:pt x="3303885" y="1808480"/>
                    <a:pt x="3261975" y="1850390"/>
                    <a:pt x="3211175" y="1850390"/>
                  </a:cubicBezTo>
                  <a:close/>
                </a:path>
              </a:pathLst>
            </a:custGeom>
            <a:solidFill>
              <a:srgbClr val="13538A"/>
            </a:solidFill>
          </p:spPr>
        </p:sp>
        <p:sp>
          <p:nvSpPr>
            <p:cNvPr name="Freeform 10" id="10"/>
            <p:cNvSpPr/>
            <p:nvPr/>
          </p:nvSpPr>
          <p:spPr>
            <a:xfrm flipH="false" flipV="false" rot="0">
              <a:off x="0" y="0"/>
              <a:ext cx="3367385" cy="1913890"/>
            </a:xfrm>
            <a:custGeom>
              <a:avLst/>
              <a:gdLst/>
              <a:ahLst/>
              <a:cxnLst/>
              <a:rect r="r" b="b" t="t" l="l"/>
              <a:pathLst>
                <a:path h="1913890" w="3367385">
                  <a:moveTo>
                    <a:pt x="3242925" y="59690"/>
                  </a:moveTo>
                  <a:cubicBezTo>
                    <a:pt x="3278485" y="59690"/>
                    <a:pt x="3307695" y="88900"/>
                    <a:pt x="3307695" y="124460"/>
                  </a:cubicBezTo>
                  <a:lnTo>
                    <a:pt x="3307695" y="1789430"/>
                  </a:lnTo>
                  <a:cubicBezTo>
                    <a:pt x="3307695" y="1824990"/>
                    <a:pt x="3278485" y="1854200"/>
                    <a:pt x="3242925" y="1854200"/>
                  </a:cubicBezTo>
                  <a:lnTo>
                    <a:pt x="124460" y="1854200"/>
                  </a:lnTo>
                  <a:cubicBezTo>
                    <a:pt x="88900" y="1854200"/>
                    <a:pt x="59690" y="1824990"/>
                    <a:pt x="59690" y="1789430"/>
                  </a:cubicBezTo>
                  <a:lnTo>
                    <a:pt x="59690" y="124460"/>
                  </a:lnTo>
                  <a:cubicBezTo>
                    <a:pt x="59690" y="88900"/>
                    <a:pt x="88900" y="59690"/>
                    <a:pt x="124460" y="59690"/>
                  </a:cubicBezTo>
                  <a:lnTo>
                    <a:pt x="3242925" y="59690"/>
                  </a:lnTo>
                  <a:moveTo>
                    <a:pt x="3242925" y="0"/>
                  </a:moveTo>
                  <a:lnTo>
                    <a:pt x="124460" y="0"/>
                  </a:lnTo>
                  <a:cubicBezTo>
                    <a:pt x="55880" y="0"/>
                    <a:pt x="0" y="55880"/>
                    <a:pt x="0" y="124460"/>
                  </a:cubicBezTo>
                  <a:lnTo>
                    <a:pt x="0" y="1789430"/>
                  </a:lnTo>
                  <a:cubicBezTo>
                    <a:pt x="0" y="1858010"/>
                    <a:pt x="55880" y="1913890"/>
                    <a:pt x="124460" y="1913890"/>
                  </a:cubicBezTo>
                  <a:lnTo>
                    <a:pt x="3242925" y="1913890"/>
                  </a:lnTo>
                  <a:cubicBezTo>
                    <a:pt x="3311505" y="1913890"/>
                    <a:pt x="3367385" y="1858010"/>
                    <a:pt x="3367385" y="1789430"/>
                  </a:cubicBezTo>
                  <a:lnTo>
                    <a:pt x="3367385" y="124460"/>
                  </a:lnTo>
                  <a:cubicBezTo>
                    <a:pt x="3367385" y="55880"/>
                    <a:pt x="3311505" y="0"/>
                    <a:pt x="3242925" y="0"/>
                  </a:cubicBezTo>
                  <a:close/>
                </a:path>
              </a:pathLst>
            </a:custGeom>
            <a:solidFill>
              <a:srgbClr val="13538A"/>
            </a:solidFill>
          </p:spPr>
        </p:sp>
      </p:grpSp>
      <p:grpSp>
        <p:nvGrpSpPr>
          <p:cNvPr name="Group 11" id="11"/>
          <p:cNvGrpSpPr/>
          <p:nvPr/>
        </p:nvGrpSpPr>
        <p:grpSpPr>
          <a:xfrm rot="0">
            <a:off x="712832" y="3388689"/>
            <a:ext cx="2271331" cy="1006980"/>
            <a:chOff x="0" y="0"/>
            <a:chExt cx="4316947" cy="1913890"/>
          </a:xfrm>
        </p:grpSpPr>
        <p:sp>
          <p:nvSpPr>
            <p:cNvPr name="Freeform 12" id="12"/>
            <p:cNvSpPr/>
            <p:nvPr/>
          </p:nvSpPr>
          <p:spPr>
            <a:xfrm flipH="false" flipV="false" rot="0">
              <a:off x="31750" y="31750"/>
              <a:ext cx="4252205" cy="1850390"/>
            </a:xfrm>
            <a:custGeom>
              <a:avLst/>
              <a:gdLst/>
              <a:ahLst/>
              <a:cxnLst/>
              <a:rect r="r" b="b" t="t" l="l"/>
              <a:pathLst>
                <a:path h="1850390" w="4252205">
                  <a:moveTo>
                    <a:pt x="4160737" y="1850390"/>
                  </a:moveTo>
                  <a:lnTo>
                    <a:pt x="92710" y="1850390"/>
                  </a:lnTo>
                  <a:cubicBezTo>
                    <a:pt x="41910" y="1850390"/>
                    <a:pt x="0" y="1808480"/>
                    <a:pt x="0" y="1757680"/>
                  </a:cubicBezTo>
                  <a:lnTo>
                    <a:pt x="0" y="92710"/>
                  </a:lnTo>
                  <a:cubicBezTo>
                    <a:pt x="0" y="41910"/>
                    <a:pt x="41910" y="0"/>
                    <a:pt x="92710" y="0"/>
                  </a:cubicBezTo>
                  <a:lnTo>
                    <a:pt x="4159467" y="0"/>
                  </a:lnTo>
                  <a:cubicBezTo>
                    <a:pt x="4210267" y="0"/>
                    <a:pt x="4252177" y="41910"/>
                    <a:pt x="4252177" y="92710"/>
                  </a:cubicBezTo>
                  <a:lnTo>
                    <a:pt x="4252177" y="1756410"/>
                  </a:lnTo>
                  <a:cubicBezTo>
                    <a:pt x="4253447" y="1808480"/>
                    <a:pt x="4211537" y="1850390"/>
                    <a:pt x="4160737" y="1850390"/>
                  </a:cubicBezTo>
                  <a:close/>
                </a:path>
              </a:pathLst>
            </a:custGeom>
            <a:solidFill>
              <a:srgbClr val="257BE0"/>
            </a:solidFill>
          </p:spPr>
        </p:sp>
        <p:sp>
          <p:nvSpPr>
            <p:cNvPr name="Freeform 13" id="13"/>
            <p:cNvSpPr/>
            <p:nvPr/>
          </p:nvSpPr>
          <p:spPr>
            <a:xfrm flipH="false" flipV="false" rot="0">
              <a:off x="0" y="0"/>
              <a:ext cx="4316947" cy="1913890"/>
            </a:xfrm>
            <a:custGeom>
              <a:avLst/>
              <a:gdLst/>
              <a:ahLst/>
              <a:cxnLst/>
              <a:rect r="r" b="b" t="t" l="l"/>
              <a:pathLst>
                <a:path h="1913890" w="4316947">
                  <a:moveTo>
                    <a:pt x="4192487" y="59690"/>
                  </a:moveTo>
                  <a:cubicBezTo>
                    <a:pt x="4228047" y="59690"/>
                    <a:pt x="4257257" y="88900"/>
                    <a:pt x="4257257" y="124460"/>
                  </a:cubicBezTo>
                  <a:lnTo>
                    <a:pt x="4257257" y="1789430"/>
                  </a:lnTo>
                  <a:cubicBezTo>
                    <a:pt x="4257257" y="1824990"/>
                    <a:pt x="4228047" y="1854200"/>
                    <a:pt x="4192487" y="1854200"/>
                  </a:cubicBezTo>
                  <a:lnTo>
                    <a:pt x="124460" y="1854200"/>
                  </a:lnTo>
                  <a:cubicBezTo>
                    <a:pt x="88900" y="1854200"/>
                    <a:pt x="59690" y="1824990"/>
                    <a:pt x="59690" y="1789430"/>
                  </a:cubicBezTo>
                  <a:lnTo>
                    <a:pt x="59690" y="124460"/>
                  </a:lnTo>
                  <a:cubicBezTo>
                    <a:pt x="59690" y="88900"/>
                    <a:pt x="88900" y="59690"/>
                    <a:pt x="124460" y="59690"/>
                  </a:cubicBezTo>
                  <a:lnTo>
                    <a:pt x="4192488" y="59690"/>
                  </a:lnTo>
                  <a:moveTo>
                    <a:pt x="4192488" y="0"/>
                  </a:moveTo>
                  <a:lnTo>
                    <a:pt x="124460" y="0"/>
                  </a:lnTo>
                  <a:cubicBezTo>
                    <a:pt x="55880" y="0"/>
                    <a:pt x="0" y="55880"/>
                    <a:pt x="0" y="124460"/>
                  </a:cubicBezTo>
                  <a:lnTo>
                    <a:pt x="0" y="1789430"/>
                  </a:lnTo>
                  <a:cubicBezTo>
                    <a:pt x="0" y="1858010"/>
                    <a:pt x="55880" y="1913890"/>
                    <a:pt x="124460" y="1913890"/>
                  </a:cubicBezTo>
                  <a:lnTo>
                    <a:pt x="4192488" y="1913890"/>
                  </a:lnTo>
                  <a:cubicBezTo>
                    <a:pt x="4261067" y="1913890"/>
                    <a:pt x="4316947" y="1858010"/>
                    <a:pt x="4316947" y="1789430"/>
                  </a:cubicBezTo>
                  <a:lnTo>
                    <a:pt x="4316947" y="124460"/>
                  </a:lnTo>
                  <a:cubicBezTo>
                    <a:pt x="4316947" y="55880"/>
                    <a:pt x="4261067" y="0"/>
                    <a:pt x="4192488" y="0"/>
                  </a:cubicBezTo>
                  <a:close/>
                </a:path>
              </a:pathLst>
            </a:custGeom>
            <a:solidFill>
              <a:srgbClr val="257BE0"/>
            </a:solidFill>
          </p:spPr>
        </p:sp>
      </p:grpSp>
      <p:sp>
        <p:nvSpPr>
          <p:cNvPr name="AutoShape 14" id="14"/>
          <p:cNvSpPr/>
          <p:nvPr/>
        </p:nvSpPr>
        <p:spPr>
          <a:xfrm flipV="true">
            <a:off x="1900778" y="4331609"/>
            <a:ext cx="0" cy="423048"/>
          </a:xfrm>
          <a:prstGeom prst="line">
            <a:avLst/>
          </a:prstGeom>
          <a:ln cap="rnd" w="19050">
            <a:solidFill>
              <a:srgbClr val="003882"/>
            </a:solidFill>
            <a:prstDash val="solid"/>
            <a:headEnd type="none" len="sm" w="sm"/>
            <a:tailEnd type="none" len="sm" w="sm"/>
          </a:ln>
        </p:spPr>
      </p:sp>
      <p:sp>
        <p:nvSpPr>
          <p:cNvPr name="AutoShape 15" id="15"/>
          <p:cNvSpPr/>
          <p:nvPr/>
        </p:nvSpPr>
        <p:spPr>
          <a:xfrm flipH="true">
            <a:off x="1900778" y="5761637"/>
            <a:ext cx="0" cy="266150"/>
          </a:xfrm>
          <a:prstGeom prst="line">
            <a:avLst/>
          </a:prstGeom>
          <a:ln cap="flat" w="19050">
            <a:solidFill>
              <a:srgbClr val="003882"/>
            </a:solidFill>
            <a:prstDash val="solid"/>
            <a:headEnd type="none" len="sm" w="sm"/>
            <a:tailEnd type="none" len="sm" w="sm"/>
          </a:ln>
        </p:spPr>
      </p:sp>
      <p:grpSp>
        <p:nvGrpSpPr>
          <p:cNvPr name="Group 16" id="16"/>
          <p:cNvGrpSpPr/>
          <p:nvPr/>
        </p:nvGrpSpPr>
        <p:grpSpPr>
          <a:xfrm rot="0">
            <a:off x="3464968" y="6071551"/>
            <a:ext cx="1770609" cy="976409"/>
            <a:chOff x="0" y="0"/>
            <a:chExt cx="3365262" cy="1855787"/>
          </a:xfrm>
        </p:grpSpPr>
        <p:sp>
          <p:nvSpPr>
            <p:cNvPr name="Freeform 17" id="17"/>
            <p:cNvSpPr/>
            <p:nvPr/>
          </p:nvSpPr>
          <p:spPr>
            <a:xfrm flipH="false" flipV="false" rot="0">
              <a:off x="31750" y="31750"/>
              <a:ext cx="3300520" cy="1792287"/>
            </a:xfrm>
            <a:custGeom>
              <a:avLst/>
              <a:gdLst/>
              <a:ahLst/>
              <a:cxnLst/>
              <a:rect r="r" b="b" t="t" l="l"/>
              <a:pathLst>
                <a:path h="1792287" w="3300520">
                  <a:moveTo>
                    <a:pt x="3209052" y="1792287"/>
                  </a:moveTo>
                  <a:lnTo>
                    <a:pt x="92710" y="1792287"/>
                  </a:lnTo>
                  <a:cubicBezTo>
                    <a:pt x="41910" y="1792287"/>
                    <a:pt x="0" y="1750377"/>
                    <a:pt x="0" y="1699577"/>
                  </a:cubicBezTo>
                  <a:lnTo>
                    <a:pt x="0" y="92710"/>
                  </a:lnTo>
                  <a:cubicBezTo>
                    <a:pt x="0" y="41910"/>
                    <a:pt x="41910" y="0"/>
                    <a:pt x="92710" y="0"/>
                  </a:cubicBezTo>
                  <a:lnTo>
                    <a:pt x="3207782" y="0"/>
                  </a:lnTo>
                  <a:cubicBezTo>
                    <a:pt x="3258582" y="0"/>
                    <a:pt x="3300492" y="41910"/>
                    <a:pt x="3300492" y="92710"/>
                  </a:cubicBezTo>
                  <a:lnTo>
                    <a:pt x="3300492" y="1698307"/>
                  </a:lnTo>
                  <a:cubicBezTo>
                    <a:pt x="3301762" y="1750377"/>
                    <a:pt x="3259852" y="1792287"/>
                    <a:pt x="3209052" y="1792287"/>
                  </a:cubicBezTo>
                  <a:close/>
                </a:path>
              </a:pathLst>
            </a:custGeom>
            <a:solidFill>
              <a:srgbClr val="13538A"/>
            </a:solidFill>
          </p:spPr>
        </p:sp>
        <p:sp>
          <p:nvSpPr>
            <p:cNvPr name="Freeform 18" id="18"/>
            <p:cNvSpPr/>
            <p:nvPr/>
          </p:nvSpPr>
          <p:spPr>
            <a:xfrm flipH="false" flipV="false" rot="0">
              <a:off x="0" y="0"/>
              <a:ext cx="3365262" cy="1855787"/>
            </a:xfrm>
            <a:custGeom>
              <a:avLst/>
              <a:gdLst/>
              <a:ahLst/>
              <a:cxnLst/>
              <a:rect r="r" b="b" t="t" l="l"/>
              <a:pathLst>
                <a:path h="1855787" w="3365262">
                  <a:moveTo>
                    <a:pt x="3240802" y="59690"/>
                  </a:moveTo>
                  <a:cubicBezTo>
                    <a:pt x="3276362" y="59690"/>
                    <a:pt x="3305572" y="88900"/>
                    <a:pt x="3305572" y="124460"/>
                  </a:cubicBezTo>
                  <a:lnTo>
                    <a:pt x="3305572" y="1731327"/>
                  </a:lnTo>
                  <a:cubicBezTo>
                    <a:pt x="3305572" y="1766887"/>
                    <a:pt x="3276362" y="1796097"/>
                    <a:pt x="3240802" y="1796097"/>
                  </a:cubicBezTo>
                  <a:lnTo>
                    <a:pt x="124460" y="1796097"/>
                  </a:lnTo>
                  <a:cubicBezTo>
                    <a:pt x="88900" y="1796097"/>
                    <a:pt x="59690" y="1766887"/>
                    <a:pt x="59690" y="1731327"/>
                  </a:cubicBezTo>
                  <a:lnTo>
                    <a:pt x="59690" y="124460"/>
                  </a:lnTo>
                  <a:cubicBezTo>
                    <a:pt x="59690" y="88900"/>
                    <a:pt x="88900" y="59690"/>
                    <a:pt x="124460" y="59690"/>
                  </a:cubicBezTo>
                  <a:lnTo>
                    <a:pt x="3240802" y="59690"/>
                  </a:lnTo>
                  <a:moveTo>
                    <a:pt x="3240802" y="0"/>
                  </a:moveTo>
                  <a:lnTo>
                    <a:pt x="124460" y="0"/>
                  </a:lnTo>
                  <a:cubicBezTo>
                    <a:pt x="55880" y="0"/>
                    <a:pt x="0" y="55880"/>
                    <a:pt x="0" y="124460"/>
                  </a:cubicBezTo>
                  <a:lnTo>
                    <a:pt x="0" y="1731327"/>
                  </a:lnTo>
                  <a:cubicBezTo>
                    <a:pt x="0" y="1799907"/>
                    <a:pt x="55880" y="1855787"/>
                    <a:pt x="124460" y="1855787"/>
                  </a:cubicBezTo>
                  <a:lnTo>
                    <a:pt x="3240802" y="1855787"/>
                  </a:lnTo>
                  <a:cubicBezTo>
                    <a:pt x="3309382" y="1855787"/>
                    <a:pt x="3365262" y="1799907"/>
                    <a:pt x="3365262" y="1731327"/>
                  </a:cubicBezTo>
                  <a:lnTo>
                    <a:pt x="3365262" y="124460"/>
                  </a:lnTo>
                  <a:cubicBezTo>
                    <a:pt x="3365262" y="55880"/>
                    <a:pt x="3309382" y="0"/>
                    <a:pt x="3240802" y="0"/>
                  </a:cubicBezTo>
                  <a:close/>
                </a:path>
              </a:pathLst>
            </a:custGeom>
            <a:solidFill>
              <a:srgbClr val="13538A"/>
            </a:solidFill>
          </p:spPr>
        </p:sp>
      </p:grpSp>
      <p:grpSp>
        <p:nvGrpSpPr>
          <p:cNvPr name="Group 19" id="19"/>
          <p:cNvGrpSpPr/>
          <p:nvPr/>
        </p:nvGrpSpPr>
        <p:grpSpPr>
          <a:xfrm rot="0">
            <a:off x="3464968" y="7314660"/>
            <a:ext cx="1770609" cy="1006980"/>
            <a:chOff x="0" y="0"/>
            <a:chExt cx="3365262" cy="1913890"/>
          </a:xfrm>
        </p:grpSpPr>
        <p:sp>
          <p:nvSpPr>
            <p:cNvPr name="Freeform 20" id="20"/>
            <p:cNvSpPr/>
            <p:nvPr/>
          </p:nvSpPr>
          <p:spPr>
            <a:xfrm flipH="false" flipV="false" rot="0">
              <a:off x="31750" y="31750"/>
              <a:ext cx="3300520" cy="1850390"/>
            </a:xfrm>
            <a:custGeom>
              <a:avLst/>
              <a:gdLst/>
              <a:ahLst/>
              <a:cxnLst/>
              <a:rect r="r" b="b" t="t" l="l"/>
              <a:pathLst>
                <a:path h="1850390" w="3300520">
                  <a:moveTo>
                    <a:pt x="3209052" y="1850390"/>
                  </a:moveTo>
                  <a:lnTo>
                    <a:pt x="92710" y="1850390"/>
                  </a:lnTo>
                  <a:cubicBezTo>
                    <a:pt x="41910" y="1850390"/>
                    <a:pt x="0" y="1808480"/>
                    <a:pt x="0" y="1757680"/>
                  </a:cubicBezTo>
                  <a:lnTo>
                    <a:pt x="0" y="92710"/>
                  </a:lnTo>
                  <a:cubicBezTo>
                    <a:pt x="0" y="41910"/>
                    <a:pt x="41910" y="0"/>
                    <a:pt x="92710" y="0"/>
                  </a:cubicBezTo>
                  <a:lnTo>
                    <a:pt x="3207782" y="0"/>
                  </a:lnTo>
                  <a:cubicBezTo>
                    <a:pt x="3258582" y="0"/>
                    <a:pt x="3300492" y="41910"/>
                    <a:pt x="3300492" y="92710"/>
                  </a:cubicBezTo>
                  <a:lnTo>
                    <a:pt x="3300492" y="1756410"/>
                  </a:lnTo>
                  <a:cubicBezTo>
                    <a:pt x="3301762" y="1808480"/>
                    <a:pt x="3259852" y="1850390"/>
                    <a:pt x="3209052" y="1850390"/>
                  </a:cubicBezTo>
                  <a:close/>
                </a:path>
              </a:pathLst>
            </a:custGeom>
            <a:solidFill>
              <a:srgbClr val="13538A"/>
            </a:solidFill>
          </p:spPr>
        </p:sp>
        <p:sp>
          <p:nvSpPr>
            <p:cNvPr name="Freeform 21" id="21"/>
            <p:cNvSpPr/>
            <p:nvPr/>
          </p:nvSpPr>
          <p:spPr>
            <a:xfrm flipH="false" flipV="false" rot="0">
              <a:off x="0" y="0"/>
              <a:ext cx="3365262" cy="1913890"/>
            </a:xfrm>
            <a:custGeom>
              <a:avLst/>
              <a:gdLst/>
              <a:ahLst/>
              <a:cxnLst/>
              <a:rect r="r" b="b" t="t" l="l"/>
              <a:pathLst>
                <a:path h="1913890" w="3365262">
                  <a:moveTo>
                    <a:pt x="3240802" y="59690"/>
                  </a:moveTo>
                  <a:cubicBezTo>
                    <a:pt x="3276362" y="59690"/>
                    <a:pt x="3305572" y="88900"/>
                    <a:pt x="3305572" y="124460"/>
                  </a:cubicBezTo>
                  <a:lnTo>
                    <a:pt x="3305572" y="1789430"/>
                  </a:lnTo>
                  <a:cubicBezTo>
                    <a:pt x="3305572" y="1824990"/>
                    <a:pt x="3276362" y="1854200"/>
                    <a:pt x="3240802" y="1854200"/>
                  </a:cubicBezTo>
                  <a:lnTo>
                    <a:pt x="124460" y="1854200"/>
                  </a:lnTo>
                  <a:cubicBezTo>
                    <a:pt x="88900" y="1854200"/>
                    <a:pt x="59690" y="1824990"/>
                    <a:pt x="59690" y="1789430"/>
                  </a:cubicBezTo>
                  <a:lnTo>
                    <a:pt x="59690" y="124460"/>
                  </a:lnTo>
                  <a:cubicBezTo>
                    <a:pt x="59690" y="88900"/>
                    <a:pt x="88900" y="59690"/>
                    <a:pt x="124460" y="59690"/>
                  </a:cubicBezTo>
                  <a:lnTo>
                    <a:pt x="3240802" y="59690"/>
                  </a:lnTo>
                  <a:moveTo>
                    <a:pt x="3240802" y="0"/>
                  </a:moveTo>
                  <a:lnTo>
                    <a:pt x="124460" y="0"/>
                  </a:lnTo>
                  <a:cubicBezTo>
                    <a:pt x="55880" y="0"/>
                    <a:pt x="0" y="55880"/>
                    <a:pt x="0" y="124460"/>
                  </a:cubicBezTo>
                  <a:lnTo>
                    <a:pt x="0" y="1789430"/>
                  </a:lnTo>
                  <a:cubicBezTo>
                    <a:pt x="0" y="1858010"/>
                    <a:pt x="55880" y="1913890"/>
                    <a:pt x="124460" y="1913890"/>
                  </a:cubicBezTo>
                  <a:lnTo>
                    <a:pt x="3240802" y="1913890"/>
                  </a:lnTo>
                  <a:cubicBezTo>
                    <a:pt x="3309382" y="1913890"/>
                    <a:pt x="3365262" y="1858010"/>
                    <a:pt x="3365262" y="1789430"/>
                  </a:cubicBezTo>
                  <a:lnTo>
                    <a:pt x="3365262" y="124460"/>
                  </a:lnTo>
                  <a:cubicBezTo>
                    <a:pt x="3365262" y="55880"/>
                    <a:pt x="3309382" y="0"/>
                    <a:pt x="3240802" y="0"/>
                  </a:cubicBezTo>
                  <a:close/>
                </a:path>
              </a:pathLst>
            </a:custGeom>
            <a:solidFill>
              <a:srgbClr val="13538A"/>
            </a:solidFill>
          </p:spPr>
        </p:sp>
      </p:grpSp>
      <p:grpSp>
        <p:nvGrpSpPr>
          <p:cNvPr name="Group 22" id="22"/>
          <p:cNvGrpSpPr/>
          <p:nvPr/>
        </p:nvGrpSpPr>
        <p:grpSpPr>
          <a:xfrm rot="0">
            <a:off x="3464968" y="4773765"/>
            <a:ext cx="1770609" cy="1006980"/>
            <a:chOff x="0" y="0"/>
            <a:chExt cx="3365262" cy="1913890"/>
          </a:xfrm>
        </p:grpSpPr>
        <p:sp>
          <p:nvSpPr>
            <p:cNvPr name="Freeform 23" id="23"/>
            <p:cNvSpPr/>
            <p:nvPr/>
          </p:nvSpPr>
          <p:spPr>
            <a:xfrm flipH="false" flipV="false" rot="0">
              <a:off x="31750" y="31750"/>
              <a:ext cx="3300520" cy="1850390"/>
            </a:xfrm>
            <a:custGeom>
              <a:avLst/>
              <a:gdLst/>
              <a:ahLst/>
              <a:cxnLst/>
              <a:rect r="r" b="b" t="t" l="l"/>
              <a:pathLst>
                <a:path h="1850390" w="3300520">
                  <a:moveTo>
                    <a:pt x="3209052" y="1850390"/>
                  </a:moveTo>
                  <a:lnTo>
                    <a:pt x="92710" y="1850390"/>
                  </a:lnTo>
                  <a:cubicBezTo>
                    <a:pt x="41910" y="1850390"/>
                    <a:pt x="0" y="1808480"/>
                    <a:pt x="0" y="1757680"/>
                  </a:cubicBezTo>
                  <a:lnTo>
                    <a:pt x="0" y="92710"/>
                  </a:lnTo>
                  <a:cubicBezTo>
                    <a:pt x="0" y="41910"/>
                    <a:pt x="41910" y="0"/>
                    <a:pt x="92710" y="0"/>
                  </a:cubicBezTo>
                  <a:lnTo>
                    <a:pt x="3207782" y="0"/>
                  </a:lnTo>
                  <a:cubicBezTo>
                    <a:pt x="3258582" y="0"/>
                    <a:pt x="3300492" y="41910"/>
                    <a:pt x="3300492" y="92710"/>
                  </a:cubicBezTo>
                  <a:lnTo>
                    <a:pt x="3300492" y="1756410"/>
                  </a:lnTo>
                  <a:cubicBezTo>
                    <a:pt x="3301762" y="1808480"/>
                    <a:pt x="3259852" y="1850390"/>
                    <a:pt x="3209052" y="1850390"/>
                  </a:cubicBezTo>
                  <a:close/>
                </a:path>
              </a:pathLst>
            </a:custGeom>
            <a:solidFill>
              <a:srgbClr val="13538A"/>
            </a:solidFill>
          </p:spPr>
        </p:sp>
        <p:sp>
          <p:nvSpPr>
            <p:cNvPr name="Freeform 24" id="24"/>
            <p:cNvSpPr/>
            <p:nvPr/>
          </p:nvSpPr>
          <p:spPr>
            <a:xfrm flipH="false" flipV="false" rot="0">
              <a:off x="0" y="0"/>
              <a:ext cx="3365262" cy="1913890"/>
            </a:xfrm>
            <a:custGeom>
              <a:avLst/>
              <a:gdLst/>
              <a:ahLst/>
              <a:cxnLst/>
              <a:rect r="r" b="b" t="t" l="l"/>
              <a:pathLst>
                <a:path h="1913890" w="3365262">
                  <a:moveTo>
                    <a:pt x="3240802" y="59690"/>
                  </a:moveTo>
                  <a:cubicBezTo>
                    <a:pt x="3276362" y="59690"/>
                    <a:pt x="3305572" y="88900"/>
                    <a:pt x="3305572" y="124460"/>
                  </a:cubicBezTo>
                  <a:lnTo>
                    <a:pt x="3305572" y="1789430"/>
                  </a:lnTo>
                  <a:cubicBezTo>
                    <a:pt x="3305572" y="1824990"/>
                    <a:pt x="3276362" y="1854200"/>
                    <a:pt x="3240802" y="1854200"/>
                  </a:cubicBezTo>
                  <a:lnTo>
                    <a:pt x="124460" y="1854200"/>
                  </a:lnTo>
                  <a:cubicBezTo>
                    <a:pt x="88900" y="1854200"/>
                    <a:pt x="59690" y="1824990"/>
                    <a:pt x="59690" y="1789430"/>
                  </a:cubicBezTo>
                  <a:lnTo>
                    <a:pt x="59690" y="124460"/>
                  </a:lnTo>
                  <a:cubicBezTo>
                    <a:pt x="59690" y="88900"/>
                    <a:pt x="88900" y="59690"/>
                    <a:pt x="124460" y="59690"/>
                  </a:cubicBezTo>
                  <a:lnTo>
                    <a:pt x="3240802" y="59690"/>
                  </a:lnTo>
                  <a:moveTo>
                    <a:pt x="3240802" y="0"/>
                  </a:moveTo>
                  <a:lnTo>
                    <a:pt x="124460" y="0"/>
                  </a:lnTo>
                  <a:cubicBezTo>
                    <a:pt x="55880" y="0"/>
                    <a:pt x="0" y="55880"/>
                    <a:pt x="0" y="124460"/>
                  </a:cubicBezTo>
                  <a:lnTo>
                    <a:pt x="0" y="1789430"/>
                  </a:lnTo>
                  <a:cubicBezTo>
                    <a:pt x="0" y="1858010"/>
                    <a:pt x="55880" y="1913890"/>
                    <a:pt x="124460" y="1913890"/>
                  </a:cubicBezTo>
                  <a:lnTo>
                    <a:pt x="3240802" y="1913890"/>
                  </a:lnTo>
                  <a:cubicBezTo>
                    <a:pt x="3309382" y="1913890"/>
                    <a:pt x="3365262" y="1858010"/>
                    <a:pt x="3365262" y="1789430"/>
                  </a:cubicBezTo>
                  <a:lnTo>
                    <a:pt x="3365262" y="124460"/>
                  </a:lnTo>
                  <a:cubicBezTo>
                    <a:pt x="3365262" y="55880"/>
                    <a:pt x="3309382" y="0"/>
                    <a:pt x="3240802" y="0"/>
                  </a:cubicBezTo>
                  <a:close/>
                </a:path>
              </a:pathLst>
            </a:custGeom>
            <a:solidFill>
              <a:srgbClr val="13538A"/>
            </a:solidFill>
          </p:spPr>
        </p:sp>
      </p:grpSp>
      <p:grpSp>
        <p:nvGrpSpPr>
          <p:cNvPr name="Group 25" id="25"/>
          <p:cNvGrpSpPr/>
          <p:nvPr/>
        </p:nvGrpSpPr>
        <p:grpSpPr>
          <a:xfrm rot="0">
            <a:off x="3172999" y="3388689"/>
            <a:ext cx="2269899" cy="1006980"/>
            <a:chOff x="0" y="0"/>
            <a:chExt cx="4314225" cy="1913890"/>
          </a:xfrm>
        </p:grpSpPr>
        <p:sp>
          <p:nvSpPr>
            <p:cNvPr name="Freeform 26" id="26"/>
            <p:cNvSpPr/>
            <p:nvPr/>
          </p:nvSpPr>
          <p:spPr>
            <a:xfrm flipH="false" flipV="false" rot="0">
              <a:off x="31750" y="31750"/>
              <a:ext cx="4249483" cy="1850390"/>
            </a:xfrm>
            <a:custGeom>
              <a:avLst/>
              <a:gdLst/>
              <a:ahLst/>
              <a:cxnLst/>
              <a:rect r="r" b="b" t="t" l="l"/>
              <a:pathLst>
                <a:path h="1850390" w="4249483">
                  <a:moveTo>
                    <a:pt x="4158015" y="1850390"/>
                  </a:moveTo>
                  <a:lnTo>
                    <a:pt x="92710" y="1850390"/>
                  </a:lnTo>
                  <a:cubicBezTo>
                    <a:pt x="41910" y="1850390"/>
                    <a:pt x="0" y="1808480"/>
                    <a:pt x="0" y="1757680"/>
                  </a:cubicBezTo>
                  <a:lnTo>
                    <a:pt x="0" y="92710"/>
                  </a:lnTo>
                  <a:cubicBezTo>
                    <a:pt x="0" y="41910"/>
                    <a:pt x="41910" y="0"/>
                    <a:pt x="92710" y="0"/>
                  </a:cubicBezTo>
                  <a:lnTo>
                    <a:pt x="4156745" y="0"/>
                  </a:lnTo>
                  <a:cubicBezTo>
                    <a:pt x="4207545" y="0"/>
                    <a:pt x="4249455" y="41910"/>
                    <a:pt x="4249455" y="92710"/>
                  </a:cubicBezTo>
                  <a:lnTo>
                    <a:pt x="4249455" y="1756410"/>
                  </a:lnTo>
                  <a:cubicBezTo>
                    <a:pt x="4250725" y="1808480"/>
                    <a:pt x="4208815" y="1850390"/>
                    <a:pt x="4158015" y="1850390"/>
                  </a:cubicBezTo>
                  <a:close/>
                </a:path>
              </a:pathLst>
            </a:custGeom>
            <a:solidFill>
              <a:srgbClr val="257BE0"/>
            </a:solidFill>
          </p:spPr>
        </p:sp>
        <p:sp>
          <p:nvSpPr>
            <p:cNvPr name="Freeform 27" id="27"/>
            <p:cNvSpPr/>
            <p:nvPr/>
          </p:nvSpPr>
          <p:spPr>
            <a:xfrm flipH="false" flipV="false" rot="0">
              <a:off x="0" y="0"/>
              <a:ext cx="4314225" cy="1913890"/>
            </a:xfrm>
            <a:custGeom>
              <a:avLst/>
              <a:gdLst/>
              <a:ahLst/>
              <a:cxnLst/>
              <a:rect r="r" b="b" t="t" l="l"/>
              <a:pathLst>
                <a:path h="1913890" w="4314225">
                  <a:moveTo>
                    <a:pt x="4189765" y="59690"/>
                  </a:moveTo>
                  <a:cubicBezTo>
                    <a:pt x="4225325" y="59690"/>
                    <a:pt x="4254535" y="88900"/>
                    <a:pt x="4254535" y="124460"/>
                  </a:cubicBezTo>
                  <a:lnTo>
                    <a:pt x="4254535" y="1789430"/>
                  </a:lnTo>
                  <a:cubicBezTo>
                    <a:pt x="4254535" y="1824990"/>
                    <a:pt x="4225325" y="1854200"/>
                    <a:pt x="4189765" y="1854200"/>
                  </a:cubicBezTo>
                  <a:lnTo>
                    <a:pt x="124460" y="1854200"/>
                  </a:lnTo>
                  <a:cubicBezTo>
                    <a:pt x="88900" y="1854200"/>
                    <a:pt x="59690" y="1824990"/>
                    <a:pt x="59690" y="1789430"/>
                  </a:cubicBezTo>
                  <a:lnTo>
                    <a:pt x="59690" y="124460"/>
                  </a:lnTo>
                  <a:cubicBezTo>
                    <a:pt x="59690" y="88900"/>
                    <a:pt x="88900" y="59690"/>
                    <a:pt x="124460" y="59690"/>
                  </a:cubicBezTo>
                  <a:lnTo>
                    <a:pt x="4189765" y="59690"/>
                  </a:lnTo>
                  <a:moveTo>
                    <a:pt x="4189765" y="0"/>
                  </a:moveTo>
                  <a:lnTo>
                    <a:pt x="124460" y="0"/>
                  </a:lnTo>
                  <a:cubicBezTo>
                    <a:pt x="55880" y="0"/>
                    <a:pt x="0" y="55880"/>
                    <a:pt x="0" y="124460"/>
                  </a:cubicBezTo>
                  <a:lnTo>
                    <a:pt x="0" y="1789430"/>
                  </a:lnTo>
                  <a:cubicBezTo>
                    <a:pt x="0" y="1858010"/>
                    <a:pt x="55880" y="1913890"/>
                    <a:pt x="124460" y="1913890"/>
                  </a:cubicBezTo>
                  <a:lnTo>
                    <a:pt x="4189765" y="1913890"/>
                  </a:lnTo>
                  <a:cubicBezTo>
                    <a:pt x="4258345" y="1913890"/>
                    <a:pt x="4314225" y="1858010"/>
                    <a:pt x="4314225" y="1789430"/>
                  </a:cubicBezTo>
                  <a:lnTo>
                    <a:pt x="4314225" y="124460"/>
                  </a:lnTo>
                  <a:cubicBezTo>
                    <a:pt x="4314225" y="55880"/>
                    <a:pt x="4258345" y="0"/>
                    <a:pt x="4189765" y="0"/>
                  </a:cubicBezTo>
                  <a:close/>
                </a:path>
              </a:pathLst>
            </a:custGeom>
            <a:solidFill>
              <a:srgbClr val="257BE0"/>
            </a:solidFill>
          </p:spPr>
        </p:sp>
      </p:grpSp>
      <p:sp>
        <p:nvSpPr>
          <p:cNvPr name="AutoShape 28" id="28"/>
          <p:cNvSpPr/>
          <p:nvPr/>
        </p:nvSpPr>
        <p:spPr>
          <a:xfrm flipV="true">
            <a:off x="4350272" y="4395700"/>
            <a:ext cx="0" cy="378064"/>
          </a:xfrm>
          <a:prstGeom prst="line">
            <a:avLst/>
          </a:prstGeom>
          <a:ln cap="rnd" w="19050">
            <a:solidFill>
              <a:srgbClr val="003882"/>
            </a:solidFill>
            <a:prstDash val="solid"/>
            <a:headEnd type="none" len="sm" w="sm"/>
            <a:tailEnd type="none" len="sm" w="sm"/>
          </a:ln>
        </p:spPr>
      </p:sp>
      <p:grpSp>
        <p:nvGrpSpPr>
          <p:cNvPr name="Group 29" id="29"/>
          <p:cNvGrpSpPr/>
          <p:nvPr/>
        </p:nvGrpSpPr>
        <p:grpSpPr>
          <a:xfrm rot="0">
            <a:off x="5902143" y="6040431"/>
            <a:ext cx="1646461" cy="1006980"/>
            <a:chOff x="0" y="0"/>
            <a:chExt cx="3129303" cy="1913890"/>
          </a:xfrm>
        </p:grpSpPr>
        <p:sp>
          <p:nvSpPr>
            <p:cNvPr name="Freeform 30" id="30"/>
            <p:cNvSpPr/>
            <p:nvPr/>
          </p:nvSpPr>
          <p:spPr>
            <a:xfrm flipH="false" flipV="false" rot="0">
              <a:off x="31750" y="31750"/>
              <a:ext cx="3064561" cy="1850390"/>
            </a:xfrm>
            <a:custGeom>
              <a:avLst/>
              <a:gdLst/>
              <a:ahLst/>
              <a:cxnLst/>
              <a:rect r="r" b="b" t="t" l="l"/>
              <a:pathLst>
                <a:path h="1850390" w="3064561">
                  <a:moveTo>
                    <a:pt x="2973093" y="1850390"/>
                  </a:moveTo>
                  <a:lnTo>
                    <a:pt x="92710" y="1850390"/>
                  </a:lnTo>
                  <a:cubicBezTo>
                    <a:pt x="41910" y="1850390"/>
                    <a:pt x="0" y="1808480"/>
                    <a:pt x="0" y="1757680"/>
                  </a:cubicBezTo>
                  <a:lnTo>
                    <a:pt x="0" y="92710"/>
                  </a:lnTo>
                  <a:cubicBezTo>
                    <a:pt x="0" y="41910"/>
                    <a:pt x="41910" y="0"/>
                    <a:pt x="92710" y="0"/>
                  </a:cubicBezTo>
                  <a:lnTo>
                    <a:pt x="2971823" y="0"/>
                  </a:lnTo>
                  <a:cubicBezTo>
                    <a:pt x="3022623" y="0"/>
                    <a:pt x="3064533" y="41910"/>
                    <a:pt x="3064533" y="92710"/>
                  </a:cubicBezTo>
                  <a:lnTo>
                    <a:pt x="3064533" y="1756410"/>
                  </a:lnTo>
                  <a:cubicBezTo>
                    <a:pt x="3065803" y="1808480"/>
                    <a:pt x="3023893" y="1850390"/>
                    <a:pt x="2973093" y="1850390"/>
                  </a:cubicBezTo>
                  <a:close/>
                </a:path>
              </a:pathLst>
            </a:custGeom>
            <a:solidFill>
              <a:srgbClr val="13538A"/>
            </a:solidFill>
          </p:spPr>
        </p:sp>
        <p:sp>
          <p:nvSpPr>
            <p:cNvPr name="Freeform 31" id="31"/>
            <p:cNvSpPr/>
            <p:nvPr/>
          </p:nvSpPr>
          <p:spPr>
            <a:xfrm flipH="false" flipV="false" rot="0">
              <a:off x="0" y="0"/>
              <a:ext cx="3129303" cy="1913890"/>
            </a:xfrm>
            <a:custGeom>
              <a:avLst/>
              <a:gdLst/>
              <a:ahLst/>
              <a:cxnLst/>
              <a:rect r="r" b="b" t="t" l="l"/>
              <a:pathLst>
                <a:path h="1913890" w="3129303">
                  <a:moveTo>
                    <a:pt x="3004843" y="59690"/>
                  </a:moveTo>
                  <a:cubicBezTo>
                    <a:pt x="3040403" y="59690"/>
                    <a:pt x="3069613" y="88900"/>
                    <a:pt x="3069613" y="124460"/>
                  </a:cubicBezTo>
                  <a:lnTo>
                    <a:pt x="3069613" y="1789430"/>
                  </a:lnTo>
                  <a:cubicBezTo>
                    <a:pt x="3069613" y="1824990"/>
                    <a:pt x="3040403" y="1854200"/>
                    <a:pt x="3004843" y="1854200"/>
                  </a:cubicBezTo>
                  <a:lnTo>
                    <a:pt x="124460" y="1854200"/>
                  </a:lnTo>
                  <a:cubicBezTo>
                    <a:pt x="88900" y="1854200"/>
                    <a:pt x="59690" y="1824990"/>
                    <a:pt x="59690" y="1789430"/>
                  </a:cubicBezTo>
                  <a:lnTo>
                    <a:pt x="59690" y="124460"/>
                  </a:lnTo>
                  <a:cubicBezTo>
                    <a:pt x="59690" y="88900"/>
                    <a:pt x="88900" y="59690"/>
                    <a:pt x="124460" y="59690"/>
                  </a:cubicBezTo>
                  <a:lnTo>
                    <a:pt x="3004843" y="59690"/>
                  </a:lnTo>
                  <a:moveTo>
                    <a:pt x="3004843" y="0"/>
                  </a:moveTo>
                  <a:lnTo>
                    <a:pt x="124460" y="0"/>
                  </a:lnTo>
                  <a:cubicBezTo>
                    <a:pt x="55880" y="0"/>
                    <a:pt x="0" y="55880"/>
                    <a:pt x="0" y="124460"/>
                  </a:cubicBezTo>
                  <a:lnTo>
                    <a:pt x="0" y="1789430"/>
                  </a:lnTo>
                  <a:cubicBezTo>
                    <a:pt x="0" y="1858010"/>
                    <a:pt x="55880" y="1913890"/>
                    <a:pt x="124460" y="1913890"/>
                  </a:cubicBezTo>
                  <a:lnTo>
                    <a:pt x="3004843" y="1913890"/>
                  </a:lnTo>
                  <a:cubicBezTo>
                    <a:pt x="3073423" y="1913890"/>
                    <a:pt x="3129303" y="1858010"/>
                    <a:pt x="3129303" y="1789430"/>
                  </a:cubicBezTo>
                  <a:lnTo>
                    <a:pt x="3129303" y="124460"/>
                  </a:lnTo>
                  <a:cubicBezTo>
                    <a:pt x="3129303" y="55880"/>
                    <a:pt x="3073423" y="0"/>
                    <a:pt x="3004843" y="0"/>
                  </a:cubicBezTo>
                  <a:close/>
                </a:path>
              </a:pathLst>
            </a:custGeom>
            <a:solidFill>
              <a:srgbClr val="13538A"/>
            </a:solidFill>
          </p:spPr>
        </p:sp>
      </p:grpSp>
      <p:grpSp>
        <p:nvGrpSpPr>
          <p:cNvPr name="Group 32" id="32"/>
          <p:cNvGrpSpPr/>
          <p:nvPr/>
        </p:nvGrpSpPr>
        <p:grpSpPr>
          <a:xfrm rot="0">
            <a:off x="5903279" y="4767301"/>
            <a:ext cx="1646461" cy="1006980"/>
            <a:chOff x="0" y="0"/>
            <a:chExt cx="3129303" cy="1913890"/>
          </a:xfrm>
        </p:grpSpPr>
        <p:sp>
          <p:nvSpPr>
            <p:cNvPr name="Freeform 33" id="33"/>
            <p:cNvSpPr/>
            <p:nvPr/>
          </p:nvSpPr>
          <p:spPr>
            <a:xfrm flipH="false" flipV="false" rot="0">
              <a:off x="31750" y="31750"/>
              <a:ext cx="3064561" cy="1850390"/>
            </a:xfrm>
            <a:custGeom>
              <a:avLst/>
              <a:gdLst/>
              <a:ahLst/>
              <a:cxnLst/>
              <a:rect r="r" b="b" t="t" l="l"/>
              <a:pathLst>
                <a:path h="1850390" w="3064561">
                  <a:moveTo>
                    <a:pt x="2973093" y="1850390"/>
                  </a:moveTo>
                  <a:lnTo>
                    <a:pt x="92710" y="1850390"/>
                  </a:lnTo>
                  <a:cubicBezTo>
                    <a:pt x="41910" y="1850390"/>
                    <a:pt x="0" y="1808480"/>
                    <a:pt x="0" y="1757680"/>
                  </a:cubicBezTo>
                  <a:lnTo>
                    <a:pt x="0" y="92710"/>
                  </a:lnTo>
                  <a:cubicBezTo>
                    <a:pt x="0" y="41910"/>
                    <a:pt x="41910" y="0"/>
                    <a:pt x="92710" y="0"/>
                  </a:cubicBezTo>
                  <a:lnTo>
                    <a:pt x="2971823" y="0"/>
                  </a:lnTo>
                  <a:cubicBezTo>
                    <a:pt x="3022623" y="0"/>
                    <a:pt x="3064533" y="41910"/>
                    <a:pt x="3064533" y="92710"/>
                  </a:cubicBezTo>
                  <a:lnTo>
                    <a:pt x="3064533" y="1756410"/>
                  </a:lnTo>
                  <a:cubicBezTo>
                    <a:pt x="3065803" y="1808480"/>
                    <a:pt x="3023893" y="1850390"/>
                    <a:pt x="2973093" y="1850390"/>
                  </a:cubicBezTo>
                  <a:close/>
                </a:path>
              </a:pathLst>
            </a:custGeom>
            <a:solidFill>
              <a:srgbClr val="13538A"/>
            </a:solidFill>
          </p:spPr>
        </p:sp>
        <p:sp>
          <p:nvSpPr>
            <p:cNvPr name="Freeform 34" id="34"/>
            <p:cNvSpPr/>
            <p:nvPr/>
          </p:nvSpPr>
          <p:spPr>
            <a:xfrm flipH="false" flipV="false" rot="0">
              <a:off x="0" y="0"/>
              <a:ext cx="3129303" cy="1913890"/>
            </a:xfrm>
            <a:custGeom>
              <a:avLst/>
              <a:gdLst/>
              <a:ahLst/>
              <a:cxnLst/>
              <a:rect r="r" b="b" t="t" l="l"/>
              <a:pathLst>
                <a:path h="1913890" w="3129303">
                  <a:moveTo>
                    <a:pt x="3004843" y="59690"/>
                  </a:moveTo>
                  <a:cubicBezTo>
                    <a:pt x="3040403" y="59690"/>
                    <a:pt x="3069613" y="88900"/>
                    <a:pt x="3069613" y="124460"/>
                  </a:cubicBezTo>
                  <a:lnTo>
                    <a:pt x="3069613" y="1789430"/>
                  </a:lnTo>
                  <a:cubicBezTo>
                    <a:pt x="3069613" y="1824990"/>
                    <a:pt x="3040403" y="1854200"/>
                    <a:pt x="3004843" y="1854200"/>
                  </a:cubicBezTo>
                  <a:lnTo>
                    <a:pt x="124460" y="1854200"/>
                  </a:lnTo>
                  <a:cubicBezTo>
                    <a:pt x="88900" y="1854200"/>
                    <a:pt x="59690" y="1824990"/>
                    <a:pt x="59690" y="1789430"/>
                  </a:cubicBezTo>
                  <a:lnTo>
                    <a:pt x="59690" y="124460"/>
                  </a:lnTo>
                  <a:cubicBezTo>
                    <a:pt x="59690" y="88900"/>
                    <a:pt x="88900" y="59690"/>
                    <a:pt x="124460" y="59690"/>
                  </a:cubicBezTo>
                  <a:lnTo>
                    <a:pt x="3004843" y="59690"/>
                  </a:lnTo>
                  <a:moveTo>
                    <a:pt x="3004843" y="0"/>
                  </a:moveTo>
                  <a:lnTo>
                    <a:pt x="124460" y="0"/>
                  </a:lnTo>
                  <a:cubicBezTo>
                    <a:pt x="55880" y="0"/>
                    <a:pt x="0" y="55880"/>
                    <a:pt x="0" y="124460"/>
                  </a:cubicBezTo>
                  <a:lnTo>
                    <a:pt x="0" y="1789430"/>
                  </a:lnTo>
                  <a:cubicBezTo>
                    <a:pt x="0" y="1858010"/>
                    <a:pt x="55880" y="1913890"/>
                    <a:pt x="124460" y="1913890"/>
                  </a:cubicBezTo>
                  <a:lnTo>
                    <a:pt x="3004843" y="1913890"/>
                  </a:lnTo>
                  <a:cubicBezTo>
                    <a:pt x="3073423" y="1913890"/>
                    <a:pt x="3129303" y="1858010"/>
                    <a:pt x="3129303" y="1789430"/>
                  </a:cubicBezTo>
                  <a:lnTo>
                    <a:pt x="3129303" y="124460"/>
                  </a:lnTo>
                  <a:cubicBezTo>
                    <a:pt x="3129303" y="55880"/>
                    <a:pt x="3073423" y="0"/>
                    <a:pt x="3004843" y="0"/>
                  </a:cubicBezTo>
                  <a:close/>
                </a:path>
              </a:pathLst>
            </a:custGeom>
            <a:solidFill>
              <a:srgbClr val="13538A"/>
            </a:solidFill>
          </p:spPr>
        </p:sp>
      </p:grpSp>
      <p:grpSp>
        <p:nvGrpSpPr>
          <p:cNvPr name="Group 35" id="35"/>
          <p:cNvGrpSpPr/>
          <p:nvPr/>
        </p:nvGrpSpPr>
        <p:grpSpPr>
          <a:xfrm rot="0">
            <a:off x="5597703" y="3388689"/>
            <a:ext cx="2183042" cy="1006980"/>
            <a:chOff x="0" y="0"/>
            <a:chExt cx="4149142" cy="1913890"/>
          </a:xfrm>
        </p:grpSpPr>
        <p:sp>
          <p:nvSpPr>
            <p:cNvPr name="Freeform 36" id="36"/>
            <p:cNvSpPr/>
            <p:nvPr/>
          </p:nvSpPr>
          <p:spPr>
            <a:xfrm flipH="false" flipV="false" rot="0">
              <a:off x="31750" y="31750"/>
              <a:ext cx="4084400" cy="1850390"/>
            </a:xfrm>
            <a:custGeom>
              <a:avLst/>
              <a:gdLst/>
              <a:ahLst/>
              <a:cxnLst/>
              <a:rect r="r" b="b" t="t" l="l"/>
              <a:pathLst>
                <a:path h="1850390" w="4084400">
                  <a:moveTo>
                    <a:pt x="3992932" y="1850390"/>
                  </a:moveTo>
                  <a:lnTo>
                    <a:pt x="92710" y="1850390"/>
                  </a:lnTo>
                  <a:cubicBezTo>
                    <a:pt x="41910" y="1850390"/>
                    <a:pt x="0" y="1808480"/>
                    <a:pt x="0" y="1757680"/>
                  </a:cubicBezTo>
                  <a:lnTo>
                    <a:pt x="0" y="92710"/>
                  </a:lnTo>
                  <a:cubicBezTo>
                    <a:pt x="0" y="41910"/>
                    <a:pt x="41910" y="0"/>
                    <a:pt x="92710" y="0"/>
                  </a:cubicBezTo>
                  <a:lnTo>
                    <a:pt x="3991662" y="0"/>
                  </a:lnTo>
                  <a:cubicBezTo>
                    <a:pt x="4042462" y="0"/>
                    <a:pt x="4084372" y="41910"/>
                    <a:pt x="4084372" y="92710"/>
                  </a:cubicBezTo>
                  <a:lnTo>
                    <a:pt x="4084372" y="1756410"/>
                  </a:lnTo>
                  <a:cubicBezTo>
                    <a:pt x="4085642" y="1808480"/>
                    <a:pt x="4043732" y="1850390"/>
                    <a:pt x="3992932" y="1850390"/>
                  </a:cubicBezTo>
                  <a:close/>
                </a:path>
              </a:pathLst>
            </a:custGeom>
            <a:solidFill>
              <a:srgbClr val="257BE0"/>
            </a:solidFill>
          </p:spPr>
        </p:sp>
        <p:sp>
          <p:nvSpPr>
            <p:cNvPr name="Freeform 37" id="37"/>
            <p:cNvSpPr/>
            <p:nvPr/>
          </p:nvSpPr>
          <p:spPr>
            <a:xfrm flipH="false" flipV="false" rot="0">
              <a:off x="0" y="0"/>
              <a:ext cx="4149142" cy="1913890"/>
            </a:xfrm>
            <a:custGeom>
              <a:avLst/>
              <a:gdLst/>
              <a:ahLst/>
              <a:cxnLst/>
              <a:rect r="r" b="b" t="t" l="l"/>
              <a:pathLst>
                <a:path h="1913890" w="4149142">
                  <a:moveTo>
                    <a:pt x="4024682" y="59690"/>
                  </a:moveTo>
                  <a:cubicBezTo>
                    <a:pt x="4060242" y="59690"/>
                    <a:pt x="4089452" y="88900"/>
                    <a:pt x="4089452" y="124460"/>
                  </a:cubicBezTo>
                  <a:lnTo>
                    <a:pt x="4089452" y="1789430"/>
                  </a:lnTo>
                  <a:cubicBezTo>
                    <a:pt x="4089452" y="1824990"/>
                    <a:pt x="4060242" y="1854200"/>
                    <a:pt x="4024682" y="1854200"/>
                  </a:cubicBezTo>
                  <a:lnTo>
                    <a:pt x="124460" y="1854200"/>
                  </a:lnTo>
                  <a:cubicBezTo>
                    <a:pt x="88900" y="1854200"/>
                    <a:pt x="59690" y="1824990"/>
                    <a:pt x="59690" y="1789430"/>
                  </a:cubicBezTo>
                  <a:lnTo>
                    <a:pt x="59690" y="124460"/>
                  </a:lnTo>
                  <a:cubicBezTo>
                    <a:pt x="59690" y="88900"/>
                    <a:pt x="88900" y="59690"/>
                    <a:pt x="124460" y="59690"/>
                  </a:cubicBezTo>
                  <a:lnTo>
                    <a:pt x="4024682" y="59690"/>
                  </a:lnTo>
                  <a:moveTo>
                    <a:pt x="4024682" y="0"/>
                  </a:moveTo>
                  <a:lnTo>
                    <a:pt x="124460" y="0"/>
                  </a:lnTo>
                  <a:cubicBezTo>
                    <a:pt x="55880" y="0"/>
                    <a:pt x="0" y="55880"/>
                    <a:pt x="0" y="124460"/>
                  </a:cubicBezTo>
                  <a:lnTo>
                    <a:pt x="0" y="1789430"/>
                  </a:lnTo>
                  <a:cubicBezTo>
                    <a:pt x="0" y="1858010"/>
                    <a:pt x="55880" y="1913890"/>
                    <a:pt x="124460" y="1913890"/>
                  </a:cubicBezTo>
                  <a:lnTo>
                    <a:pt x="4024682" y="1913890"/>
                  </a:lnTo>
                  <a:cubicBezTo>
                    <a:pt x="4093262" y="1913890"/>
                    <a:pt x="4149142" y="1858010"/>
                    <a:pt x="4149142" y="1789430"/>
                  </a:cubicBezTo>
                  <a:lnTo>
                    <a:pt x="4149142" y="124460"/>
                  </a:lnTo>
                  <a:cubicBezTo>
                    <a:pt x="4149142" y="55880"/>
                    <a:pt x="4093262" y="0"/>
                    <a:pt x="4024682" y="0"/>
                  </a:cubicBezTo>
                  <a:close/>
                </a:path>
              </a:pathLst>
            </a:custGeom>
            <a:solidFill>
              <a:srgbClr val="257BE0"/>
            </a:solidFill>
          </p:spPr>
        </p:sp>
      </p:grpSp>
      <p:sp>
        <p:nvSpPr>
          <p:cNvPr name="AutoShape 38" id="38"/>
          <p:cNvSpPr/>
          <p:nvPr/>
        </p:nvSpPr>
        <p:spPr>
          <a:xfrm flipV="true">
            <a:off x="6689224" y="4357482"/>
            <a:ext cx="31702" cy="409819"/>
          </a:xfrm>
          <a:prstGeom prst="line">
            <a:avLst/>
          </a:prstGeom>
          <a:ln cap="rnd" w="19050">
            <a:solidFill>
              <a:srgbClr val="003882"/>
            </a:solidFill>
            <a:prstDash val="solid"/>
            <a:headEnd type="none" len="sm" w="sm"/>
            <a:tailEnd type="none" len="sm" w="sm"/>
          </a:ln>
        </p:spPr>
      </p:sp>
      <p:sp>
        <p:nvSpPr>
          <p:cNvPr name="AutoShape 39" id="39"/>
          <p:cNvSpPr/>
          <p:nvPr/>
        </p:nvSpPr>
        <p:spPr>
          <a:xfrm>
            <a:off x="6726509" y="5774281"/>
            <a:ext cx="9037" cy="266150"/>
          </a:xfrm>
          <a:prstGeom prst="line">
            <a:avLst/>
          </a:prstGeom>
          <a:ln cap="flat" w="19050">
            <a:solidFill>
              <a:srgbClr val="003882"/>
            </a:solidFill>
            <a:prstDash val="solid"/>
            <a:headEnd type="none" len="sm" w="sm"/>
            <a:tailEnd type="none" len="sm" w="sm"/>
          </a:ln>
        </p:spPr>
      </p:sp>
      <p:grpSp>
        <p:nvGrpSpPr>
          <p:cNvPr name="Group 40" id="40"/>
          <p:cNvGrpSpPr/>
          <p:nvPr/>
        </p:nvGrpSpPr>
        <p:grpSpPr>
          <a:xfrm rot="0">
            <a:off x="10931766" y="6027787"/>
            <a:ext cx="1765977" cy="1006980"/>
            <a:chOff x="0" y="0"/>
            <a:chExt cx="3356459" cy="1913890"/>
          </a:xfrm>
        </p:grpSpPr>
        <p:sp>
          <p:nvSpPr>
            <p:cNvPr name="Freeform 41" id="41"/>
            <p:cNvSpPr/>
            <p:nvPr/>
          </p:nvSpPr>
          <p:spPr>
            <a:xfrm flipH="false" flipV="false" rot="0">
              <a:off x="31750" y="31750"/>
              <a:ext cx="3291717" cy="1850390"/>
            </a:xfrm>
            <a:custGeom>
              <a:avLst/>
              <a:gdLst/>
              <a:ahLst/>
              <a:cxnLst/>
              <a:rect r="r" b="b" t="t" l="l"/>
              <a:pathLst>
                <a:path h="1850390" w="3291717">
                  <a:moveTo>
                    <a:pt x="3200249" y="1850390"/>
                  </a:moveTo>
                  <a:lnTo>
                    <a:pt x="92710" y="1850390"/>
                  </a:lnTo>
                  <a:cubicBezTo>
                    <a:pt x="41910" y="1850390"/>
                    <a:pt x="0" y="1808480"/>
                    <a:pt x="0" y="1757680"/>
                  </a:cubicBezTo>
                  <a:lnTo>
                    <a:pt x="0" y="92710"/>
                  </a:lnTo>
                  <a:cubicBezTo>
                    <a:pt x="0" y="41910"/>
                    <a:pt x="41910" y="0"/>
                    <a:pt x="92710" y="0"/>
                  </a:cubicBezTo>
                  <a:lnTo>
                    <a:pt x="3198979" y="0"/>
                  </a:lnTo>
                  <a:cubicBezTo>
                    <a:pt x="3249779" y="0"/>
                    <a:pt x="3291689" y="41910"/>
                    <a:pt x="3291689" y="92710"/>
                  </a:cubicBezTo>
                  <a:lnTo>
                    <a:pt x="3291689" y="1756410"/>
                  </a:lnTo>
                  <a:cubicBezTo>
                    <a:pt x="3292959" y="1808480"/>
                    <a:pt x="3251049" y="1850390"/>
                    <a:pt x="3200249" y="1850390"/>
                  </a:cubicBezTo>
                  <a:close/>
                </a:path>
              </a:pathLst>
            </a:custGeom>
            <a:solidFill>
              <a:srgbClr val="13538A"/>
            </a:solidFill>
          </p:spPr>
        </p:sp>
        <p:sp>
          <p:nvSpPr>
            <p:cNvPr name="Freeform 42" id="42"/>
            <p:cNvSpPr/>
            <p:nvPr/>
          </p:nvSpPr>
          <p:spPr>
            <a:xfrm flipH="false" flipV="false" rot="0">
              <a:off x="0" y="0"/>
              <a:ext cx="3356459" cy="1913890"/>
            </a:xfrm>
            <a:custGeom>
              <a:avLst/>
              <a:gdLst/>
              <a:ahLst/>
              <a:cxnLst/>
              <a:rect r="r" b="b" t="t" l="l"/>
              <a:pathLst>
                <a:path h="1913890" w="3356459">
                  <a:moveTo>
                    <a:pt x="3231999" y="59690"/>
                  </a:moveTo>
                  <a:cubicBezTo>
                    <a:pt x="3267559" y="59690"/>
                    <a:pt x="3296769" y="88900"/>
                    <a:pt x="3296769" y="124460"/>
                  </a:cubicBezTo>
                  <a:lnTo>
                    <a:pt x="3296769" y="1789430"/>
                  </a:lnTo>
                  <a:cubicBezTo>
                    <a:pt x="3296769" y="1824990"/>
                    <a:pt x="3267559" y="1854200"/>
                    <a:pt x="3231999" y="1854200"/>
                  </a:cubicBezTo>
                  <a:lnTo>
                    <a:pt x="124460" y="1854200"/>
                  </a:lnTo>
                  <a:cubicBezTo>
                    <a:pt x="88900" y="1854200"/>
                    <a:pt x="59690" y="1824990"/>
                    <a:pt x="59690" y="1789430"/>
                  </a:cubicBezTo>
                  <a:lnTo>
                    <a:pt x="59690" y="124460"/>
                  </a:lnTo>
                  <a:cubicBezTo>
                    <a:pt x="59690" y="88900"/>
                    <a:pt x="88900" y="59690"/>
                    <a:pt x="124460" y="59690"/>
                  </a:cubicBezTo>
                  <a:lnTo>
                    <a:pt x="3231999" y="59690"/>
                  </a:lnTo>
                  <a:moveTo>
                    <a:pt x="3231999" y="0"/>
                  </a:moveTo>
                  <a:lnTo>
                    <a:pt x="124460" y="0"/>
                  </a:lnTo>
                  <a:cubicBezTo>
                    <a:pt x="55880" y="0"/>
                    <a:pt x="0" y="55880"/>
                    <a:pt x="0" y="124460"/>
                  </a:cubicBezTo>
                  <a:lnTo>
                    <a:pt x="0" y="1789430"/>
                  </a:lnTo>
                  <a:cubicBezTo>
                    <a:pt x="0" y="1858010"/>
                    <a:pt x="55880" y="1913890"/>
                    <a:pt x="124460" y="1913890"/>
                  </a:cubicBezTo>
                  <a:lnTo>
                    <a:pt x="3231999" y="1913890"/>
                  </a:lnTo>
                  <a:cubicBezTo>
                    <a:pt x="3300579" y="1913890"/>
                    <a:pt x="3356459" y="1858010"/>
                    <a:pt x="3356459" y="1789430"/>
                  </a:cubicBezTo>
                  <a:lnTo>
                    <a:pt x="3356459" y="124460"/>
                  </a:lnTo>
                  <a:cubicBezTo>
                    <a:pt x="3356459" y="55880"/>
                    <a:pt x="3300579" y="0"/>
                    <a:pt x="3231999" y="0"/>
                  </a:cubicBezTo>
                  <a:close/>
                </a:path>
              </a:pathLst>
            </a:custGeom>
            <a:solidFill>
              <a:srgbClr val="13538A"/>
            </a:solidFill>
          </p:spPr>
        </p:sp>
      </p:grpSp>
      <p:grpSp>
        <p:nvGrpSpPr>
          <p:cNvPr name="Group 43" id="43"/>
          <p:cNvGrpSpPr/>
          <p:nvPr/>
        </p:nvGrpSpPr>
        <p:grpSpPr>
          <a:xfrm rot="0">
            <a:off x="8314866" y="6040981"/>
            <a:ext cx="1832512" cy="1006980"/>
            <a:chOff x="0" y="0"/>
            <a:chExt cx="3482917" cy="1913890"/>
          </a:xfrm>
        </p:grpSpPr>
        <p:sp>
          <p:nvSpPr>
            <p:cNvPr name="Freeform 44" id="44"/>
            <p:cNvSpPr/>
            <p:nvPr/>
          </p:nvSpPr>
          <p:spPr>
            <a:xfrm flipH="false" flipV="false" rot="0">
              <a:off x="31750" y="31750"/>
              <a:ext cx="3418175" cy="1850390"/>
            </a:xfrm>
            <a:custGeom>
              <a:avLst/>
              <a:gdLst/>
              <a:ahLst/>
              <a:cxnLst/>
              <a:rect r="r" b="b" t="t" l="l"/>
              <a:pathLst>
                <a:path h="1850390" w="3418175">
                  <a:moveTo>
                    <a:pt x="3326707" y="1850390"/>
                  </a:moveTo>
                  <a:lnTo>
                    <a:pt x="92710" y="1850390"/>
                  </a:lnTo>
                  <a:cubicBezTo>
                    <a:pt x="41910" y="1850390"/>
                    <a:pt x="0" y="1808480"/>
                    <a:pt x="0" y="1757680"/>
                  </a:cubicBezTo>
                  <a:lnTo>
                    <a:pt x="0" y="92710"/>
                  </a:lnTo>
                  <a:cubicBezTo>
                    <a:pt x="0" y="41910"/>
                    <a:pt x="41910" y="0"/>
                    <a:pt x="92710" y="0"/>
                  </a:cubicBezTo>
                  <a:lnTo>
                    <a:pt x="3325437" y="0"/>
                  </a:lnTo>
                  <a:cubicBezTo>
                    <a:pt x="3376237" y="0"/>
                    <a:pt x="3418147" y="41910"/>
                    <a:pt x="3418147" y="92710"/>
                  </a:cubicBezTo>
                  <a:lnTo>
                    <a:pt x="3418147" y="1756410"/>
                  </a:lnTo>
                  <a:cubicBezTo>
                    <a:pt x="3419417" y="1808480"/>
                    <a:pt x="3377507" y="1850390"/>
                    <a:pt x="3326707" y="1850390"/>
                  </a:cubicBezTo>
                  <a:close/>
                </a:path>
              </a:pathLst>
            </a:custGeom>
            <a:solidFill>
              <a:srgbClr val="13538A"/>
            </a:solidFill>
          </p:spPr>
        </p:sp>
        <p:sp>
          <p:nvSpPr>
            <p:cNvPr name="Freeform 45" id="45"/>
            <p:cNvSpPr/>
            <p:nvPr/>
          </p:nvSpPr>
          <p:spPr>
            <a:xfrm flipH="false" flipV="false" rot="0">
              <a:off x="0" y="0"/>
              <a:ext cx="3482917" cy="1913890"/>
            </a:xfrm>
            <a:custGeom>
              <a:avLst/>
              <a:gdLst/>
              <a:ahLst/>
              <a:cxnLst/>
              <a:rect r="r" b="b" t="t" l="l"/>
              <a:pathLst>
                <a:path h="1913890" w="3482917">
                  <a:moveTo>
                    <a:pt x="3358457" y="59690"/>
                  </a:moveTo>
                  <a:cubicBezTo>
                    <a:pt x="3394017" y="59690"/>
                    <a:pt x="3423227" y="88900"/>
                    <a:pt x="3423227" y="124460"/>
                  </a:cubicBezTo>
                  <a:lnTo>
                    <a:pt x="3423227" y="1789430"/>
                  </a:lnTo>
                  <a:cubicBezTo>
                    <a:pt x="3423227" y="1824990"/>
                    <a:pt x="3394017" y="1854200"/>
                    <a:pt x="3358457" y="1854200"/>
                  </a:cubicBezTo>
                  <a:lnTo>
                    <a:pt x="124460" y="1854200"/>
                  </a:lnTo>
                  <a:cubicBezTo>
                    <a:pt x="88900" y="1854200"/>
                    <a:pt x="59690" y="1824990"/>
                    <a:pt x="59690" y="1789430"/>
                  </a:cubicBezTo>
                  <a:lnTo>
                    <a:pt x="59690" y="124460"/>
                  </a:lnTo>
                  <a:cubicBezTo>
                    <a:pt x="59690" y="88900"/>
                    <a:pt x="88900" y="59690"/>
                    <a:pt x="124460" y="59690"/>
                  </a:cubicBezTo>
                  <a:lnTo>
                    <a:pt x="3358457" y="59690"/>
                  </a:lnTo>
                  <a:moveTo>
                    <a:pt x="3358457" y="0"/>
                  </a:moveTo>
                  <a:lnTo>
                    <a:pt x="124460" y="0"/>
                  </a:lnTo>
                  <a:cubicBezTo>
                    <a:pt x="55880" y="0"/>
                    <a:pt x="0" y="55880"/>
                    <a:pt x="0" y="124460"/>
                  </a:cubicBezTo>
                  <a:lnTo>
                    <a:pt x="0" y="1789430"/>
                  </a:lnTo>
                  <a:cubicBezTo>
                    <a:pt x="0" y="1858010"/>
                    <a:pt x="55880" y="1913890"/>
                    <a:pt x="124460" y="1913890"/>
                  </a:cubicBezTo>
                  <a:lnTo>
                    <a:pt x="3358457" y="1913890"/>
                  </a:lnTo>
                  <a:cubicBezTo>
                    <a:pt x="3427037" y="1913890"/>
                    <a:pt x="3482917" y="1858010"/>
                    <a:pt x="3482917" y="1789430"/>
                  </a:cubicBezTo>
                  <a:lnTo>
                    <a:pt x="3482917" y="124460"/>
                  </a:lnTo>
                  <a:cubicBezTo>
                    <a:pt x="3482917" y="55880"/>
                    <a:pt x="3427037" y="0"/>
                    <a:pt x="3358457" y="0"/>
                  </a:cubicBezTo>
                  <a:close/>
                </a:path>
              </a:pathLst>
            </a:custGeom>
            <a:solidFill>
              <a:srgbClr val="13538A"/>
            </a:solidFill>
          </p:spPr>
        </p:sp>
      </p:grpSp>
      <p:grpSp>
        <p:nvGrpSpPr>
          <p:cNvPr name="Group 46" id="46"/>
          <p:cNvGrpSpPr/>
          <p:nvPr/>
        </p:nvGrpSpPr>
        <p:grpSpPr>
          <a:xfrm rot="0">
            <a:off x="10931766" y="7291942"/>
            <a:ext cx="1765977" cy="1006980"/>
            <a:chOff x="0" y="0"/>
            <a:chExt cx="3356459" cy="1913890"/>
          </a:xfrm>
        </p:grpSpPr>
        <p:sp>
          <p:nvSpPr>
            <p:cNvPr name="Freeform 47" id="47"/>
            <p:cNvSpPr/>
            <p:nvPr/>
          </p:nvSpPr>
          <p:spPr>
            <a:xfrm flipH="false" flipV="false" rot="0">
              <a:off x="31750" y="31750"/>
              <a:ext cx="3291717" cy="1850390"/>
            </a:xfrm>
            <a:custGeom>
              <a:avLst/>
              <a:gdLst/>
              <a:ahLst/>
              <a:cxnLst/>
              <a:rect r="r" b="b" t="t" l="l"/>
              <a:pathLst>
                <a:path h="1850390" w="3291717">
                  <a:moveTo>
                    <a:pt x="3200249" y="1850390"/>
                  </a:moveTo>
                  <a:lnTo>
                    <a:pt x="92710" y="1850390"/>
                  </a:lnTo>
                  <a:cubicBezTo>
                    <a:pt x="41910" y="1850390"/>
                    <a:pt x="0" y="1808480"/>
                    <a:pt x="0" y="1757680"/>
                  </a:cubicBezTo>
                  <a:lnTo>
                    <a:pt x="0" y="92710"/>
                  </a:lnTo>
                  <a:cubicBezTo>
                    <a:pt x="0" y="41910"/>
                    <a:pt x="41910" y="0"/>
                    <a:pt x="92710" y="0"/>
                  </a:cubicBezTo>
                  <a:lnTo>
                    <a:pt x="3198979" y="0"/>
                  </a:lnTo>
                  <a:cubicBezTo>
                    <a:pt x="3249779" y="0"/>
                    <a:pt x="3291689" y="41910"/>
                    <a:pt x="3291689" y="92710"/>
                  </a:cubicBezTo>
                  <a:lnTo>
                    <a:pt x="3291689" y="1756410"/>
                  </a:lnTo>
                  <a:cubicBezTo>
                    <a:pt x="3292959" y="1808480"/>
                    <a:pt x="3251049" y="1850390"/>
                    <a:pt x="3200249" y="1850390"/>
                  </a:cubicBezTo>
                  <a:close/>
                </a:path>
              </a:pathLst>
            </a:custGeom>
            <a:solidFill>
              <a:srgbClr val="13538A"/>
            </a:solidFill>
          </p:spPr>
        </p:sp>
        <p:sp>
          <p:nvSpPr>
            <p:cNvPr name="Freeform 48" id="48"/>
            <p:cNvSpPr/>
            <p:nvPr/>
          </p:nvSpPr>
          <p:spPr>
            <a:xfrm flipH="false" flipV="false" rot="0">
              <a:off x="0" y="0"/>
              <a:ext cx="3356459" cy="1913890"/>
            </a:xfrm>
            <a:custGeom>
              <a:avLst/>
              <a:gdLst/>
              <a:ahLst/>
              <a:cxnLst/>
              <a:rect r="r" b="b" t="t" l="l"/>
              <a:pathLst>
                <a:path h="1913890" w="3356459">
                  <a:moveTo>
                    <a:pt x="3231999" y="59690"/>
                  </a:moveTo>
                  <a:cubicBezTo>
                    <a:pt x="3267559" y="59690"/>
                    <a:pt x="3296769" y="88900"/>
                    <a:pt x="3296769" y="124460"/>
                  </a:cubicBezTo>
                  <a:lnTo>
                    <a:pt x="3296769" y="1789430"/>
                  </a:lnTo>
                  <a:cubicBezTo>
                    <a:pt x="3296769" y="1824990"/>
                    <a:pt x="3267559" y="1854200"/>
                    <a:pt x="3231999" y="1854200"/>
                  </a:cubicBezTo>
                  <a:lnTo>
                    <a:pt x="124460" y="1854200"/>
                  </a:lnTo>
                  <a:cubicBezTo>
                    <a:pt x="88900" y="1854200"/>
                    <a:pt x="59690" y="1824990"/>
                    <a:pt x="59690" y="1789430"/>
                  </a:cubicBezTo>
                  <a:lnTo>
                    <a:pt x="59690" y="124460"/>
                  </a:lnTo>
                  <a:cubicBezTo>
                    <a:pt x="59690" y="88900"/>
                    <a:pt x="88900" y="59690"/>
                    <a:pt x="124460" y="59690"/>
                  </a:cubicBezTo>
                  <a:lnTo>
                    <a:pt x="3231999" y="59690"/>
                  </a:lnTo>
                  <a:moveTo>
                    <a:pt x="3231999" y="0"/>
                  </a:moveTo>
                  <a:lnTo>
                    <a:pt x="124460" y="0"/>
                  </a:lnTo>
                  <a:cubicBezTo>
                    <a:pt x="55880" y="0"/>
                    <a:pt x="0" y="55880"/>
                    <a:pt x="0" y="124460"/>
                  </a:cubicBezTo>
                  <a:lnTo>
                    <a:pt x="0" y="1789430"/>
                  </a:lnTo>
                  <a:cubicBezTo>
                    <a:pt x="0" y="1858010"/>
                    <a:pt x="55880" y="1913890"/>
                    <a:pt x="124460" y="1913890"/>
                  </a:cubicBezTo>
                  <a:lnTo>
                    <a:pt x="3231999" y="1913890"/>
                  </a:lnTo>
                  <a:cubicBezTo>
                    <a:pt x="3300579" y="1913890"/>
                    <a:pt x="3356459" y="1858010"/>
                    <a:pt x="3356459" y="1789430"/>
                  </a:cubicBezTo>
                  <a:lnTo>
                    <a:pt x="3356459" y="124460"/>
                  </a:lnTo>
                  <a:cubicBezTo>
                    <a:pt x="3356459" y="55880"/>
                    <a:pt x="3300579" y="0"/>
                    <a:pt x="3231999" y="0"/>
                  </a:cubicBezTo>
                  <a:close/>
                </a:path>
              </a:pathLst>
            </a:custGeom>
            <a:solidFill>
              <a:srgbClr val="13538A"/>
            </a:solidFill>
          </p:spPr>
        </p:sp>
      </p:grpSp>
      <p:grpSp>
        <p:nvGrpSpPr>
          <p:cNvPr name="Group 49" id="49"/>
          <p:cNvGrpSpPr/>
          <p:nvPr/>
        </p:nvGrpSpPr>
        <p:grpSpPr>
          <a:xfrm rot="0">
            <a:off x="10923166" y="4760737"/>
            <a:ext cx="1765977" cy="1006980"/>
            <a:chOff x="0" y="0"/>
            <a:chExt cx="3356459" cy="1913890"/>
          </a:xfrm>
        </p:grpSpPr>
        <p:sp>
          <p:nvSpPr>
            <p:cNvPr name="Freeform 50" id="50"/>
            <p:cNvSpPr/>
            <p:nvPr/>
          </p:nvSpPr>
          <p:spPr>
            <a:xfrm flipH="false" flipV="false" rot="0">
              <a:off x="31750" y="31750"/>
              <a:ext cx="3291717" cy="1850390"/>
            </a:xfrm>
            <a:custGeom>
              <a:avLst/>
              <a:gdLst/>
              <a:ahLst/>
              <a:cxnLst/>
              <a:rect r="r" b="b" t="t" l="l"/>
              <a:pathLst>
                <a:path h="1850390" w="3291717">
                  <a:moveTo>
                    <a:pt x="3200249" y="1850390"/>
                  </a:moveTo>
                  <a:lnTo>
                    <a:pt x="92710" y="1850390"/>
                  </a:lnTo>
                  <a:cubicBezTo>
                    <a:pt x="41910" y="1850390"/>
                    <a:pt x="0" y="1808480"/>
                    <a:pt x="0" y="1757680"/>
                  </a:cubicBezTo>
                  <a:lnTo>
                    <a:pt x="0" y="92710"/>
                  </a:lnTo>
                  <a:cubicBezTo>
                    <a:pt x="0" y="41910"/>
                    <a:pt x="41910" y="0"/>
                    <a:pt x="92710" y="0"/>
                  </a:cubicBezTo>
                  <a:lnTo>
                    <a:pt x="3198979" y="0"/>
                  </a:lnTo>
                  <a:cubicBezTo>
                    <a:pt x="3249779" y="0"/>
                    <a:pt x="3291689" y="41910"/>
                    <a:pt x="3291689" y="92710"/>
                  </a:cubicBezTo>
                  <a:lnTo>
                    <a:pt x="3291689" y="1756410"/>
                  </a:lnTo>
                  <a:cubicBezTo>
                    <a:pt x="3292959" y="1808480"/>
                    <a:pt x="3251049" y="1850390"/>
                    <a:pt x="3200249" y="1850390"/>
                  </a:cubicBezTo>
                  <a:close/>
                </a:path>
              </a:pathLst>
            </a:custGeom>
            <a:solidFill>
              <a:srgbClr val="13538A"/>
            </a:solidFill>
          </p:spPr>
        </p:sp>
        <p:sp>
          <p:nvSpPr>
            <p:cNvPr name="Freeform 51" id="51"/>
            <p:cNvSpPr/>
            <p:nvPr/>
          </p:nvSpPr>
          <p:spPr>
            <a:xfrm flipH="false" flipV="false" rot="0">
              <a:off x="0" y="0"/>
              <a:ext cx="3356459" cy="1913890"/>
            </a:xfrm>
            <a:custGeom>
              <a:avLst/>
              <a:gdLst/>
              <a:ahLst/>
              <a:cxnLst/>
              <a:rect r="r" b="b" t="t" l="l"/>
              <a:pathLst>
                <a:path h="1913890" w="3356459">
                  <a:moveTo>
                    <a:pt x="3231999" y="59690"/>
                  </a:moveTo>
                  <a:cubicBezTo>
                    <a:pt x="3267559" y="59690"/>
                    <a:pt x="3296769" y="88900"/>
                    <a:pt x="3296769" y="124460"/>
                  </a:cubicBezTo>
                  <a:lnTo>
                    <a:pt x="3296769" y="1789430"/>
                  </a:lnTo>
                  <a:cubicBezTo>
                    <a:pt x="3296769" y="1824990"/>
                    <a:pt x="3267559" y="1854200"/>
                    <a:pt x="3231999" y="1854200"/>
                  </a:cubicBezTo>
                  <a:lnTo>
                    <a:pt x="124460" y="1854200"/>
                  </a:lnTo>
                  <a:cubicBezTo>
                    <a:pt x="88900" y="1854200"/>
                    <a:pt x="59690" y="1824990"/>
                    <a:pt x="59690" y="1789430"/>
                  </a:cubicBezTo>
                  <a:lnTo>
                    <a:pt x="59690" y="124460"/>
                  </a:lnTo>
                  <a:cubicBezTo>
                    <a:pt x="59690" y="88900"/>
                    <a:pt x="88900" y="59690"/>
                    <a:pt x="124460" y="59690"/>
                  </a:cubicBezTo>
                  <a:lnTo>
                    <a:pt x="3231999" y="59690"/>
                  </a:lnTo>
                  <a:moveTo>
                    <a:pt x="3231999" y="0"/>
                  </a:moveTo>
                  <a:lnTo>
                    <a:pt x="124460" y="0"/>
                  </a:lnTo>
                  <a:cubicBezTo>
                    <a:pt x="55880" y="0"/>
                    <a:pt x="0" y="55880"/>
                    <a:pt x="0" y="124460"/>
                  </a:cubicBezTo>
                  <a:lnTo>
                    <a:pt x="0" y="1789430"/>
                  </a:lnTo>
                  <a:cubicBezTo>
                    <a:pt x="0" y="1858010"/>
                    <a:pt x="55880" y="1913890"/>
                    <a:pt x="124460" y="1913890"/>
                  </a:cubicBezTo>
                  <a:lnTo>
                    <a:pt x="3231999" y="1913890"/>
                  </a:lnTo>
                  <a:cubicBezTo>
                    <a:pt x="3300579" y="1913890"/>
                    <a:pt x="3356459" y="1858010"/>
                    <a:pt x="3356459" y="1789430"/>
                  </a:cubicBezTo>
                  <a:lnTo>
                    <a:pt x="3356459" y="124460"/>
                  </a:lnTo>
                  <a:cubicBezTo>
                    <a:pt x="3356459" y="55880"/>
                    <a:pt x="3300579" y="0"/>
                    <a:pt x="3231999" y="0"/>
                  </a:cubicBezTo>
                  <a:close/>
                </a:path>
              </a:pathLst>
            </a:custGeom>
            <a:solidFill>
              <a:srgbClr val="13538A"/>
            </a:solidFill>
          </p:spPr>
        </p:sp>
      </p:grpSp>
      <p:grpSp>
        <p:nvGrpSpPr>
          <p:cNvPr name="Group 52" id="52"/>
          <p:cNvGrpSpPr/>
          <p:nvPr/>
        </p:nvGrpSpPr>
        <p:grpSpPr>
          <a:xfrm rot="0">
            <a:off x="8314866" y="4767301"/>
            <a:ext cx="1832512" cy="1006980"/>
            <a:chOff x="0" y="0"/>
            <a:chExt cx="3482917" cy="1913890"/>
          </a:xfrm>
        </p:grpSpPr>
        <p:sp>
          <p:nvSpPr>
            <p:cNvPr name="Freeform 53" id="53"/>
            <p:cNvSpPr/>
            <p:nvPr/>
          </p:nvSpPr>
          <p:spPr>
            <a:xfrm flipH="false" flipV="false" rot="0">
              <a:off x="31750" y="31750"/>
              <a:ext cx="3418175" cy="1850390"/>
            </a:xfrm>
            <a:custGeom>
              <a:avLst/>
              <a:gdLst/>
              <a:ahLst/>
              <a:cxnLst/>
              <a:rect r="r" b="b" t="t" l="l"/>
              <a:pathLst>
                <a:path h="1850390" w="3418175">
                  <a:moveTo>
                    <a:pt x="3326707" y="1850390"/>
                  </a:moveTo>
                  <a:lnTo>
                    <a:pt x="92710" y="1850390"/>
                  </a:lnTo>
                  <a:cubicBezTo>
                    <a:pt x="41910" y="1850390"/>
                    <a:pt x="0" y="1808480"/>
                    <a:pt x="0" y="1757680"/>
                  </a:cubicBezTo>
                  <a:lnTo>
                    <a:pt x="0" y="92710"/>
                  </a:lnTo>
                  <a:cubicBezTo>
                    <a:pt x="0" y="41910"/>
                    <a:pt x="41910" y="0"/>
                    <a:pt x="92710" y="0"/>
                  </a:cubicBezTo>
                  <a:lnTo>
                    <a:pt x="3325437" y="0"/>
                  </a:lnTo>
                  <a:cubicBezTo>
                    <a:pt x="3376237" y="0"/>
                    <a:pt x="3418147" y="41910"/>
                    <a:pt x="3418147" y="92710"/>
                  </a:cubicBezTo>
                  <a:lnTo>
                    <a:pt x="3418147" y="1756410"/>
                  </a:lnTo>
                  <a:cubicBezTo>
                    <a:pt x="3419417" y="1808480"/>
                    <a:pt x="3377507" y="1850390"/>
                    <a:pt x="3326707" y="1850390"/>
                  </a:cubicBezTo>
                  <a:close/>
                </a:path>
              </a:pathLst>
            </a:custGeom>
            <a:solidFill>
              <a:srgbClr val="13538A"/>
            </a:solidFill>
          </p:spPr>
        </p:sp>
        <p:sp>
          <p:nvSpPr>
            <p:cNvPr name="Freeform 54" id="54"/>
            <p:cNvSpPr/>
            <p:nvPr/>
          </p:nvSpPr>
          <p:spPr>
            <a:xfrm flipH="false" flipV="false" rot="0">
              <a:off x="0" y="0"/>
              <a:ext cx="3482917" cy="1913890"/>
            </a:xfrm>
            <a:custGeom>
              <a:avLst/>
              <a:gdLst/>
              <a:ahLst/>
              <a:cxnLst/>
              <a:rect r="r" b="b" t="t" l="l"/>
              <a:pathLst>
                <a:path h="1913890" w="3482917">
                  <a:moveTo>
                    <a:pt x="3358457" y="59690"/>
                  </a:moveTo>
                  <a:cubicBezTo>
                    <a:pt x="3394017" y="59690"/>
                    <a:pt x="3423227" y="88900"/>
                    <a:pt x="3423227" y="124460"/>
                  </a:cubicBezTo>
                  <a:lnTo>
                    <a:pt x="3423227" y="1789430"/>
                  </a:lnTo>
                  <a:cubicBezTo>
                    <a:pt x="3423227" y="1824990"/>
                    <a:pt x="3394017" y="1854200"/>
                    <a:pt x="3358457" y="1854200"/>
                  </a:cubicBezTo>
                  <a:lnTo>
                    <a:pt x="124460" y="1854200"/>
                  </a:lnTo>
                  <a:cubicBezTo>
                    <a:pt x="88900" y="1854200"/>
                    <a:pt x="59690" y="1824990"/>
                    <a:pt x="59690" y="1789430"/>
                  </a:cubicBezTo>
                  <a:lnTo>
                    <a:pt x="59690" y="124460"/>
                  </a:lnTo>
                  <a:cubicBezTo>
                    <a:pt x="59690" y="88900"/>
                    <a:pt x="88900" y="59690"/>
                    <a:pt x="124460" y="59690"/>
                  </a:cubicBezTo>
                  <a:lnTo>
                    <a:pt x="3358457" y="59690"/>
                  </a:lnTo>
                  <a:moveTo>
                    <a:pt x="3358457" y="0"/>
                  </a:moveTo>
                  <a:lnTo>
                    <a:pt x="124460" y="0"/>
                  </a:lnTo>
                  <a:cubicBezTo>
                    <a:pt x="55880" y="0"/>
                    <a:pt x="0" y="55880"/>
                    <a:pt x="0" y="124460"/>
                  </a:cubicBezTo>
                  <a:lnTo>
                    <a:pt x="0" y="1789430"/>
                  </a:lnTo>
                  <a:cubicBezTo>
                    <a:pt x="0" y="1858010"/>
                    <a:pt x="55880" y="1913890"/>
                    <a:pt x="124460" y="1913890"/>
                  </a:cubicBezTo>
                  <a:lnTo>
                    <a:pt x="3358457" y="1913890"/>
                  </a:lnTo>
                  <a:cubicBezTo>
                    <a:pt x="3427037" y="1913890"/>
                    <a:pt x="3482917" y="1858010"/>
                    <a:pt x="3482917" y="1789430"/>
                  </a:cubicBezTo>
                  <a:lnTo>
                    <a:pt x="3482917" y="124460"/>
                  </a:lnTo>
                  <a:cubicBezTo>
                    <a:pt x="3482917" y="55880"/>
                    <a:pt x="3427037" y="0"/>
                    <a:pt x="3358457" y="0"/>
                  </a:cubicBezTo>
                  <a:close/>
                </a:path>
              </a:pathLst>
            </a:custGeom>
            <a:solidFill>
              <a:srgbClr val="13538A"/>
            </a:solidFill>
          </p:spPr>
        </p:sp>
      </p:grpSp>
      <p:grpSp>
        <p:nvGrpSpPr>
          <p:cNvPr name="Group 55" id="55"/>
          <p:cNvGrpSpPr/>
          <p:nvPr/>
        </p:nvGrpSpPr>
        <p:grpSpPr>
          <a:xfrm rot="0">
            <a:off x="10462070" y="3401333"/>
            <a:ext cx="2454672" cy="1006980"/>
            <a:chOff x="0" y="0"/>
            <a:chExt cx="4665408" cy="1913890"/>
          </a:xfrm>
        </p:grpSpPr>
        <p:sp>
          <p:nvSpPr>
            <p:cNvPr name="Freeform 56" id="56"/>
            <p:cNvSpPr/>
            <p:nvPr/>
          </p:nvSpPr>
          <p:spPr>
            <a:xfrm flipH="false" flipV="false" rot="0">
              <a:off x="31750" y="31750"/>
              <a:ext cx="4600666" cy="1850390"/>
            </a:xfrm>
            <a:custGeom>
              <a:avLst/>
              <a:gdLst/>
              <a:ahLst/>
              <a:cxnLst/>
              <a:rect r="r" b="b" t="t" l="l"/>
              <a:pathLst>
                <a:path h="1850390" w="4600666">
                  <a:moveTo>
                    <a:pt x="4509198" y="1850390"/>
                  </a:moveTo>
                  <a:lnTo>
                    <a:pt x="92710" y="1850390"/>
                  </a:lnTo>
                  <a:cubicBezTo>
                    <a:pt x="41910" y="1850390"/>
                    <a:pt x="0" y="1808480"/>
                    <a:pt x="0" y="1757680"/>
                  </a:cubicBezTo>
                  <a:lnTo>
                    <a:pt x="0" y="92710"/>
                  </a:lnTo>
                  <a:cubicBezTo>
                    <a:pt x="0" y="41910"/>
                    <a:pt x="41910" y="0"/>
                    <a:pt x="92710" y="0"/>
                  </a:cubicBezTo>
                  <a:lnTo>
                    <a:pt x="4507928" y="0"/>
                  </a:lnTo>
                  <a:cubicBezTo>
                    <a:pt x="4558728" y="0"/>
                    <a:pt x="4600638" y="41910"/>
                    <a:pt x="4600638" y="92710"/>
                  </a:cubicBezTo>
                  <a:lnTo>
                    <a:pt x="4600638" y="1756410"/>
                  </a:lnTo>
                  <a:cubicBezTo>
                    <a:pt x="4601908" y="1808480"/>
                    <a:pt x="4559998" y="1850390"/>
                    <a:pt x="4509198" y="1850390"/>
                  </a:cubicBezTo>
                  <a:close/>
                </a:path>
              </a:pathLst>
            </a:custGeom>
            <a:solidFill>
              <a:srgbClr val="257BE0"/>
            </a:solidFill>
          </p:spPr>
        </p:sp>
        <p:sp>
          <p:nvSpPr>
            <p:cNvPr name="Freeform 57" id="57"/>
            <p:cNvSpPr/>
            <p:nvPr/>
          </p:nvSpPr>
          <p:spPr>
            <a:xfrm flipH="false" flipV="false" rot="0">
              <a:off x="0" y="0"/>
              <a:ext cx="4665408" cy="1913890"/>
            </a:xfrm>
            <a:custGeom>
              <a:avLst/>
              <a:gdLst/>
              <a:ahLst/>
              <a:cxnLst/>
              <a:rect r="r" b="b" t="t" l="l"/>
              <a:pathLst>
                <a:path h="1913890" w="4665408">
                  <a:moveTo>
                    <a:pt x="4540948" y="59690"/>
                  </a:moveTo>
                  <a:cubicBezTo>
                    <a:pt x="4576508" y="59690"/>
                    <a:pt x="4605718" y="88900"/>
                    <a:pt x="4605718" y="124460"/>
                  </a:cubicBezTo>
                  <a:lnTo>
                    <a:pt x="4605718" y="1789430"/>
                  </a:lnTo>
                  <a:cubicBezTo>
                    <a:pt x="4605718" y="1824990"/>
                    <a:pt x="4576508" y="1854200"/>
                    <a:pt x="4540948" y="1854200"/>
                  </a:cubicBezTo>
                  <a:lnTo>
                    <a:pt x="124460" y="1854200"/>
                  </a:lnTo>
                  <a:cubicBezTo>
                    <a:pt x="88900" y="1854200"/>
                    <a:pt x="59690" y="1824990"/>
                    <a:pt x="59690" y="1789430"/>
                  </a:cubicBezTo>
                  <a:lnTo>
                    <a:pt x="59690" y="124460"/>
                  </a:lnTo>
                  <a:cubicBezTo>
                    <a:pt x="59690" y="88900"/>
                    <a:pt x="88900" y="59690"/>
                    <a:pt x="124460" y="59690"/>
                  </a:cubicBezTo>
                  <a:lnTo>
                    <a:pt x="4540948" y="59690"/>
                  </a:lnTo>
                  <a:moveTo>
                    <a:pt x="4540948" y="0"/>
                  </a:moveTo>
                  <a:lnTo>
                    <a:pt x="124460" y="0"/>
                  </a:lnTo>
                  <a:cubicBezTo>
                    <a:pt x="55880" y="0"/>
                    <a:pt x="0" y="55880"/>
                    <a:pt x="0" y="124460"/>
                  </a:cubicBezTo>
                  <a:lnTo>
                    <a:pt x="0" y="1789430"/>
                  </a:lnTo>
                  <a:cubicBezTo>
                    <a:pt x="0" y="1858010"/>
                    <a:pt x="55880" y="1913890"/>
                    <a:pt x="124460" y="1913890"/>
                  </a:cubicBezTo>
                  <a:lnTo>
                    <a:pt x="4540948" y="1913890"/>
                  </a:lnTo>
                  <a:cubicBezTo>
                    <a:pt x="4609528" y="1913890"/>
                    <a:pt x="4665408" y="1858010"/>
                    <a:pt x="4665408" y="1789430"/>
                  </a:cubicBezTo>
                  <a:lnTo>
                    <a:pt x="4665408" y="124460"/>
                  </a:lnTo>
                  <a:cubicBezTo>
                    <a:pt x="4665408" y="55880"/>
                    <a:pt x="4609528" y="0"/>
                    <a:pt x="4540948" y="0"/>
                  </a:cubicBezTo>
                  <a:close/>
                </a:path>
              </a:pathLst>
            </a:custGeom>
            <a:solidFill>
              <a:srgbClr val="257BE0"/>
            </a:solidFill>
          </p:spPr>
        </p:sp>
      </p:grpSp>
      <p:grpSp>
        <p:nvGrpSpPr>
          <p:cNvPr name="Group 58" id="58"/>
          <p:cNvGrpSpPr/>
          <p:nvPr/>
        </p:nvGrpSpPr>
        <p:grpSpPr>
          <a:xfrm rot="0">
            <a:off x="7985147" y="3388689"/>
            <a:ext cx="2349259" cy="1006980"/>
            <a:chOff x="0" y="0"/>
            <a:chExt cx="4465058" cy="1913890"/>
          </a:xfrm>
        </p:grpSpPr>
        <p:sp>
          <p:nvSpPr>
            <p:cNvPr name="Freeform 59" id="59"/>
            <p:cNvSpPr/>
            <p:nvPr/>
          </p:nvSpPr>
          <p:spPr>
            <a:xfrm flipH="false" flipV="false" rot="0">
              <a:off x="31750" y="31750"/>
              <a:ext cx="4400316" cy="1850390"/>
            </a:xfrm>
            <a:custGeom>
              <a:avLst/>
              <a:gdLst/>
              <a:ahLst/>
              <a:cxnLst/>
              <a:rect r="r" b="b" t="t" l="l"/>
              <a:pathLst>
                <a:path h="1850390" w="4400316">
                  <a:moveTo>
                    <a:pt x="4308848" y="1850390"/>
                  </a:moveTo>
                  <a:lnTo>
                    <a:pt x="92710" y="1850390"/>
                  </a:lnTo>
                  <a:cubicBezTo>
                    <a:pt x="41910" y="1850390"/>
                    <a:pt x="0" y="1808480"/>
                    <a:pt x="0" y="1757680"/>
                  </a:cubicBezTo>
                  <a:lnTo>
                    <a:pt x="0" y="92710"/>
                  </a:lnTo>
                  <a:cubicBezTo>
                    <a:pt x="0" y="41910"/>
                    <a:pt x="41910" y="0"/>
                    <a:pt x="92710" y="0"/>
                  </a:cubicBezTo>
                  <a:lnTo>
                    <a:pt x="4307578" y="0"/>
                  </a:lnTo>
                  <a:cubicBezTo>
                    <a:pt x="4358378" y="0"/>
                    <a:pt x="4400288" y="41910"/>
                    <a:pt x="4400288" y="92710"/>
                  </a:cubicBezTo>
                  <a:lnTo>
                    <a:pt x="4400288" y="1756410"/>
                  </a:lnTo>
                  <a:cubicBezTo>
                    <a:pt x="4401558" y="1808480"/>
                    <a:pt x="4359648" y="1850390"/>
                    <a:pt x="4308848" y="1850390"/>
                  </a:cubicBezTo>
                  <a:close/>
                </a:path>
              </a:pathLst>
            </a:custGeom>
            <a:solidFill>
              <a:srgbClr val="257BE0"/>
            </a:solidFill>
          </p:spPr>
        </p:sp>
        <p:sp>
          <p:nvSpPr>
            <p:cNvPr name="Freeform 60" id="60"/>
            <p:cNvSpPr/>
            <p:nvPr/>
          </p:nvSpPr>
          <p:spPr>
            <a:xfrm flipH="false" flipV="false" rot="0">
              <a:off x="0" y="0"/>
              <a:ext cx="4465058" cy="1913890"/>
            </a:xfrm>
            <a:custGeom>
              <a:avLst/>
              <a:gdLst/>
              <a:ahLst/>
              <a:cxnLst/>
              <a:rect r="r" b="b" t="t" l="l"/>
              <a:pathLst>
                <a:path h="1913890" w="4465058">
                  <a:moveTo>
                    <a:pt x="4340598" y="59690"/>
                  </a:moveTo>
                  <a:cubicBezTo>
                    <a:pt x="4376158" y="59690"/>
                    <a:pt x="4405368" y="88900"/>
                    <a:pt x="4405368" y="124460"/>
                  </a:cubicBezTo>
                  <a:lnTo>
                    <a:pt x="4405368" y="1789430"/>
                  </a:lnTo>
                  <a:cubicBezTo>
                    <a:pt x="4405368" y="1824990"/>
                    <a:pt x="4376158" y="1854200"/>
                    <a:pt x="4340598" y="1854200"/>
                  </a:cubicBezTo>
                  <a:lnTo>
                    <a:pt x="124460" y="1854200"/>
                  </a:lnTo>
                  <a:cubicBezTo>
                    <a:pt x="88900" y="1854200"/>
                    <a:pt x="59690" y="1824990"/>
                    <a:pt x="59690" y="1789430"/>
                  </a:cubicBezTo>
                  <a:lnTo>
                    <a:pt x="59690" y="124460"/>
                  </a:lnTo>
                  <a:cubicBezTo>
                    <a:pt x="59690" y="88900"/>
                    <a:pt x="88900" y="59690"/>
                    <a:pt x="124460" y="59690"/>
                  </a:cubicBezTo>
                  <a:lnTo>
                    <a:pt x="4340598" y="59690"/>
                  </a:lnTo>
                  <a:moveTo>
                    <a:pt x="4340598" y="0"/>
                  </a:moveTo>
                  <a:lnTo>
                    <a:pt x="124460" y="0"/>
                  </a:lnTo>
                  <a:cubicBezTo>
                    <a:pt x="55880" y="0"/>
                    <a:pt x="0" y="55880"/>
                    <a:pt x="0" y="124460"/>
                  </a:cubicBezTo>
                  <a:lnTo>
                    <a:pt x="0" y="1789430"/>
                  </a:lnTo>
                  <a:cubicBezTo>
                    <a:pt x="0" y="1858010"/>
                    <a:pt x="55880" y="1913890"/>
                    <a:pt x="124460" y="1913890"/>
                  </a:cubicBezTo>
                  <a:lnTo>
                    <a:pt x="4340598" y="1913890"/>
                  </a:lnTo>
                  <a:cubicBezTo>
                    <a:pt x="4409178" y="1913890"/>
                    <a:pt x="4465058" y="1858010"/>
                    <a:pt x="4465058" y="1789430"/>
                  </a:cubicBezTo>
                  <a:lnTo>
                    <a:pt x="4465058" y="124460"/>
                  </a:lnTo>
                  <a:cubicBezTo>
                    <a:pt x="4465058" y="55880"/>
                    <a:pt x="4409178" y="0"/>
                    <a:pt x="4340598" y="0"/>
                  </a:cubicBezTo>
                  <a:close/>
                </a:path>
              </a:pathLst>
            </a:custGeom>
            <a:solidFill>
              <a:srgbClr val="257BE0"/>
            </a:solidFill>
          </p:spPr>
        </p:sp>
      </p:grpSp>
      <p:sp>
        <p:nvSpPr>
          <p:cNvPr name="AutoShape 61" id="61"/>
          <p:cNvSpPr/>
          <p:nvPr/>
        </p:nvSpPr>
        <p:spPr>
          <a:xfrm flipV="true">
            <a:off x="11806155" y="4383057"/>
            <a:ext cx="0" cy="377680"/>
          </a:xfrm>
          <a:prstGeom prst="line">
            <a:avLst/>
          </a:prstGeom>
          <a:ln cap="rnd" w="19050">
            <a:solidFill>
              <a:srgbClr val="003882"/>
            </a:solidFill>
            <a:prstDash val="solid"/>
            <a:headEnd type="none" len="sm" w="sm"/>
            <a:tailEnd type="none" len="sm" w="sm"/>
          </a:ln>
        </p:spPr>
      </p:sp>
      <p:sp>
        <p:nvSpPr>
          <p:cNvPr name="AutoShape 62" id="62"/>
          <p:cNvSpPr/>
          <p:nvPr/>
        </p:nvSpPr>
        <p:spPr>
          <a:xfrm flipV="true">
            <a:off x="9231123" y="4383074"/>
            <a:ext cx="0" cy="384227"/>
          </a:xfrm>
          <a:prstGeom prst="line">
            <a:avLst/>
          </a:prstGeom>
          <a:ln cap="rnd" w="19050">
            <a:solidFill>
              <a:srgbClr val="003882"/>
            </a:solidFill>
            <a:prstDash val="solid"/>
            <a:headEnd type="none" len="sm" w="sm"/>
            <a:tailEnd type="none" len="sm" w="sm"/>
          </a:ln>
        </p:spPr>
      </p:sp>
      <p:sp>
        <p:nvSpPr>
          <p:cNvPr name="AutoShape 63" id="63"/>
          <p:cNvSpPr/>
          <p:nvPr/>
        </p:nvSpPr>
        <p:spPr>
          <a:xfrm>
            <a:off x="11806155" y="5767717"/>
            <a:ext cx="8600" cy="260070"/>
          </a:xfrm>
          <a:prstGeom prst="line">
            <a:avLst/>
          </a:prstGeom>
          <a:ln cap="flat" w="19050">
            <a:solidFill>
              <a:srgbClr val="003882"/>
            </a:solidFill>
            <a:prstDash val="solid"/>
            <a:headEnd type="none" len="sm" w="sm"/>
            <a:tailEnd type="none" len="sm" w="sm"/>
          </a:ln>
        </p:spPr>
      </p:sp>
      <p:sp>
        <p:nvSpPr>
          <p:cNvPr name="AutoShape 64" id="64"/>
          <p:cNvSpPr/>
          <p:nvPr/>
        </p:nvSpPr>
        <p:spPr>
          <a:xfrm>
            <a:off x="11814755" y="7034767"/>
            <a:ext cx="0" cy="257175"/>
          </a:xfrm>
          <a:prstGeom prst="line">
            <a:avLst/>
          </a:prstGeom>
          <a:ln cap="flat" w="19050">
            <a:solidFill>
              <a:srgbClr val="003882"/>
            </a:solidFill>
            <a:prstDash val="solid"/>
            <a:headEnd type="none" len="sm" w="sm"/>
            <a:tailEnd type="none" len="sm" w="sm"/>
          </a:ln>
        </p:spPr>
      </p:sp>
      <p:sp>
        <p:nvSpPr>
          <p:cNvPr name="AutoShape 65" id="65"/>
          <p:cNvSpPr/>
          <p:nvPr/>
        </p:nvSpPr>
        <p:spPr>
          <a:xfrm flipV="true">
            <a:off x="9239723" y="3019116"/>
            <a:ext cx="0" cy="382217"/>
          </a:xfrm>
          <a:prstGeom prst="line">
            <a:avLst/>
          </a:prstGeom>
          <a:ln cap="flat" w="19050">
            <a:solidFill>
              <a:srgbClr val="003882"/>
            </a:solidFill>
            <a:prstDash val="solid"/>
            <a:headEnd type="none" len="sm" w="sm"/>
            <a:tailEnd type="none" len="sm" w="sm"/>
          </a:ln>
        </p:spPr>
      </p:sp>
      <p:sp>
        <p:nvSpPr>
          <p:cNvPr name="AutoShape 66" id="66"/>
          <p:cNvSpPr/>
          <p:nvPr/>
        </p:nvSpPr>
        <p:spPr>
          <a:xfrm flipV="true">
            <a:off x="11814755" y="3019116"/>
            <a:ext cx="0" cy="382217"/>
          </a:xfrm>
          <a:prstGeom prst="line">
            <a:avLst/>
          </a:prstGeom>
          <a:ln cap="flat" w="19050">
            <a:solidFill>
              <a:srgbClr val="003882"/>
            </a:solidFill>
            <a:prstDash val="solid"/>
            <a:headEnd type="none" len="sm" w="sm"/>
            <a:tailEnd type="none" len="sm" w="sm"/>
          </a:ln>
        </p:spPr>
      </p:sp>
      <p:sp>
        <p:nvSpPr>
          <p:cNvPr name="AutoShape 67" id="67"/>
          <p:cNvSpPr/>
          <p:nvPr/>
        </p:nvSpPr>
        <p:spPr>
          <a:xfrm flipV="true">
            <a:off x="4368336" y="3040360"/>
            <a:ext cx="0" cy="382217"/>
          </a:xfrm>
          <a:prstGeom prst="line">
            <a:avLst/>
          </a:prstGeom>
          <a:ln cap="flat" w="19050">
            <a:solidFill>
              <a:srgbClr val="003882"/>
            </a:solidFill>
            <a:prstDash val="solid"/>
            <a:headEnd type="none" len="sm" w="sm"/>
            <a:tailEnd type="none" len="sm" w="sm"/>
          </a:ln>
        </p:spPr>
      </p:sp>
      <p:sp>
        <p:nvSpPr>
          <p:cNvPr name="AutoShape 68" id="68"/>
          <p:cNvSpPr/>
          <p:nvPr/>
        </p:nvSpPr>
        <p:spPr>
          <a:xfrm flipV="true">
            <a:off x="1934567" y="3040360"/>
            <a:ext cx="0" cy="360973"/>
          </a:xfrm>
          <a:prstGeom prst="line">
            <a:avLst/>
          </a:prstGeom>
          <a:ln cap="flat" w="19050">
            <a:solidFill>
              <a:srgbClr val="003882"/>
            </a:solidFill>
            <a:prstDash val="solid"/>
            <a:headEnd type="none" len="sm" w="sm"/>
            <a:tailEnd type="none" len="sm" w="sm"/>
          </a:ln>
        </p:spPr>
      </p:sp>
      <p:grpSp>
        <p:nvGrpSpPr>
          <p:cNvPr name="Group 69" id="69"/>
          <p:cNvGrpSpPr/>
          <p:nvPr/>
        </p:nvGrpSpPr>
        <p:grpSpPr>
          <a:xfrm rot="0">
            <a:off x="7005922" y="1639317"/>
            <a:ext cx="4492358" cy="1006980"/>
            <a:chOff x="0" y="0"/>
            <a:chExt cx="8538284" cy="1913890"/>
          </a:xfrm>
        </p:grpSpPr>
        <p:sp>
          <p:nvSpPr>
            <p:cNvPr name="Freeform 70" id="70"/>
            <p:cNvSpPr/>
            <p:nvPr/>
          </p:nvSpPr>
          <p:spPr>
            <a:xfrm flipH="false" flipV="false" rot="0">
              <a:off x="31750" y="31750"/>
              <a:ext cx="8473542" cy="1850390"/>
            </a:xfrm>
            <a:custGeom>
              <a:avLst/>
              <a:gdLst/>
              <a:ahLst/>
              <a:cxnLst/>
              <a:rect r="r" b="b" t="t" l="l"/>
              <a:pathLst>
                <a:path h="1850390" w="8473542">
                  <a:moveTo>
                    <a:pt x="8382074" y="1850390"/>
                  </a:moveTo>
                  <a:lnTo>
                    <a:pt x="92710" y="1850390"/>
                  </a:lnTo>
                  <a:cubicBezTo>
                    <a:pt x="41910" y="1850390"/>
                    <a:pt x="0" y="1808480"/>
                    <a:pt x="0" y="1757680"/>
                  </a:cubicBezTo>
                  <a:lnTo>
                    <a:pt x="0" y="92710"/>
                  </a:lnTo>
                  <a:cubicBezTo>
                    <a:pt x="0" y="41910"/>
                    <a:pt x="41910" y="0"/>
                    <a:pt x="92710" y="0"/>
                  </a:cubicBezTo>
                  <a:lnTo>
                    <a:pt x="8380804" y="0"/>
                  </a:lnTo>
                  <a:cubicBezTo>
                    <a:pt x="8431604" y="0"/>
                    <a:pt x="8473514" y="41910"/>
                    <a:pt x="8473514" y="92710"/>
                  </a:cubicBezTo>
                  <a:lnTo>
                    <a:pt x="8473514" y="1756410"/>
                  </a:lnTo>
                  <a:cubicBezTo>
                    <a:pt x="8474784" y="1808480"/>
                    <a:pt x="8432874" y="1850390"/>
                    <a:pt x="8382074" y="1850390"/>
                  </a:cubicBezTo>
                  <a:close/>
                </a:path>
              </a:pathLst>
            </a:custGeom>
            <a:solidFill>
              <a:srgbClr val="0866FF"/>
            </a:solidFill>
          </p:spPr>
        </p:sp>
        <p:sp>
          <p:nvSpPr>
            <p:cNvPr name="Freeform 71" id="71"/>
            <p:cNvSpPr/>
            <p:nvPr/>
          </p:nvSpPr>
          <p:spPr>
            <a:xfrm flipH="false" flipV="false" rot="0">
              <a:off x="0" y="0"/>
              <a:ext cx="8538284" cy="1913890"/>
            </a:xfrm>
            <a:custGeom>
              <a:avLst/>
              <a:gdLst/>
              <a:ahLst/>
              <a:cxnLst/>
              <a:rect r="r" b="b" t="t" l="l"/>
              <a:pathLst>
                <a:path h="1913890" w="8538284">
                  <a:moveTo>
                    <a:pt x="8413824" y="59690"/>
                  </a:moveTo>
                  <a:cubicBezTo>
                    <a:pt x="8449384" y="59690"/>
                    <a:pt x="8478594" y="88900"/>
                    <a:pt x="8478594" y="124460"/>
                  </a:cubicBezTo>
                  <a:lnTo>
                    <a:pt x="8478594" y="1789430"/>
                  </a:lnTo>
                  <a:cubicBezTo>
                    <a:pt x="8478594" y="1824990"/>
                    <a:pt x="8449384" y="1854200"/>
                    <a:pt x="8413824" y="1854200"/>
                  </a:cubicBezTo>
                  <a:lnTo>
                    <a:pt x="124460" y="1854200"/>
                  </a:lnTo>
                  <a:cubicBezTo>
                    <a:pt x="88900" y="1854200"/>
                    <a:pt x="59690" y="1824990"/>
                    <a:pt x="59690" y="1789430"/>
                  </a:cubicBezTo>
                  <a:lnTo>
                    <a:pt x="59690" y="124460"/>
                  </a:lnTo>
                  <a:cubicBezTo>
                    <a:pt x="59690" y="88900"/>
                    <a:pt x="88900" y="59690"/>
                    <a:pt x="124460" y="59690"/>
                  </a:cubicBezTo>
                  <a:lnTo>
                    <a:pt x="8413824" y="59690"/>
                  </a:lnTo>
                  <a:moveTo>
                    <a:pt x="8413824" y="0"/>
                  </a:moveTo>
                  <a:lnTo>
                    <a:pt x="124460" y="0"/>
                  </a:lnTo>
                  <a:cubicBezTo>
                    <a:pt x="55880" y="0"/>
                    <a:pt x="0" y="55880"/>
                    <a:pt x="0" y="124460"/>
                  </a:cubicBezTo>
                  <a:lnTo>
                    <a:pt x="0" y="1789430"/>
                  </a:lnTo>
                  <a:cubicBezTo>
                    <a:pt x="0" y="1858010"/>
                    <a:pt x="55880" y="1913890"/>
                    <a:pt x="124460" y="1913890"/>
                  </a:cubicBezTo>
                  <a:lnTo>
                    <a:pt x="8413824" y="1913890"/>
                  </a:lnTo>
                  <a:cubicBezTo>
                    <a:pt x="8482404" y="1913890"/>
                    <a:pt x="8538284" y="1858010"/>
                    <a:pt x="8538284" y="1789430"/>
                  </a:cubicBezTo>
                  <a:lnTo>
                    <a:pt x="8538284" y="124460"/>
                  </a:lnTo>
                  <a:cubicBezTo>
                    <a:pt x="8538284" y="55880"/>
                    <a:pt x="8482404" y="0"/>
                    <a:pt x="8413824" y="0"/>
                  </a:cubicBezTo>
                  <a:close/>
                </a:path>
              </a:pathLst>
            </a:custGeom>
            <a:solidFill>
              <a:srgbClr val="257BE0"/>
            </a:solidFill>
          </p:spPr>
        </p:sp>
      </p:grpSp>
      <p:sp>
        <p:nvSpPr>
          <p:cNvPr name="AutoShape 72" id="72"/>
          <p:cNvSpPr/>
          <p:nvPr/>
        </p:nvSpPr>
        <p:spPr>
          <a:xfrm>
            <a:off x="1934567" y="3040360"/>
            <a:ext cx="14834705" cy="0"/>
          </a:xfrm>
          <a:prstGeom prst="line">
            <a:avLst/>
          </a:prstGeom>
          <a:ln cap="flat" w="19050">
            <a:solidFill>
              <a:srgbClr val="003882"/>
            </a:solidFill>
            <a:prstDash val="solid"/>
            <a:headEnd type="none" len="sm" w="sm"/>
            <a:tailEnd type="none" len="sm" w="sm"/>
          </a:ln>
        </p:spPr>
      </p:sp>
      <p:sp>
        <p:nvSpPr>
          <p:cNvPr name="TextBox 73" id="73"/>
          <p:cNvSpPr txBox="true"/>
          <p:nvPr/>
        </p:nvSpPr>
        <p:spPr>
          <a:xfrm rot="0">
            <a:off x="1198800" y="6105140"/>
            <a:ext cx="1424108" cy="779774"/>
          </a:xfrm>
          <a:prstGeom prst="rect">
            <a:avLst/>
          </a:prstGeom>
        </p:spPr>
        <p:txBody>
          <a:bodyPr anchor="t" rtlCol="false" tIns="0" lIns="0" bIns="0" rIns="0">
            <a:spAutoFit/>
          </a:bodyPr>
          <a:lstStyle/>
          <a:p>
            <a:pPr algn="ctr">
              <a:lnSpc>
                <a:spcPts val="2151"/>
              </a:lnSpc>
              <a:spcBef>
                <a:spcPct val="0"/>
              </a:spcBef>
            </a:pPr>
            <a:r>
              <a:rPr lang="en-US" b="true" sz="1536">
                <a:solidFill>
                  <a:srgbClr val="FFFFFF"/>
                </a:solidFill>
                <a:latin typeface="Poppins Medium"/>
                <a:ea typeface="Poppins Medium"/>
                <a:cs typeface="Poppins Medium"/>
                <a:sym typeface="Poppins Medium"/>
              </a:rPr>
              <a:t>Minimizar errores en pedidos</a:t>
            </a:r>
          </a:p>
        </p:txBody>
      </p:sp>
      <p:sp>
        <p:nvSpPr>
          <p:cNvPr name="TextBox 74" id="74"/>
          <p:cNvSpPr txBox="true"/>
          <p:nvPr/>
        </p:nvSpPr>
        <p:spPr>
          <a:xfrm rot="0">
            <a:off x="1102475" y="4832010"/>
            <a:ext cx="1616758" cy="779774"/>
          </a:xfrm>
          <a:prstGeom prst="rect">
            <a:avLst/>
          </a:prstGeom>
        </p:spPr>
        <p:txBody>
          <a:bodyPr anchor="t" rtlCol="false" tIns="0" lIns="0" bIns="0" rIns="0">
            <a:spAutoFit/>
          </a:bodyPr>
          <a:lstStyle/>
          <a:p>
            <a:pPr algn="ctr">
              <a:lnSpc>
                <a:spcPts val="2151"/>
              </a:lnSpc>
              <a:spcBef>
                <a:spcPct val="0"/>
              </a:spcBef>
            </a:pPr>
            <a:r>
              <a:rPr lang="en-US" b="true" sz="1536">
                <a:solidFill>
                  <a:srgbClr val="FFFFFF"/>
                </a:solidFill>
                <a:latin typeface="Poppins Medium"/>
                <a:ea typeface="Poppins Medium"/>
                <a:cs typeface="Poppins Medium"/>
                <a:sym typeface="Poppins Medium"/>
              </a:rPr>
              <a:t>Reducir el tiempo de respuesta</a:t>
            </a:r>
          </a:p>
        </p:txBody>
      </p:sp>
      <p:sp>
        <p:nvSpPr>
          <p:cNvPr name="TextBox 75" id="75"/>
          <p:cNvSpPr txBox="true"/>
          <p:nvPr/>
        </p:nvSpPr>
        <p:spPr>
          <a:xfrm rot="0">
            <a:off x="619315" y="3548296"/>
            <a:ext cx="2458364" cy="630615"/>
          </a:xfrm>
          <a:prstGeom prst="rect">
            <a:avLst/>
          </a:prstGeom>
        </p:spPr>
        <p:txBody>
          <a:bodyPr anchor="t" rtlCol="false" tIns="0" lIns="0" bIns="0" rIns="0">
            <a:spAutoFit/>
          </a:bodyPr>
          <a:lstStyle/>
          <a:p>
            <a:pPr algn="ctr">
              <a:lnSpc>
                <a:spcPts val="2522"/>
              </a:lnSpc>
              <a:spcBef>
                <a:spcPct val="0"/>
              </a:spcBef>
            </a:pPr>
            <a:r>
              <a:rPr lang="en-US" sz="1801">
                <a:solidFill>
                  <a:srgbClr val="FFFFFF"/>
                </a:solidFill>
                <a:latin typeface="Poppins"/>
                <a:ea typeface="Poppins"/>
                <a:cs typeface="Poppins"/>
                <a:sym typeface="Poppins"/>
              </a:rPr>
              <a:t>Automatizar el proceso de ventas</a:t>
            </a:r>
          </a:p>
        </p:txBody>
      </p:sp>
      <p:sp>
        <p:nvSpPr>
          <p:cNvPr name="TextBox 76" id="76"/>
          <p:cNvSpPr txBox="true"/>
          <p:nvPr/>
        </p:nvSpPr>
        <p:spPr>
          <a:xfrm rot="0">
            <a:off x="3648131" y="6265102"/>
            <a:ext cx="1423210" cy="519537"/>
          </a:xfrm>
          <a:prstGeom prst="rect">
            <a:avLst/>
          </a:prstGeom>
        </p:spPr>
        <p:txBody>
          <a:bodyPr anchor="t" rtlCol="false" tIns="0" lIns="0" bIns="0" rIns="0">
            <a:spAutoFit/>
          </a:bodyPr>
          <a:lstStyle/>
          <a:p>
            <a:pPr algn="ctr">
              <a:lnSpc>
                <a:spcPts val="2151"/>
              </a:lnSpc>
              <a:spcBef>
                <a:spcPct val="0"/>
              </a:spcBef>
            </a:pPr>
            <a:r>
              <a:rPr lang="en-US" b="true" sz="1536">
                <a:solidFill>
                  <a:srgbClr val="FFFFFF"/>
                </a:solidFill>
                <a:latin typeface="Poppins Medium"/>
                <a:ea typeface="Poppins Medium"/>
                <a:cs typeface="Poppins Medium"/>
                <a:sym typeface="Poppins Medium"/>
              </a:rPr>
              <a:t>Gestión de pagos</a:t>
            </a:r>
          </a:p>
        </p:txBody>
      </p:sp>
      <p:sp>
        <p:nvSpPr>
          <p:cNvPr name="TextBox 77" id="77"/>
          <p:cNvSpPr txBox="true"/>
          <p:nvPr/>
        </p:nvSpPr>
        <p:spPr>
          <a:xfrm rot="0">
            <a:off x="3648131" y="7538232"/>
            <a:ext cx="1423210" cy="519537"/>
          </a:xfrm>
          <a:prstGeom prst="rect">
            <a:avLst/>
          </a:prstGeom>
        </p:spPr>
        <p:txBody>
          <a:bodyPr anchor="t" rtlCol="false" tIns="0" lIns="0" bIns="0" rIns="0">
            <a:spAutoFit/>
          </a:bodyPr>
          <a:lstStyle/>
          <a:p>
            <a:pPr algn="ctr">
              <a:lnSpc>
                <a:spcPts val="2151"/>
              </a:lnSpc>
              <a:spcBef>
                <a:spcPct val="0"/>
              </a:spcBef>
            </a:pPr>
            <a:r>
              <a:rPr lang="en-US" b="true" sz="1536">
                <a:solidFill>
                  <a:srgbClr val="FFFFFF"/>
                </a:solidFill>
                <a:latin typeface="Poppins Medium"/>
                <a:ea typeface="Poppins Medium"/>
                <a:cs typeface="Poppins Medium"/>
                <a:sym typeface="Poppins Medium"/>
              </a:rPr>
              <a:t>Gestión de entregas</a:t>
            </a:r>
          </a:p>
        </p:txBody>
      </p:sp>
      <p:sp>
        <p:nvSpPr>
          <p:cNvPr name="TextBox 78" id="78"/>
          <p:cNvSpPr txBox="true"/>
          <p:nvPr/>
        </p:nvSpPr>
        <p:spPr>
          <a:xfrm rot="0">
            <a:off x="3638667" y="4998436"/>
            <a:ext cx="1423210" cy="519537"/>
          </a:xfrm>
          <a:prstGeom prst="rect">
            <a:avLst/>
          </a:prstGeom>
        </p:spPr>
        <p:txBody>
          <a:bodyPr anchor="t" rtlCol="false" tIns="0" lIns="0" bIns="0" rIns="0">
            <a:spAutoFit/>
          </a:bodyPr>
          <a:lstStyle/>
          <a:p>
            <a:pPr algn="ctr">
              <a:lnSpc>
                <a:spcPts val="2151"/>
              </a:lnSpc>
              <a:spcBef>
                <a:spcPct val="0"/>
              </a:spcBef>
            </a:pPr>
            <a:r>
              <a:rPr lang="en-US" b="true" sz="1536">
                <a:solidFill>
                  <a:srgbClr val="FFFFFF"/>
                </a:solidFill>
                <a:latin typeface="Poppins Medium"/>
                <a:ea typeface="Poppins Medium"/>
                <a:cs typeface="Poppins Medium"/>
                <a:sym typeface="Poppins Medium"/>
              </a:rPr>
              <a:t>Gestión de productos</a:t>
            </a:r>
          </a:p>
        </p:txBody>
      </p:sp>
      <p:sp>
        <p:nvSpPr>
          <p:cNvPr name="TextBox 79" id="79"/>
          <p:cNvSpPr txBox="true"/>
          <p:nvPr/>
        </p:nvSpPr>
        <p:spPr>
          <a:xfrm rot="0">
            <a:off x="3346698" y="3543582"/>
            <a:ext cx="1922500" cy="640043"/>
          </a:xfrm>
          <a:prstGeom prst="rect">
            <a:avLst/>
          </a:prstGeom>
        </p:spPr>
        <p:txBody>
          <a:bodyPr anchor="t" rtlCol="false" tIns="0" lIns="0" bIns="0" rIns="0">
            <a:spAutoFit/>
          </a:bodyPr>
          <a:lstStyle/>
          <a:p>
            <a:pPr algn="ctr">
              <a:lnSpc>
                <a:spcPts val="2522"/>
              </a:lnSpc>
              <a:spcBef>
                <a:spcPct val="0"/>
              </a:spcBef>
            </a:pPr>
            <a:r>
              <a:rPr lang="en-US" sz="1801">
                <a:solidFill>
                  <a:srgbClr val="FFFFFF"/>
                </a:solidFill>
                <a:latin typeface="Poppins"/>
                <a:ea typeface="Poppins"/>
                <a:cs typeface="Poppins"/>
                <a:sym typeface="Poppins"/>
              </a:rPr>
              <a:t>Centralizar la gestión</a:t>
            </a:r>
          </a:p>
        </p:txBody>
      </p:sp>
      <p:sp>
        <p:nvSpPr>
          <p:cNvPr name="TextBox 80" id="80"/>
          <p:cNvSpPr txBox="true"/>
          <p:nvPr/>
        </p:nvSpPr>
        <p:spPr>
          <a:xfrm rot="0">
            <a:off x="6083240" y="6235258"/>
            <a:ext cx="1323420" cy="519537"/>
          </a:xfrm>
          <a:prstGeom prst="rect">
            <a:avLst/>
          </a:prstGeom>
        </p:spPr>
        <p:txBody>
          <a:bodyPr anchor="t" rtlCol="false" tIns="0" lIns="0" bIns="0" rIns="0">
            <a:spAutoFit/>
          </a:bodyPr>
          <a:lstStyle/>
          <a:p>
            <a:pPr algn="ctr">
              <a:lnSpc>
                <a:spcPts val="2151"/>
              </a:lnSpc>
              <a:spcBef>
                <a:spcPct val="0"/>
              </a:spcBef>
            </a:pPr>
            <a:r>
              <a:rPr lang="en-US" b="true" sz="1536">
                <a:solidFill>
                  <a:srgbClr val="FFFFFF"/>
                </a:solidFill>
                <a:latin typeface="Poppins Medium"/>
                <a:ea typeface="Poppins Medium"/>
                <a:cs typeface="Poppins Medium"/>
                <a:sym typeface="Poppins Medium"/>
              </a:rPr>
              <a:t>Métricas de ventas</a:t>
            </a:r>
          </a:p>
        </p:txBody>
      </p:sp>
      <p:sp>
        <p:nvSpPr>
          <p:cNvPr name="TextBox 81" id="81"/>
          <p:cNvSpPr txBox="true"/>
          <p:nvPr/>
        </p:nvSpPr>
        <p:spPr>
          <a:xfrm rot="0">
            <a:off x="6083240" y="4991972"/>
            <a:ext cx="1323420" cy="532464"/>
          </a:xfrm>
          <a:prstGeom prst="rect">
            <a:avLst/>
          </a:prstGeom>
        </p:spPr>
        <p:txBody>
          <a:bodyPr anchor="t" rtlCol="false" tIns="0" lIns="0" bIns="0" rIns="0">
            <a:spAutoFit/>
          </a:bodyPr>
          <a:lstStyle/>
          <a:p>
            <a:pPr algn="ctr">
              <a:lnSpc>
                <a:spcPts val="2151"/>
              </a:lnSpc>
              <a:spcBef>
                <a:spcPct val="0"/>
              </a:spcBef>
            </a:pPr>
            <a:r>
              <a:rPr lang="en-US" sz="1536">
                <a:solidFill>
                  <a:srgbClr val="FFFFFF"/>
                </a:solidFill>
                <a:latin typeface="Poppins"/>
                <a:ea typeface="Poppins"/>
                <a:cs typeface="Poppins"/>
                <a:sym typeface="Poppins"/>
              </a:rPr>
              <a:t>Reportes automáticos</a:t>
            </a:r>
          </a:p>
        </p:txBody>
      </p:sp>
      <p:sp>
        <p:nvSpPr>
          <p:cNvPr name="TextBox 82" id="82"/>
          <p:cNvSpPr txBox="true"/>
          <p:nvPr/>
        </p:nvSpPr>
        <p:spPr>
          <a:xfrm rot="0">
            <a:off x="5643630" y="3560940"/>
            <a:ext cx="2091189" cy="630615"/>
          </a:xfrm>
          <a:prstGeom prst="rect">
            <a:avLst/>
          </a:prstGeom>
        </p:spPr>
        <p:txBody>
          <a:bodyPr anchor="t" rtlCol="false" tIns="0" lIns="0" bIns="0" rIns="0">
            <a:spAutoFit/>
          </a:bodyPr>
          <a:lstStyle/>
          <a:p>
            <a:pPr algn="ctr">
              <a:lnSpc>
                <a:spcPts val="2522"/>
              </a:lnSpc>
              <a:spcBef>
                <a:spcPct val="0"/>
              </a:spcBef>
            </a:pPr>
            <a:r>
              <a:rPr lang="en-US" sz="1801">
                <a:solidFill>
                  <a:srgbClr val="FFFFFF"/>
                </a:solidFill>
                <a:latin typeface="Poppins"/>
                <a:ea typeface="Poppins"/>
                <a:cs typeface="Poppins"/>
                <a:sym typeface="Poppins"/>
              </a:rPr>
              <a:t>Facilitar la toma de decisiones</a:t>
            </a:r>
          </a:p>
        </p:txBody>
      </p:sp>
      <p:sp>
        <p:nvSpPr>
          <p:cNvPr name="TextBox 83" id="83"/>
          <p:cNvSpPr txBox="true"/>
          <p:nvPr/>
        </p:nvSpPr>
        <p:spPr>
          <a:xfrm rot="0">
            <a:off x="11105011" y="6362528"/>
            <a:ext cx="1419487" cy="259301"/>
          </a:xfrm>
          <a:prstGeom prst="rect">
            <a:avLst/>
          </a:prstGeom>
        </p:spPr>
        <p:txBody>
          <a:bodyPr anchor="t" rtlCol="false" tIns="0" lIns="0" bIns="0" rIns="0">
            <a:spAutoFit/>
          </a:bodyPr>
          <a:lstStyle/>
          <a:p>
            <a:pPr algn="ctr">
              <a:lnSpc>
                <a:spcPts val="2151"/>
              </a:lnSpc>
              <a:spcBef>
                <a:spcPct val="0"/>
              </a:spcBef>
            </a:pPr>
            <a:r>
              <a:rPr lang="en-US" b="true" sz="1536">
                <a:solidFill>
                  <a:srgbClr val="FFFFFF"/>
                </a:solidFill>
                <a:latin typeface="Poppins Medium"/>
                <a:ea typeface="Poppins Medium"/>
                <a:cs typeface="Poppins Medium"/>
                <a:sym typeface="Poppins Medium"/>
              </a:rPr>
              <a:t>Seguridad</a:t>
            </a:r>
          </a:p>
        </p:txBody>
      </p:sp>
      <p:sp>
        <p:nvSpPr>
          <p:cNvPr name="TextBox 84" id="84"/>
          <p:cNvSpPr txBox="true"/>
          <p:nvPr/>
        </p:nvSpPr>
        <p:spPr>
          <a:xfrm rot="0">
            <a:off x="8522287" y="6265102"/>
            <a:ext cx="1472968" cy="519537"/>
          </a:xfrm>
          <a:prstGeom prst="rect">
            <a:avLst/>
          </a:prstGeom>
        </p:spPr>
        <p:txBody>
          <a:bodyPr anchor="t" rtlCol="false" tIns="0" lIns="0" bIns="0" rIns="0">
            <a:spAutoFit/>
          </a:bodyPr>
          <a:lstStyle/>
          <a:p>
            <a:pPr algn="ctr">
              <a:lnSpc>
                <a:spcPts val="2151"/>
              </a:lnSpc>
              <a:spcBef>
                <a:spcPct val="0"/>
              </a:spcBef>
            </a:pPr>
            <a:r>
              <a:rPr lang="en-US" b="true" sz="1536">
                <a:solidFill>
                  <a:srgbClr val="FFFFFF"/>
                </a:solidFill>
                <a:latin typeface="Poppins Medium"/>
                <a:ea typeface="Poppins Medium"/>
                <a:cs typeface="Poppins Medium"/>
                <a:sym typeface="Poppins Medium"/>
              </a:rPr>
              <a:t>Valores de la empresa</a:t>
            </a:r>
          </a:p>
        </p:txBody>
      </p:sp>
      <p:sp>
        <p:nvSpPr>
          <p:cNvPr name="TextBox 85" id="85"/>
          <p:cNvSpPr txBox="true"/>
          <p:nvPr/>
        </p:nvSpPr>
        <p:spPr>
          <a:xfrm rot="0">
            <a:off x="11105011" y="7516613"/>
            <a:ext cx="1419487" cy="519537"/>
          </a:xfrm>
          <a:prstGeom prst="rect">
            <a:avLst/>
          </a:prstGeom>
        </p:spPr>
        <p:txBody>
          <a:bodyPr anchor="t" rtlCol="false" tIns="0" lIns="0" bIns="0" rIns="0">
            <a:spAutoFit/>
          </a:bodyPr>
          <a:lstStyle/>
          <a:p>
            <a:pPr algn="ctr">
              <a:lnSpc>
                <a:spcPts val="2151"/>
              </a:lnSpc>
              <a:spcBef>
                <a:spcPct val="0"/>
              </a:spcBef>
            </a:pPr>
            <a:r>
              <a:rPr lang="en-US" b="true" sz="1536">
                <a:solidFill>
                  <a:srgbClr val="FFFFFF"/>
                </a:solidFill>
                <a:latin typeface="Poppins Medium"/>
                <a:ea typeface="Poppins Medium"/>
                <a:cs typeface="Poppins Medium"/>
                <a:sym typeface="Poppins Medium"/>
              </a:rPr>
              <a:t>Disponibilidad 24/7</a:t>
            </a:r>
          </a:p>
        </p:txBody>
      </p:sp>
      <p:sp>
        <p:nvSpPr>
          <p:cNvPr name="TextBox 86" id="86"/>
          <p:cNvSpPr txBox="true"/>
          <p:nvPr/>
        </p:nvSpPr>
        <p:spPr>
          <a:xfrm rot="0">
            <a:off x="11117805" y="4945311"/>
            <a:ext cx="1419487" cy="519537"/>
          </a:xfrm>
          <a:prstGeom prst="rect">
            <a:avLst/>
          </a:prstGeom>
        </p:spPr>
        <p:txBody>
          <a:bodyPr anchor="t" rtlCol="false" tIns="0" lIns="0" bIns="0" rIns="0">
            <a:spAutoFit/>
          </a:bodyPr>
          <a:lstStyle/>
          <a:p>
            <a:pPr algn="ctr">
              <a:lnSpc>
                <a:spcPts val="2151"/>
              </a:lnSpc>
              <a:spcBef>
                <a:spcPct val="0"/>
              </a:spcBef>
            </a:pPr>
            <a:r>
              <a:rPr lang="en-US" b="true" sz="1536">
                <a:solidFill>
                  <a:srgbClr val="FFFFFF"/>
                </a:solidFill>
                <a:latin typeface="Poppins Medium"/>
                <a:ea typeface="Poppins Medium"/>
                <a:cs typeface="Poppins Medium"/>
                <a:sym typeface="Poppins Medium"/>
              </a:rPr>
              <a:t>Navegación rápida</a:t>
            </a:r>
          </a:p>
        </p:txBody>
      </p:sp>
      <p:sp>
        <p:nvSpPr>
          <p:cNvPr name="TextBox 87" id="87"/>
          <p:cNvSpPr txBox="true"/>
          <p:nvPr/>
        </p:nvSpPr>
        <p:spPr>
          <a:xfrm rot="0">
            <a:off x="8494639" y="4991972"/>
            <a:ext cx="1472968" cy="519537"/>
          </a:xfrm>
          <a:prstGeom prst="rect">
            <a:avLst/>
          </a:prstGeom>
        </p:spPr>
        <p:txBody>
          <a:bodyPr anchor="t" rtlCol="false" tIns="0" lIns="0" bIns="0" rIns="0">
            <a:spAutoFit/>
          </a:bodyPr>
          <a:lstStyle/>
          <a:p>
            <a:pPr algn="ctr">
              <a:lnSpc>
                <a:spcPts val="2151"/>
              </a:lnSpc>
              <a:spcBef>
                <a:spcPct val="0"/>
              </a:spcBef>
            </a:pPr>
            <a:r>
              <a:rPr lang="en-US" b="true" sz="1536">
                <a:solidFill>
                  <a:srgbClr val="FFFFFF"/>
                </a:solidFill>
                <a:latin typeface="Poppins Medium"/>
                <a:ea typeface="Poppins Medium"/>
                <a:cs typeface="Poppins Medium"/>
                <a:sym typeface="Poppins Medium"/>
              </a:rPr>
              <a:t>Identidad visual</a:t>
            </a:r>
          </a:p>
        </p:txBody>
      </p:sp>
      <p:sp>
        <p:nvSpPr>
          <p:cNvPr name="TextBox 88" id="88"/>
          <p:cNvSpPr txBox="true"/>
          <p:nvPr/>
        </p:nvSpPr>
        <p:spPr>
          <a:xfrm rot="0">
            <a:off x="10488310" y="3406135"/>
            <a:ext cx="2402191" cy="940226"/>
          </a:xfrm>
          <a:prstGeom prst="rect">
            <a:avLst/>
          </a:prstGeom>
        </p:spPr>
        <p:txBody>
          <a:bodyPr anchor="t" rtlCol="false" tIns="0" lIns="0" bIns="0" rIns="0">
            <a:spAutoFit/>
          </a:bodyPr>
          <a:lstStyle/>
          <a:p>
            <a:pPr algn="ctr">
              <a:lnSpc>
                <a:spcPts val="2522"/>
              </a:lnSpc>
              <a:spcBef>
                <a:spcPct val="0"/>
              </a:spcBef>
            </a:pPr>
            <a:r>
              <a:rPr lang="en-US" sz="1801">
                <a:solidFill>
                  <a:srgbClr val="FFFFFF"/>
                </a:solidFill>
                <a:latin typeface="Poppins"/>
                <a:ea typeface="Poppins"/>
                <a:cs typeface="Poppins"/>
                <a:sym typeface="Poppins"/>
              </a:rPr>
              <a:t>Mejorar la experiencia del cliente</a:t>
            </a:r>
          </a:p>
        </p:txBody>
      </p:sp>
      <p:sp>
        <p:nvSpPr>
          <p:cNvPr name="TextBox 89" id="89"/>
          <p:cNvSpPr txBox="true"/>
          <p:nvPr/>
        </p:nvSpPr>
        <p:spPr>
          <a:xfrm rot="0">
            <a:off x="7913718" y="3548296"/>
            <a:ext cx="2492118" cy="630615"/>
          </a:xfrm>
          <a:prstGeom prst="rect">
            <a:avLst/>
          </a:prstGeom>
        </p:spPr>
        <p:txBody>
          <a:bodyPr anchor="t" rtlCol="false" tIns="0" lIns="0" bIns="0" rIns="0">
            <a:spAutoFit/>
          </a:bodyPr>
          <a:lstStyle/>
          <a:p>
            <a:pPr algn="ctr">
              <a:lnSpc>
                <a:spcPts val="2522"/>
              </a:lnSpc>
              <a:spcBef>
                <a:spcPct val="0"/>
              </a:spcBef>
            </a:pPr>
            <a:r>
              <a:rPr lang="en-US" sz="1801">
                <a:solidFill>
                  <a:srgbClr val="FFFFFF"/>
                </a:solidFill>
                <a:latin typeface="Poppins"/>
                <a:ea typeface="Poppins"/>
                <a:cs typeface="Poppins"/>
                <a:sym typeface="Poppins"/>
              </a:rPr>
              <a:t>Diseñar una interfaz personalizada</a:t>
            </a:r>
          </a:p>
        </p:txBody>
      </p:sp>
      <p:sp>
        <p:nvSpPr>
          <p:cNvPr name="TextBox 90" id="90"/>
          <p:cNvSpPr txBox="true"/>
          <p:nvPr/>
        </p:nvSpPr>
        <p:spPr>
          <a:xfrm rot="0">
            <a:off x="7238185" y="1706102"/>
            <a:ext cx="4027830" cy="773745"/>
          </a:xfrm>
          <a:prstGeom prst="rect">
            <a:avLst/>
          </a:prstGeom>
        </p:spPr>
        <p:txBody>
          <a:bodyPr anchor="t" rtlCol="false" tIns="0" lIns="0" bIns="0" rIns="0">
            <a:spAutoFit/>
          </a:bodyPr>
          <a:lstStyle/>
          <a:p>
            <a:pPr algn="ctr">
              <a:lnSpc>
                <a:spcPts val="3027"/>
              </a:lnSpc>
              <a:spcBef>
                <a:spcPct val="0"/>
              </a:spcBef>
            </a:pPr>
            <a:r>
              <a:rPr lang="en-US" sz="2162">
                <a:solidFill>
                  <a:srgbClr val="FFFFFF"/>
                </a:solidFill>
                <a:latin typeface="Poppins"/>
                <a:ea typeface="Poppins"/>
                <a:cs typeface="Poppins"/>
                <a:sym typeface="Poppins"/>
              </a:rPr>
              <a:t>Objetivos específicos de Cordillera Pets</a:t>
            </a:r>
          </a:p>
        </p:txBody>
      </p:sp>
      <p:grpSp>
        <p:nvGrpSpPr>
          <p:cNvPr name="Group 91" id="91"/>
          <p:cNvGrpSpPr/>
          <p:nvPr/>
        </p:nvGrpSpPr>
        <p:grpSpPr>
          <a:xfrm rot="0">
            <a:off x="13534745" y="6027787"/>
            <a:ext cx="1832512" cy="1006980"/>
            <a:chOff x="0" y="0"/>
            <a:chExt cx="3482917" cy="1913890"/>
          </a:xfrm>
        </p:grpSpPr>
        <p:sp>
          <p:nvSpPr>
            <p:cNvPr name="Freeform 92" id="92"/>
            <p:cNvSpPr/>
            <p:nvPr/>
          </p:nvSpPr>
          <p:spPr>
            <a:xfrm flipH="false" flipV="false" rot="0">
              <a:off x="31750" y="31750"/>
              <a:ext cx="3418175" cy="1850390"/>
            </a:xfrm>
            <a:custGeom>
              <a:avLst/>
              <a:gdLst/>
              <a:ahLst/>
              <a:cxnLst/>
              <a:rect r="r" b="b" t="t" l="l"/>
              <a:pathLst>
                <a:path h="1850390" w="3418175">
                  <a:moveTo>
                    <a:pt x="3326707" y="1850390"/>
                  </a:moveTo>
                  <a:lnTo>
                    <a:pt x="92710" y="1850390"/>
                  </a:lnTo>
                  <a:cubicBezTo>
                    <a:pt x="41910" y="1850390"/>
                    <a:pt x="0" y="1808480"/>
                    <a:pt x="0" y="1757680"/>
                  </a:cubicBezTo>
                  <a:lnTo>
                    <a:pt x="0" y="92710"/>
                  </a:lnTo>
                  <a:cubicBezTo>
                    <a:pt x="0" y="41910"/>
                    <a:pt x="41910" y="0"/>
                    <a:pt x="92710" y="0"/>
                  </a:cubicBezTo>
                  <a:lnTo>
                    <a:pt x="3325437" y="0"/>
                  </a:lnTo>
                  <a:cubicBezTo>
                    <a:pt x="3376237" y="0"/>
                    <a:pt x="3418147" y="41910"/>
                    <a:pt x="3418147" y="92710"/>
                  </a:cubicBezTo>
                  <a:lnTo>
                    <a:pt x="3418147" y="1756410"/>
                  </a:lnTo>
                  <a:cubicBezTo>
                    <a:pt x="3419417" y="1808480"/>
                    <a:pt x="3377507" y="1850390"/>
                    <a:pt x="3326707" y="1850390"/>
                  </a:cubicBezTo>
                  <a:close/>
                </a:path>
              </a:pathLst>
            </a:custGeom>
            <a:solidFill>
              <a:srgbClr val="13538A"/>
            </a:solidFill>
          </p:spPr>
        </p:sp>
        <p:sp>
          <p:nvSpPr>
            <p:cNvPr name="Freeform 93" id="93"/>
            <p:cNvSpPr/>
            <p:nvPr/>
          </p:nvSpPr>
          <p:spPr>
            <a:xfrm flipH="false" flipV="false" rot="0">
              <a:off x="0" y="0"/>
              <a:ext cx="3482917" cy="1913890"/>
            </a:xfrm>
            <a:custGeom>
              <a:avLst/>
              <a:gdLst/>
              <a:ahLst/>
              <a:cxnLst/>
              <a:rect r="r" b="b" t="t" l="l"/>
              <a:pathLst>
                <a:path h="1913890" w="3482917">
                  <a:moveTo>
                    <a:pt x="3358457" y="59690"/>
                  </a:moveTo>
                  <a:cubicBezTo>
                    <a:pt x="3394017" y="59690"/>
                    <a:pt x="3423227" y="88900"/>
                    <a:pt x="3423227" y="124460"/>
                  </a:cubicBezTo>
                  <a:lnTo>
                    <a:pt x="3423227" y="1789430"/>
                  </a:lnTo>
                  <a:cubicBezTo>
                    <a:pt x="3423227" y="1824990"/>
                    <a:pt x="3394017" y="1854200"/>
                    <a:pt x="3358457" y="1854200"/>
                  </a:cubicBezTo>
                  <a:lnTo>
                    <a:pt x="124460" y="1854200"/>
                  </a:lnTo>
                  <a:cubicBezTo>
                    <a:pt x="88900" y="1854200"/>
                    <a:pt x="59690" y="1824990"/>
                    <a:pt x="59690" y="1789430"/>
                  </a:cubicBezTo>
                  <a:lnTo>
                    <a:pt x="59690" y="124460"/>
                  </a:lnTo>
                  <a:cubicBezTo>
                    <a:pt x="59690" y="88900"/>
                    <a:pt x="88900" y="59690"/>
                    <a:pt x="124460" y="59690"/>
                  </a:cubicBezTo>
                  <a:lnTo>
                    <a:pt x="3358457" y="59690"/>
                  </a:lnTo>
                  <a:moveTo>
                    <a:pt x="3358457" y="0"/>
                  </a:moveTo>
                  <a:lnTo>
                    <a:pt x="124460" y="0"/>
                  </a:lnTo>
                  <a:cubicBezTo>
                    <a:pt x="55880" y="0"/>
                    <a:pt x="0" y="55880"/>
                    <a:pt x="0" y="124460"/>
                  </a:cubicBezTo>
                  <a:lnTo>
                    <a:pt x="0" y="1789430"/>
                  </a:lnTo>
                  <a:cubicBezTo>
                    <a:pt x="0" y="1858010"/>
                    <a:pt x="55880" y="1913890"/>
                    <a:pt x="124460" y="1913890"/>
                  </a:cubicBezTo>
                  <a:lnTo>
                    <a:pt x="3358457" y="1913890"/>
                  </a:lnTo>
                  <a:cubicBezTo>
                    <a:pt x="3427037" y="1913890"/>
                    <a:pt x="3482917" y="1858010"/>
                    <a:pt x="3482917" y="1789430"/>
                  </a:cubicBezTo>
                  <a:lnTo>
                    <a:pt x="3482917" y="124460"/>
                  </a:lnTo>
                  <a:cubicBezTo>
                    <a:pt x="3482917" y="55880"/>
                    <a:pt x="3427037" y="0"/>
                    <a:pt x="3358457" y="0"/>
                  </a:cubicBezTo>
                  <a:close/>
                </a:path>
              </a:pathLst>
            </a:custGeom>
            <a:solidFill>
              <a:srgbClr val="13538A"/>
            </a:solidFill>
          </p:spPr>
        </p:sp>
      </p:grpSp>
      <p:grpSp>
        <p:nvGrpSpPr>
          <p:cNvPr name="Group 94" id="94"/>
          <p:cNvGrpSpPr/>
          <p:nvPr/>
        </p:nvGrpSpPr>
        <p:grpSpPr>
          <a:xfrm rot="0">
            <a:off x="13534745" y="4754657"/>
            <a:ext cx="1832512" cy="1006980"/>
            <a:chOff x="0" y="0"/>
            <a:chExt cx="3482917" cy="1913890"/>
          </a:xfrm>
        </p:grpSpPr>
        <p:sp>
          <p:nvSpPr>
            <p:cNvPr name="Freeform 95" id="95"/>
            <p:cNvSpPr/>
            <p:nvPr/>
          </p:nvSpPr>
          <p:spPr>
            <a:xfrm flipH="false" flipV="false" rot="0">
              <a:off x="31750" y="31750"/>
              <a:ext cx="3418175" cy="1850390"/>
            </a:xfrm>
            <a:custGeom>
              <a:avLst/>
              <a:gdLst/>
              <a:ahLst/>
              <a:cxnLst/>
              <a:rect r="r" b="b" t="t" l="l"/>
              <a:pathLst>
                <a:path h="1850390" w="3418175">
                  <a:moveTo>
                    <a:pt x="3326707" y="1850390"/>
                  </a:moveTo>
                  <a:lnTo>
                    <a:pt x="92710" y="1850390"/>
                  </a:lnTo>
                  <a:cubicBezTo>
                    <a:pt x="41910" y="1850390"/>
                    <a:pt x="0" y="1808480"/>
                    <a:pt x="0" y="1757680"/>
                  </a:cubicBezTo>
                  <a:lnTo>
                    <a:pt x="0" y="92710"/>
                  </a:lnTo>
                  <a:cubicBezTo>
                    <a:pt x="0" y="41910"/>
                    <a:pt x="41910" y="0"/>
                    <a:pt x="92710" y="0"/>
                  </a:cubicBezTo>
                  <a:lnTo>
                    <a:pt x="3325437" y="0"/>
                  </a:lnTo>
                  <a:cubicBezTo>
                    <a:pt x="3376237" y="0"/>
                    <a:pt x="3418147" y="41910"/>
                    <a:pt x="3418147" y="92710"/>
                  </a:cubicBezTo>
                  <a:lnTo>
                    <a:pt x="3418147" y="1756410"/>
                  </a:lnTo>
                  <a:cubicBezTo>
                    <a:pt x="3419417" y="1808480"/>
                    <a:pt x="3377507" y="1850390"/>
                    <a:pt x="3326707" y="1850390"/>
                  </a:cubicBezTo>
                  <a:close/>
                </a:path>
              </a:pathLst>
            </a:custGeom>
            <a:solidFill>
              <a:srgbClr val="13538A"/>
            </a:solidFill>
          </p:spPr>
        </p:sp>
        <p:sp>
          <p:nvSpPr>
            <p:cNvPr name="Freeform 96" id="96"/>
            <p:cNvSpPr/>
            <p:nvPr/>
          </p:nvSpPr>
          <p:spPr>
            <a:xfrm flipH="false" flipV="false" rot="0">
              <a:off x="0" y="0"/>
              <a:ext cx="3482917" cy="1913890"/>
            </a:xfrm>
            <a:custGeom>
              <a:avLst/>
              <a:gdLst/>
              <a:ahLst/>
              <a:cxnLst/>
              <a:rect r="r" b="b" t="t" l="l"/>
              <a:pathLst>
                <a:path h="1913890" w="3482917">
                  <a:moveTo>
                    <a:pt x="3358457" y="59690"/>
                  </a:moveTo>
                  <a:cubicBezTo>
                    <a:pt x="3394017" y="59690"/>
                    <a:pt x="3423227" y="88900"/>
                    <a:pt x="3423227" y="124460"/>
                  </a:cubicBezTo>
                  <a:lnTo>
                    <a:pt x="3423227" y="1789430"/>
                  </a:lnTo>
                  <a:cubicBezTo>
                    <a:pt x="3423227" y="1824990"/>
                    <a:pt x="3394017" y="1854200"/>
                    <a:pt x="3358457" y="1854200"/>
                  </a:cubicBezTo>
                  <a:lnTo>
                    <a:pt x="124460" y="1854200"/>
                  </a:lnTo>
                  <a:cubicBezTo>
                    <a:pt x="88900" y="1854200"/>
                    <a:pt x="59690" y="1824990"/>
                    <a:pt x="59690" y="1789430"/>
                  </a:cubicBezTo>
                  <a:lnTo>
                    <a:pt x="59690" y="124460"/>
                  </a:lnTo>
                  <a:cubicBezTo>
                    <a:pt x="59690" y="88900"/>
                    <a:pt x="88900" y="59690"/>
                    <a:pt x="124460" y="59690"/>
                  </a:cubicBezTo>
                  <a:lnTo>
                    <a:pt x="3358457" y="59690"/>
                  </a:lnTo>
                  <a:moveTo>
                    <a:pt x="3358457" y="0"/>
                  </a:moveTo>
                  <a:lnTo>
                    <a:pt x="124460" y="0"/>
                  </a:lnTo>
                  <a:cubicBezTo>
                    <a:pt x="55880" y="0"/>
                    <a:pt x="0" y="55880"/>
                    <a:pt x="0" y="124460"/>
                  </a:cubicBezTo>
                  <a:lnTo>
                    <a:pt x="0" y="1789430"/>
                  </a:lnTo>
                  <a:cubicBezTo>
                    <a:pt x="0" y="1858010"/>
                    <a:pt x="55880" y="1913890"/>
                    <a:pt x="124460" y="1913890"/>
                  </a:cubicBezTo>
                  <a:lnTo>
                    <a:pt x="3358457" y="1913890"/>
                  </a:lnTo>
                  <a:cubicBezTo>
                    <a:pt x="3427037" y="1913890"/>
                    <a:pt x="3482917" y="1858010"/>
                    <a:pt x="3482917" y="1789430"/>
                  </a:cubicBezTo>
                  <a:lnTo>
                    <a:pt x="3482917" y="124460"/>
                  </a:lnTo>
                  <a:cubicBezTo>
                    <a:pt x="3482917" y="55880"/>
                    <a:pt x="3427037" y="0"/>
                    <a:pt x="3358457" y="0"/>
                  </a:cubicBezTo>
                  <a:close/>
                </a:path>
              </a:pathLst>
            </a:custGeom>
            <a:solidFill>
              <a:srgbClr val="13538A"/>
            </a:solidFill>
          </p:spPr>
        </p:sp>
      </p:grpSp>
      <p:grpSp>
        <p:nvGrpSpPr>
          <p:cNvPr name="Group 97" id="97"/>
          <p:cNvGrpSpPr/>
          <p:nvPr/>
        </p:nvGrpSpPr>
        <p:grpSpPr>
          <a:xfrm rot="0">
            <a:off x="13177378" y="3376045"/>
            <a:ext cx="2349259" cy="1006980"/>
            <a:chOff x="0" y="0"/>
            <a:chExt cx="4465058" cy="1913890"/>
          </a:xfrm>
        </p:grpSpPr>
        <p:sp>
          <p:nvSpPr>
            <p:cNvPr name="Freeform 98" id="98"/>
            <p:cNvSpPr/>
            <p:nvPr/>
          </p:nvSpPr>
          <p:spPr>
            <a:xfrm flipH="false" flipV="false" rot="0">
              <a:off x="31750" y="31750"/>
              <a:ext cx="4400316" cy="1850390"/>
            </a:xfrm>
            <a:custGeom>
              <a:avLst/>
              <a:gdLst/>
              <a:ahLst/>
              <a:cxnLst/>
              <a:rect r="r" b="b" t="t" l="l"/>
              <a:pathLst>
                <a:path h="1850390" w="4400316">
                  <a:moveTo>
                    <a:pt x="4308848" y="1850390"/>
                  </a:moveTo>
                  <a:lnTo>
                    <a:pt x="92710" y="1850390"/>
                  </a:lnTo>
                  <a:cubicBezTo>
                    <a:pt x="41910" y="1850390"/>
                    <a:pt x="0" y="1808480"/>
                    <a:pt x="0" y="1757680"/>
                  </a:cubicBezTo>
                  <a:lnTo>
                    <a:pt x="0" y="92710"/>
                  </a:lnTo>
                  <a:cubicBezTo>
                    <a:pt x="0" y="41910"/>
                    <a:pt x="41910" y="0"/>
                    <a:pt x="92710" y="0"/>
                  </a:cubicBezTo>
                  <a:lnTo>
                    <a:pt x="4307578" y="0"/>
                  </a:lnTo>
                  <a:cubicBezTo>
                    <a:pt x="4358378" y="0"/>
                    <a:pt x="4400288" y="41910"/>
                    <a:pt x="4400288" y="92710"/>
                  </a:cubicBezTo>
                  <a:lnTo>
                    <a:pt x="4400288" y="1756410"/>
                  </a:lnTo>
                  <a:cubicBezTo>
                    <a:pt x="4401558" y="1808480"/>
                    <a:pt x="4359648" y="1850390"/>
                    <a:pt x="4308848" y="1850390"/>
                  </a:cubicBezTo>
                  <a:close/>
                </a:path>
              </a:pathLst>
            </a:custGeom>
            <a:solidFill>
              <a:srgbClr val="257BE0"/>
            </a:solidFill>
          </p:spPr>
        </p:sp>
        <p:sp>
          <p:nvSpPr>
            <p:cNvPr name="Freeform 99" id="99"/>
            <p:cNvSpPr/>
            <p:nvPr/>
          </p:nvSpPr>
          <p:spPr>
            <a:xfrm flipH="false" flipV="false" rot="0">
              <a:off x="0" y="0"/>
              <a:ext cx="4465058" cy="1913890"/>
            </a:xfrm>
            <a:custGeom>
              <a:avLst/>
              <a:gdLst/>
              <a:ahLst/>
              <a:cxnLst/>
              <a:rect r="r" b="b" t="t" l="l"/>
              <a:pathLst>
                <a:path h="1913890" w="4465058">
                  <a:moveTo>
                    <a:pt x="4340598" y="59690"/>
                  </a:moveTo>
                  <a:cubicBezTo>
                    <a:pt x="4376158" y="59690"/>
                    <a:pt x="4405368" y="88900"/>
                    <a:pt x="4405368" y="124460"/>
                  </a:cubicBezTo>
                  <a:lnTo>
                    <a:pt x="4405368" y="1789430"/>
                  </a:lnTo>
                  <a:cubicBezTo>
                    <a:pt x="4405368" y="1824990"/>
                    <a:pt x="4376158" y="1854200"/>
                    <a:pt x="4340598" y="1854200"/>
                  </a:cubicBezTo>
                  <a:lnTo>
                    <a:pt x="124460" y="1854200"/>
                  </a:lnTo>
                  <a:cubicBezTo>
                    <a:pt x="88900" y="1854200"/>
                    <a:pt x="59690" y="1824990"/>
                    <a:pt x="59690" y="1789430"/>
                  </a:cubicBezTo>
                  <a:lnTo>
                    <a:pt x="59690" y="124460"/>
                  </a:lnTo>
                  <a:cubicBezTo>
                    <a:pt x="59690" y="88900"/>
                    <a:pt x="88900" y="59690"/>
                    <a:pt x="124460" y="59690"/>
                  </a:cubicBezTo>
                  <a:lnTo>
                    <a:pt x="4340598" y="59690"/>
                  </a:lnTo>
                  <a:moveTo>
                    <a:pt x="4340598" y="0"/>
                  </a:moveTo>
                  <a:lnTo>
                    <a:pt x="124460" y="0"/>
                  </a:lnTo>
                  <a:cubicBezTo>
                    <a:pt x="55880" y="0"/>
                    <a:pt x="0" y="55880"/>
                    <a:pt x="0" y="124460"/>
                  </a:cubicBezTo>
                  <a:lnTo>
                    <a:pt x="0" y="1789430"/>
                  </a:lnTo>
                  <a:cubicBezTo>
                    <a:pt x="0" y="1858010"/>
                    <a:pt x="55880" y="1913890"/>
                    <a:pt x="124460" y="1913890"/>
                  </a:cubicBezTo>
                  <a:lnTo>
                    <a:pt x="4340598" y="1913890"/>
                  </a:lnTo>
                  <a:cubicBezTo>
                    <a:pt x="4409178" y="1913890"/>
                    <a:pt x="4465058" y="1858010"/>
                    <a:pt x="4465058" y="1789430"/>
                  </a:cubicBezTo>
                  <a:lnTo>
                    <a:pt x="4465058" y="124460"/>
                  </a:lnTo>
                  <a:cubicBezTo>
                    <a:pt x="4465058" y="55880"/>
                    <a:pt x="4409178" y="0"/>
                    <a:pt x="4340598" y="0"/>
                  </a:cubicBezTo>
                  <a:close/>
                </a:path>
              </a:pathLst>
            </a:custGeom>
            <a:solidFill>
              <a:srgbClr val="257BE0"/>
            </a:solidFill>
          </p:spPr>
        </p:sp>
      </p:grpSp>
      <p:sp>
        <p:nvSpPr>
          <p:cNvPr name="AutoShape 100" id="100"/>
          <p:cNvSpPr/>
          <p:nvPr/>
        </p:nvSpPr>
        <p:spPr>
          <a:xfrm flipV="true">
            <a:off x="14451001" y="4361991"/>
            <a:ext cx="6397" cy="392667"/>
          </a:xfrm>
          <a:prstGeom prst="line">
            <a:avLst/>
          </a:prstGeom>
          <a:ln cap="rnd" w="19050">
            <a:solidFill>
              <a:srgbClr val="003882"/>
            </a:solidFill>
            <a:prstDash val="solid"/>
            <a:headEnd type="none" len="sm" w="sm"/>
            <a:tailEnd type="none" len="sm" w="sm"/>
          </a:ln>
        </p:spPr>
      </p:sp>
      <p:sp>
        <p:nvSpPr>
          <p:cNvPr name="AutoShape 101" id="101"/>
          <p:cNvSpPr/>
          <p:nvPr/>
        </p:nvSpPr>
        <p:spPr>
          <a:xfrm>
            <a:off x="16767926" y="5744437"/>
            <a:ext cx="0" cy="266150"/>
          </a:xfrm>
          <a:prstGeom prst="line">
            <a:avLst/>
          </a:prstGeom>
          <a:ln cap="flat" w="19050">
            <a:solidFill>
              <a:srgbClr val="003882"/>
            </a:solidFill>
            <a:prstDash val="solid"/>
            <a:headEnd type="none" len="sm" w="sm"/>
            <a:tailEnd type="none" len="sm" w="sm"/>
          </a:ln>
        </p:spPr>
      </p:sp>
      <p:sp>
        <p:nvSpPr>
          <p:cNvPr name="AutoShape 102" id="102"/>
          <p:cNvSpPr/>
          <p:nvPr/>
        </p:nvSpPr>
        <p:spPr>
          <a:xfrm>
            <a:off x="14451001" y="5761637"/>
            <a:ext cx="0" cy="248950"/>
          </a:xfrm>
          <a:prstGeom prst="line">
            <a:avLst/>
          </a:prstGeom>
          <a:ln cap="flat" w="19050">
            <a:solidFill>
              <a:srgbClr val="003882"/>
            </a:solidFill>
            <a:prstDash val="solid"/>
            <a:headEnd type="none" len="sm" w="sm"/>
            <a:tailEnd type="none" len="sm" w="sm"/>
          </a:ln>
        </p:spPr>
      </p:sp>
      <p:sp>
        <p:nvSpPr>
          <p:cNvPr name="TextBox 103" id="103"/>
          <p:cNvSpPr txBox="true"/>
          <p:nvPr/>
        </p:nvSpPr>
        <p:spPr>
          <a:xfrm rot="0">
            <a:off x="13720914" y="6235258"/>
            <a:ext cx="1472968" cy="519537"/>
          </a:xfrm>
          <a:prstGeom prst="rect">
            <a:avLst/>
          </a:prstGeom>
        </p:spPr>
        <p:txBody>
          <a:bodyPr anchor="t" rtlCol="false" tIns="0" lIns="0" bIns="0" rIns="0">
            <a:spAutoFit/>
          </a:bodyPr>
          <a:lstStyle/>
          <a:p>
            <a:pPr algn="ctr">
              <a:lnSpc>
                <a:spcPts val="2151"/>
              </a:lnSpc>
              <a:spcBef>
                <a:spcPct val="0"/>
              </a:spcBef>
            </a:pPr>
            <a:r>
              <a:rPr lang="en-US" b="true" sz="1536">
                <a:solidFill>
                  <a:srgbClr val="FFFFFF"/>
                </a:solidFill>
                <a:latin typeface="Poppins Medium"/>
                <a:ea typeface="Poppins Medium"/>
                <a:cs typeface="Poppins Medium"/>
                <a:sym typeface="Poppins Medium"/>
              </a:rPr>
              <a:t>Mantenimiento básico</a:t>
            </a:r>
          </a:p>
        </p:txBody>
      </p:sp>
      <p:sp>
        <p:nvSpPr>
          <p:cNvPr name="TextBox 104" id="104"/>
          <p:cNvSpPr txBox="true"/>
          <p:nvPr/>
        </p:nvSpPr>
        <p:spPr>
          <a:xfrm rot="0">
            <a:off x="13714517" y="4832010"/>
            <a:ext cx="1472968" cy="779774"/>
          </a:xfrm>
          <a:prstGeom prst="rect">
            <a:avLst/>
          </a:prstGeom>
        </p:spPr>
        <p:txBody>
          <a:bodyPr anchor="t" rtlCol="false" tIns="0" lIns="0" bIns="0" rIns="0">
            <a:spAutoFit/>
          </a:bodyPr>
          <a:lstStyle/>
          <a:p>
            <a:pPr algn="ctr">
              <a:lnSpc>
                <a:spcPts val="2151"/>
              </a:lnSpc>
              <a:spcBef>
                <a:spcPct val="0"/>
              </a:spcBef>
            </a:pPr>
            <a:r>
              <a:rPr lang="en-US" b="true" sz="1536">
                <a:solidFill>
                  <a:srgbClr val="FFFFFF"/>
                </a:solidFill>
                <a:latin typeface="Poppins Medium"/>
                <a:ea typeface="Poppins Medium"/>
                <a:cs typeface="Poppins Medium"/>
                <a:sym typeface="Poppins Medium"/>
              </a:rPr>
              <a:t>Uso efectivo de la plataforma</a:t>
            </a:r>
          </a:p>
        </p:txBody>
      </p:sp>
      <p:sp>
        <p:nvSpPr>
          <p:cNvPr name="TextBox 105" id="105"/>
          <p:cNvSpPr txBox="true"/>
          <p:nvPr/>
        </p:nvSpPr>
        <p:spPr>
          <a:xfrm rot="0">
            <a:off x="13164391" y="3560940"/>
            <a:ext cx="2350306" cy="630615"/>
          </a:xfrm>
          <a:prstGeom prst="rect">
            <a:avLst/>
          </a:prstGeom>
        </p:spPr>
        <p:txBody>
          <a:bodyPr anchor="t" rtlCol="false" tIns="0" lIns="0" bIns="0" rIns="0">
            <a:spAutoFit/>
          </a:bodyPr>
          <a:lstStyle/>
          <a:p>
            <a:pPr algn="ctr">
              <a:lnSpc>
                <a:spcPts val="2522"/>
              </a:lnSpc>
              <a:spcBef>
                <a:spcPct val="0"/>
              </a:spcBef>
            </a:pPr>
            <a:r>
              <a:rPr lang="en-US" sz="1801">
                <a:solidFill>
                  <a:srgbClr val="FFFFFF"/>
                </a:solidFill>
                <a:latin typeface="Poppins"/>
                <a:ea typeface="Poppins"/>
                <a:cs typeface="Poppins"/>
                <a:sym typeface="Poppins"/>
              </a:rPr>
              <a:t>Capacitar al equipo de ventas</a:t>
            </a:r>
          </a:p>
        </p:txBody>
      </p:sp>
      <p:grpSp>
        <p:nvGrpSpPr>
          <p:cNvPr name="Group 106" id="106"/>
          <p:cNvGrpSpPr/>
          <p:nvPr/>
        </p:nvGrpSpPr>
        <p:grpSpPr>
          <a:xfrm rot="0">
            <a:off x="15971012" y="6010587"/>
            <a:ext cx="1593827" cy="1006980"/>
            <a:chOff x="0" y="0"/>
            <a:chExt cx="3029267" cy="1913890"/>
          </a:xfrm>
        </p:grpSpPr>
        <p:sp>
          <p:nvSpPr>
            <p:cNvPr name="Freeform 107" id="107"/>
            <p:cNvSpPr/>
            <p:nvPr/>
          </p:nvSpPr>
          <p:spPr>
            <a:xfrm flipH="false" flipV="false" rot="0">
              <a:off x="31750" y="31750"/>
              <a:ext cx="2964525" cy="1850390"/>
            </a:xfrm>
            <a:custGeom>
              <a:avLst/>
              <a:gdLst/>
              <a:ahLst/>
              <a:cxnLst/>
              <a:rect r="r" b="b" t="t" l="l"/>
              <a:pathLst>
                <a:path h="1850390" w="2964525">
                  <a:moveTo>
                    <a:pt x="2873057" y="1850390"/>
                  </a:moveTo>
                  <a:lnTo>
                    <a:pt x="92710" y="1850390"/>
                  </a:lnTo>
                  <a:cubicBezTo>
                    <a:pt x="41910" y="1850390"/>
                    <a:pt x="0" y="1808480"/>
                    <a:pt x="0" y="1757680"/>
                  </a:cubicBezTo>
                  <a:lnTo>
                    <a:pt x="0" y="92710"/>
                  </a:lnTo>
                  <a:cubicBezTo>
                    <a:pt x="0" y="41910"/>
                    <a:pt x="41910" y="0"/>
                    <a:pt x="92710" y="0"/>
                  </a:cubicBezTo>
                  <a:lnTo>
                    <a:pt x="2871787" y="0"/>
                  </a:lnTo>
                  <a:cubicBezTo>
                    <a:pt x="2922587" y="0"/>
                    <a:pt x="2964497" y="41910"/>
                    <a:pt x="2964497" y="92710"/>
                  </a:cubicBezTo>
                  <a:lnTo>
                    <a:pt x="2964497" y="1756410"/>
                  </a:lnTo>
                  <a:cubicBezTo>
                    <a:pt x="2965767" y="1808480"/>
                    <a:pt x="2923857" y="1850390"/>
                    <a:pt x="2873057" y="1850390"/>
                  </a:cubicBezTo>
                  <a:close/>
                </a:path>
              </a:pathLst>
            </a:custGeom>
            <a:solidFill>
              <a:srgbClr val="13538A"/>
            </a:solidFill>
          </p:spPr>
        </p:sp>
        <p:sp>
          <p:nvSpPr>
            <p:cNvPr name="Freeform 108" id="108"/>
            <p:cNvSpPr/>
            <p:nvPr/>
          </p:nvSpPr>
          <p:spPr>
            <a:xfrm flipH="false" flipV="false" rot="0">
              <a:off x="0" y="0"/>
              <a:ext cx="3029267" cy="1913890"/>
            </a:xfrm>
            <a:custGeom>
              <a:avLst/>
              <a:gdLst/>
              <a:ahLst/>
              <a:cxnLst/>
              <a:rect r="r" b="b" t="t" l="l"/>
              <a:pathLst>
                <a:path h="1913890" w="3029267">
                  <a:moveTo>
                    <a:pt x="2904807" y="59690"/>
                  </a:moveTo>
                  <a:cubicBezTo>
                    <a:pt x="2940367" y="59690"/>
                    <a:pt x="2969577" y="88900"/>
                    <a:pt x="2969577" y="124460"/>
                  </a:cubicBezTo>
                  <a:lnTo>
                    <a:pt x="2969577" y="1789430"/>
                  </a:lnTo>
                  <a:cubicBezTo>
                    <a:pt x="2969577" y="1824990"/>
                    <a:pt x="2940367" y="1854200"/>
                    <a:pt x="2904807" y="1854200"/>
                  </a:cubicBezTo>
                  <a:lnTo>
                    <a:pt x="124460" y="1854200"/>
                  </a:lnTo>
                  <a:cubicBezTo>
                    <a:pt x="88900" y="1854200"/>
                    <a:pt x="59690" y="1824990"/>
                    <a:pt x="59690" y="1789430"/>
                  </a:cubicBezTo>
                  <a:lnTo>
                    <a:pt x="59690" y="124460"/>
                  </a:lnTo>
                  <a:cubicBezTo>
                    <a:pt x="59690" y="88900"/>
                    <a:pt x="88900" y="59690"/>
                    <a:pt x="124460" y="59690"/>
                  </a:cubicBezTo>
                  <a:lnTo>
                    <a:pt x="2904807" y="59690"/>
                  </a:lnTo>
                  <a:moveTo>
                    <a:pt x="2904807" y="0"/>
                  </a:moveTo>
                  <a:lnTo>
                    <a:pt x="124460" y="0"/>
                  </a:lnTo>
                  <a:cubicBezTo>
                    <a:pt x="55880" y="0"/>
                    <a:pt x="0" y="55880"/>
                    <a:pt x="0" y="124460"/>
                  </a:cubicBezTo>
                  <a:lnTo>
                    <a:pt x="0" y="1789430"/>
                  </a:lnTo>
                  <a:cubicBezTo>
                    <a:pt x="0" y="1858010"/>
                    <a:pt x="55880" y="1913890"/>
                    <a:pt x="124460" y="1913890"/>
                  </a:cubicBezTo>
                  <a:lnTo>
                    <a:pt x="2904807" y="1913890"/>
                  </a:lnTo>
                  <a:cubicBezTo>
                    <a:pt x="2973387" y="1913890"/>
                    <a:pt x="3029267" y="1858010"/>
                    <a:pt x="3029267" y="1789430"/>
                  </a:cubicBezTo>
                  <a:lnTo>
                    <a:pt x="3029267" y="124460"/>
                  </a:lnTo>
                  <a:cubicBezTo>
                    <a:pt x="3029267" y="55880"/>
                    <a:pt x="2973387" y="0"/>
                    <a:pt x="2904807" y="0"/>
                  </a:cubicBezTo>
                  <a:close/>
                </a:path>
              </a:pathLst>
            </a:custGeom>
            <a:solidFill>
              <a:srgbClr val="13538A"/>
            </a:solidFill>
          </p:spPr>
        </p:sp>
      </p:grpSp>
      <p:grpSp>
        <p:nvGrpSpPr>
          <p:cNvPr name="Group 109" id="109"/>
          <p:cNvGrpSpPr/>
          <p:nvPr/>
        </p:nvGrpSpPr>
        <p:grpSpPr>
          <a:xfrm rot="0">
            <a:off x="15971012" y="4737457"/>
            <a:ext cx="1593827" cy="1006980"/>
            <a:chOff x="0" y="0"/>
            <a:chExt cx="3029267" cy="1913890"/>
          </a:xfrm>
        </p:grpSpPr>
        <p:sp>
          <p:nvSpPr>
            <p:cNvPr name="Freeform 110" id="110"/>
            <p:cNvSpPr/>
            <p:nvPr/>
          </p:nvSpPr>
          <p:spPr>
            <a:xfrm flipH="false" flipV="false" rot="0">
              <a:off x="31750" y="31750"/>
              <a:ext cx="2964525" cy="1850390"/>
            </a:xfrm>
            <a:custGeom>
              <a:avLst/>
              <a:gdLst/>
              <a:ahLst/>
              <a:cxnLst/>
              <a:rect r="r" b="b" t="t" l="l"/>
              <a:pathLst>
                <a:path h="1850390" w="2964525">
                  <a:moveTo>
                    <a:pt x="2873057" y="1850390"/>
                  </a:moveTo>
                  <a:lnTo>
                    <a:pt x="92710" y="1850390"/>
                  </a:lnTo>
                  <a:cubicBezTo>
                    <a:pt x="41910" y="1850390"/>
                    <a:pt x="0" y="1808480"/>
                    <a:pt x="0" y="1757680"/>
                  </a:cubicBezTo>
                  <a:lnTo>
                    <a:pt x="0" y="92710"/>
                  </a:lnTo>
                  <a:cubicBezTo>
                    <a:pt x="0" y="41910"/>
                    <a:pt x="41910" y="0"/>
                    <a:pt x="92710" y="0"/>
                  </a:cubicBezTo>
                  <a:lnTo>
                    <a:pt x="2871787" y="0"/>
                  </a:lnTo>
                  <a:cubicBezTo>
                    <a:pt x="2922587" y="0"/>
                    <a:pt x="2964497" y="41910"/>
                    <a:pt x="2964497" y="92710"/>
                  </a:cubicBezTo>
                  <a:lnTo>
                    <a:pt x="2964497" y="1756410"/>
                  </a:lnTo>
                  <a:cubicBezTo>
                    <a:pt x="2965767" y="1808480"/>
                    <a:pt x="2923857" y="1850390"/>
                    <a:pt x="2873057" y="1850390"/>
                  </a:cubicBezTo>
                  <a:close/>
                </a:path>
              </a:pathLst>
            </a:custGeom>
            <a:solidFill>
              <a:srgbClr val="13538A"/>
            </a:solidFill>
          </p:spPr>
        </p:sp>
        <p:sp>
          <p:nvSpPr>
            <p:cNvPr name="Freeform 111" id="111"/>
            <p:cNvSpPr/>
            <p:nvPr/>
          </p:nvSpPr>
          <p:spPr>
            <a:xfrm flipH="false" flipV="false" rot="0">
              <a:off x="0" y="0"/>
              <a:ext cx="3029267" cy="1913890"/>
            </a:xfrm>
            <a:custGeom>
              <a:avLst/>
              <a:gdLst/>
              <a:ahLst/>
              <a:cxnLst/>
              <a:rect r="r" b="b" t="t" l="l"/>
              <a:pathLst>
                <a:path h="1913890" w="3029267">
                  <a:moveTo>
                    <a:pt x="2904807" y="59690"/>
                  </a:moveTo>
                  <a:cubicBezTo>
                    <a:pt x="2940367" y="59690"/>
                    <a:pt x="2969577" y="88900"/>
                    <a:pt x="2969577" y="124460"/>
                  </a:cubicBezTo>
                  <a:lnTo>
                    <a:pt x="2969577" y="1789430"/>
                  </a:lnTo>
                  <a:cubicBezTo>
                    <a:pt x="2969577" y="1824990"/>
                    <a:pt x="2940367" y="1854200"/>
                    <a:pt x="2904807" y="1854200"/>
                  </a:cubicBezTo>
                  <a:lnTo>
                    <a:pt x="124460" y="1854200"/>
                  </a:lnTo>
                  <a:cubicBezTo>
                    <a:pt x="88900" y="1854200"/>
                    <a:pt x="59690" y="1824990"/>
                    <a:pt x="59690" y="1789430"/>
                  </a:cubicBezTo>
                  <a:lnTo>
                    <a:pt x="59690" y="124460"/>
                  </a:lnTo>
                  <a:cubicBezTo>
                    <a:pt x="59690" y="88900"/>
                    <a:pt x="88900" y="59690"/>
                    <a:pt x="124460" y="59690"/>
                  </a:cubicBezTo>
                  <a:lnTo>
                    <a:pt x="2904807" y="59690"/>
                  </a:lnTo>
                  <a:moveTo>
                    <a:pt x="2904807" y="0"/>
                  </a:moveTo>
                  <a:lnTo>
                    <a:pt x="124460" y="0"/>
                  </a:lnTo>
                  <a:cubicBezTo>
                    <a:pt x="55880" y="0"/>
                    <a:pt x="0" y="55880"/>
                    <a:pt x="0" y="124460"/>
                  </a:cubicBezTo>
                  <a:lnTo>
                    <a:pt x="0" y="1789430"/>
                  </a:lnTo>
                  <a:cubicBezTo>
                    <a:pt x="0" y="1858010"/>
                    <a:pt x="55880" y="1913890"/>
                    <a:pt x="124460" y="1913890"/>
                  </a:cubicBezTo>
                  <a:lnTo>
                    <a:pt x="2904807" y="1913890"/>
                  </a:lnTo>
                  <a:cubicBezTo>
                    <a:pt x="2973387" y="1913890"/>
                    <a:pt x="3029267" y="1858010"/>
                    <a:pt x="3029267" y="1789430"/>
                  </a:cubicBezTo>
                  <a:lnTo>
                    <a:pt x="3029267" y="124460"/>
                  </a:lnTo>
                  <a:cubicBezTo>
                    <a:pt x="3029267" y="55880"/>
                    <a:pt x="2973387" y="0"/>
                    <a:pt x="2904807" y="0"/>
                  </a:cubicBezTo>
                  <a:close/>
                </a:path>
              </a:pathLst>
            </a:custGeom>
            <a:solidFill>
              <a:srgbClr val="13538A"/>
            </a:solidFill>
          </p:spPr>
        </p:sp>
      </p:grpSp>
      <p:grpSp>
        <p:nvGrpSpPr>
          <p:cNvPr name="Group 112" id="112"/>
          <p:cNvGrpSpPr/>
          <p:nvPr/>
        </p:nvGrpSpPr>
        <p:grpSpPr>
          <a:xfrm rot="0">
            <a:off x="15660192" y="3358845"/>
            <a:ext cx="2043268" cy="1006980"/>
            <a:chOff x="0" y="0"/>
            <a:chExt cx="3883484" cy="1913890"/>
          </a:xfrm>
        </p:grpSpPr>
        <p:sp>
          <p:nvSpPr>
            <p:cNvPr name="Freeform 113" id="113"/>
            <p:cNvSpPr/>
            <p:nvPr/>
          </p:nvSpPr>
          <p:spPr>
            <a:xfrm flipH="false" flipV="false" rot="0">
              <a:off x="31750" y="31750"/>
              <a:ext cx="3818742" cy="1850390"/>
            </a:xfrm>
            <a:custGeom>
              <a:avLst/>
              <a:gdLst/>
              <a:ahLst/>
              <a:cxnLst/>
              <a:rect r="r" b="b" t="t" l="l"/>
              <a:pathLst>
                <a:path h="1850390" w="3818742">
                  <a:moveTo>
                    <a:pt x="3727274" y="1850390"/>
                  </a:moveTo>
                  <a:lnTo>
                    <a:pt x="92710" y="1850390"/>
                  </a:lnTo>
                  <a:cubicBezTo>
                    <a:pt x="41910" y="1850390"/>
                    <a:pt x="0" y="1808480"/>
                    <a:pt x="0" y="1757680"/>
                  </a:cubicBezTo>
                  <a:lnTo>
                    <a:pt x="0" y="92710"/>
                  </a:lnTo>
                  <a:cubicBezTo>
                    <a:pt x="0" y="41910"/>
                    <a:pt x="41910" y="0"/>
                    <a:pt x="92710" y="0"/>
                  </a:cubicBezTo>
                  <a:lnTo>
                    <a:pt x="3726004" y="0"/>
                  </a:lnTo>
                  <a:cubicBezTo>
                    <a:pt x="3776804" y="0"/>
                    <a:pt x="3818714" y="41910"/>
                    <a:pt x="3818714" y="92710"/>
                  </a:cubicBezTo>
                  <a:lnTo>
                    <a:pt x="3818714" y="1756410"/>
                  </a:lnTo>
                  <a:cubicBezTo>
                    <a:pt x="3819984" y="1808480"/>
                    <a:pt x="3778074" y="1850390"/>
                    <a:pt x="3727274" y="1850390"/>
                  </a:cubicBezTo>
                  <a:close/>
                </a:path>
              </a:pathLst>
            </a:custGeom>
            <a:solidFill>
              <a:srgbClr val="257BE0"/>
            </a:solidFill>
          </p:spPr>
        </p:sp>
        <p:sp>
          <p:nvSpPr>
            <p:cNvPr name="Freeform 114" id="114"/>
            <p:cNvSpPr/>
            <p:nvPr/>
          </p:nvSpPr>
          <p:spPr>
            <a:xfrm flipH="false" flipV="false" rot="0">
              <a:off x="0" y="0"/>
              <a:ext cx="3883484" cy="1913890"/>
            </a:xfrm>
            <a:custGeom>
              <a:avLst/>
              <a:gdLst/>
              <a:ahLst/>
              <a:cxnLst/>
              <a:rect r="r" b="b" t="t" l="l"/>
              <a:pathLst>
                <a:path h="1913890" w="3883484">
                  <a:moveTo>
                    <a:pt x="3759024" y="59690"/>
                  </a:moveTo>
                  <a:cubicBezTo>
                    <a:pt x="3794584" y="59690"/>
                    <a:pt x="3823794" y="88900"/>
                    <a:pt x="3823794" y="124460"/>
                  </a:cubicBezTo>
                  <a:lnTo>
                    <a:pt x="3823794" y="1789430"/>
                  </a:lnTo>
                  <a:cubicBezTo>
                    <a:pt x="3823794" y="1824990"/>
                    <a:pt x="3794584" y="1854200"/>
                    <a:pt x="3759024" y="1854200"/>
                  </a:cubicBezTo>
                  <a:lnTo>
                    <a:pt x="124460" y="1854200"/>
                  </a:lnTo>
                  <a:cubicBezTo>
                    <a:pt x="88900" y="1854200"/>
                    <a:pt x="59690" y="1824990"/>
                    <a:pt x="59690" y="1789430"/>
                  </a:cubicBezTo>
                  <a:lnTo>
                    <a:pt x="59690" y="124460"/>
                  </a:lnTo>
                  <a:cubicBezTo>
                    <a:pt x="59690" y="88900"/>
                    <a:pt x="88900" y="59690"/>
                    <a:pt x="124460" y="59690"/>
                  </a:cubicBezTo>
                  <a:lnTo>
                    <a:pt x="3759024" y="59690"/>
                  </a:lnTo>
                  <a:moveTo>
                    <a:pt x="3759024" y="0"/>
                  </a:moveTo>
                  <a:lnTo>
                    <a:pt x="124460" y="0"/>
                  </a:lnTo>
                  <a:cubicBezTo>
                    <a:pt x="55880" y="0"/>
                    <a:pt x="0" y="55880"/>
                    <a:pt x="0" y="124460"/>
                  </a:cubicBezTo>
                  <a:lnTo>
                    <a:pt x="0" y="1789430"/>
                  </a:lnTo>
                  <a:cubicBezTo>
                    <a:pt x="0" y="1858010"/>
                    <a:pt x="55880" y="1913890"/>
                    <a:pt x="124460" y="1913890"/>
                  </a:cubicBezTo>
                  <a:lnTo>
                    <a:pt x="3759024" y="1913890"/>
                  </a:lnTo>
                  <a:cubicBezTo>
                    <a:pt x="3827604" y="1913890"/>
                    <a:pt x="3883484" y="1858010"/>
                    <a:pt x="3883484" y="1789430"/>
                  </a:cubicBezTo>
                  <a:lnTo>
                    <a:pt x="3883484" y="124460"/>
                  </a:lnTo>
                  <a:cubicBezTo>
                    <a:pt x="3883484" y="55880"/>
                    <a:pt x="3827604" y="0"/>
                    <a:pt x="3759024" y="0"/>
                  </a:cubicBezTo>
                  <a:close/>
                </a:path>
              </a:pathLst>
            </a:custGeom>
            <a:solidFill>
              <a:srgbClr val="257BE0"/>
            </a:solidFill>
          </p:spPr>
        </p:sp>
      </p:grpSp>
      <p:sp>
        <p:nvSpPr>
          <p:cNvPr name="TextBox 115" id="115"/>
          <p:cNvSpPr txBox="true"/>
          <p:nvPr/>
        </p:nvSpPr>
        <p:spPr>
          <a:xfrm rot="0">
            <a:off x="16127369" y="6235258"/>
            <a:ext cx="1281114" cy="519537"/>
          </a:xfrm>
          <a:prstGeom prst="rect">
            <a:avLst/>
          </a:prstGeom>
        </p:spPr>
        <p:txBody>
          <a:bodyPr anchor="t" rtlCol="false" tIns="0" lIns="0" bIns="0" rIns="0">
            <a:spAutoFit/>
          </a:bodyPr>
          <a:lstStyle/>
          <a:p>
            <a:pPr algn="ctr">
              <a:lnSpc>
                <a:spcPts val="2151"/>
              </a:lnSpc>
              <a:spcBef>
                <a:spcPct val="0"/>
              </a:spcBef>
            </a:pPr>
            <a:r>
              <a:rPr lang="en-US" b="true" sz="1536">
                <a:solidFill>
                  <a:srgbClr val="FFFFFF"/>
                </a:solidFill>
                <a:latin typeface="Poppins Medium"/>
                <a:ea typeface="Poppins Medium"/>
                <a:cs typeface="Poppins Medium"/>
                <a:sym typeface="Poppins Medium"/>
              </a:rPr>
              <a:t>Gestión de sucursales</a:t>
            </a:r>
          </a:p>
        </p:txBody>
      </p:sp>
      <p:sp>
        <p:nvSpPr>
          <p:cNvPr name="TextBox 116" id="116"/>
          <p:cNvSpPr txBox="true"/>
          <p:nvPr/>
        </p:nvSpPr>
        <p:spPr>
          <a:xfrm rot="0">
            <a:off x="16127369" y="4962128"/>
            <a:ext cx="1281114" cy="519537"/>
          </a:xfrm>
          <a:prstGeom prst="rect">
            <a:avLst/>
          </a:prstGeom>
        </p:spPr>
        <p:txBody>
          <a:bodyPr anchor="t" rtlCol="false" tIns="0" lIns="0" bIns="0" rIns="0">
            <a:spAutoFit/>
          </a:bodyPr>
          <a:lstStyle/>
          <a:p>
            <a:pPr algn="ctr">
              <a:lnSpc>
                <a:spcPts val="2151"/>
              </a:lnSpc>
              <a:spcBef>
                <a:spcPct val="0"/>
              </a:spcBef>
            </a:pPr>
            <a:r>
              <a:rPr lang="en-US" b="true" sz="1536">
                <a:solidFill>
                  <a:srgbClr val="FFFFFF"/>
                </a:solidFill>
                <a:latin typeface="Poppins Medium"/>
                <a:ea typeface="Poppins Medium"/>
                <a:cs typeface="Poppins Medium"/>
                <a:sym typeface="Poppins Medium"/>
              </a:rPr>
              <a:t>Nuevos módulos</a:t>
            </a:r>
          </a:p>
        </p:txBody>
      </p:sp>
      <p:sp>
        <p:nvSpPr>
          <p:cNvPr name="TextBox 117" id="117"/>
          <p:cNvSpPr txBox="true"/>
          <p:nvPr/>
        </p:nvSpPr>
        <p:spPr>
          <a:xfrm rot="0">
            <a:off x="15598066" y="3560940"/>
            <a:ext cx="2238949" cy="630615"/>
          </a:xfrm>
          <a:prstGeom prst="rect">
            <a:avLst/>
          </a:prstGeom>
        </p:spPr>
        <p:txBody>
          <a:bodyPr anchor="t" rtlCol="false" tIns="0" lIns="0" bIns="0" rIns="0">
            <a:spAutoFit/>
          </a:bodyPr>
          <a:lstStyle/>
          <a:p>
            <a:pPr algn="ctr">
              <a:lnSpc>
                <a:spcPts val="2522"/>
              </a:lnSpc>
              <a:spcBef>
                <a:spcPct val="0"/>
              </a:spcBef>
            </a:pPr>
            <a:r>
              <a:rPr lang="en-US" sz="1801">
                <a:solidFill>
                  <a:srgbClr val="FFFFFF"/>
                </a:solidFill>
                <a:latin typeface="Poppins"/>
                <a:ea typeface="Poppins"/>
                <a:cs typeface="Poppins"/>
                <a:sym typeface="Poppins"/>
              </a:rPr>
              <a:t>Asegurar la escabilidad</a:t>
            </a:r>
          </a:p>
        </p:txBody>
      </p:sp>
      <p:sp>
        <p:nvSpPr>
          <p:cNvPr name="AutoShape 118" id="118"/>
          <p:cNvSpPr/>
          <p:nvPr/>
        </p:nvSpPr>
        <p:spPr>
          <a:xfrm flipV="true">
            <a:off x="16767926" y="4352239"/>
            <a:ext cx="1347" cy="385218"/>
          </a:xfrm>
          <a:prstGeom prst="line">
            <a:avLst/>
          </a:prstGeom>
          <a:ln cap="rnd" w="19050">
            <a:solidFill>
              <a:srgbClr val="003882"/>
            </a:solidFill>
            <a:prstDash val="solid"/>
            <a:headEnd type="none" len="sm" w="sm"/>
            <a:tailEnd type="none" len="sm" w="sm"/>
          </a:ln>
        </p:spPr>
      </p:sp>
      <p:sp>
        <p:nvSpPr>
          <p:cNvPr name="AutoShape 119" id="119"/>
          <p:cNvSpPr/>
          <p:nvPr/>
        </p:nvSpPr>
        <p:spPr>
          <a:xfrm flipV="true">
            <a:off x="14457121" y="3040360"/>
            <a:ext cx="0" cy="382217"/>
          </a:xfrm>
          <a:prstGeom prst="line">
            <a:avLst/>
          </a:prstGeom>
          <a:ln cap="flat" w="19050">
            <a:solidFill>
              <a:srgbClr val="003882"/>
            </a:solidFill>
            <a:prstDash val="solid"/>
            <a:headEnd type="none" len="sm" w="sm"/>
            <a:tailEnd type="none" len="sm" w="sm"/>
          </a:ln>
        </p:spPr>
      </p:sp>
      <p:sp>
        <p:nvSpPr>
          <p:cNvPr name="AutoShape 120" id="120"/>
          <p:cNvSpPr/>
          <p:nvPr/>
        </p:nvSpPr>
        <p:spPr>
          <a:xfrm flipV="true">
            <a:off x="6725333" y="3040360"/>
            <a:ext cx="41" cy="408018"/>
          </a:xfrm>
          <a:prstGeom prst="line">
            <a:avLst/>
          </a:prstGeom>
          <a:ln cap="flat" w="19050">
            <a:solidFill>
              <a:srgbClr val="003882"/>
            </a:solidFill>
            <a:prstDash val="solid"/>
            <a:headEnd type="none" len="sm" w="sm"/>
            <a:tailEnd type="none" len="sm" w="sm"/>
          </a:ln>
        </p:spPr>
      </p:sp>
      <p:sp>
        <p:nvSpPr>
          <p:cNvPr name="AutoShape 121" id="121"/>
          <p:cNvSpPr/>
          <p:nvPr/>
        </p:nvSpPr>
        <p:spPr>
          <a:xfrm flipV="true">
            <a:off x="9239723" y="2658143"/>
            <a:ext cx="0" cy="382217"/>
          </a:xfrm>
          <a:prstGeom prst="line">
            <a:avLst/>
          </a:prstGeom>
          <a:ln cap="flat" w="19050">
            <a:solidFill>
              <a:srgbClr val="003882"/>
            </a:solidFill>
            <a:prstDash val="solid"/>
            <a:headEnd type="none" len="sm" w="sm"/>
            <a:tailEnd type="none" len="sm" w="sm"/>
          </a:ln>
        </p:spPr>
      </p:sp>
      <p:sp>
        <p:nvSpPr>
          <p:cNvPr name="AutoShape 122" id="122"/>
          <p:cNvSpPr/>
          <p:nvPr/>
        </p:nvSpPr>
        <p:spPr>
          <a:xfrm flipV="true">
            <a:off x="16759196" y="3019116"/>
            <a:ext cx="0" cy="382217"/>
          </a:xfrm>
          <a:prstGeom prst="line">
            <a:avLst/>
          </a:prstGeom>
          <a:ln cap="flat" w="19050">
            <a:solidFill>
              <a:srgbClr val="003882"/>
            </a:solidFill>
            <a:prstDash val="solid"/>
            <a:headEnd type="none" len="sm" w="sm"/>
            <a:tailEnd type="none" len="sm" w="sm"/>
          </a:ln>
        </p:spPr>
      </p:sp>
      <p:sp>
        <p:nvSpPr>
          <p:cNvPr name="AutoShape 123" id="123"/>
          <p:cNvSpPr/>
          <p:nvPr/>
        </p:nvSpPr>
        <p:spPr>
          <a:xfrm flipH="true" flipV="true">
            <a:off x="4350272" y="5780744"/>
            <a:ext cx="0" cy="290807"/>
          </a:xfrm>
          <a:prstGeom prst="line">
            <a:avLst/>
          </a:prstGeom>
          <a:ln cap="rnd" w="19050">
            <a:solidFill>
              <a:srgbClr val="003882"/>
            </a:solidFill>
            <a:prstDash val="solid"/>
            <a:headEnd type="none" len="sm" w="sm"/>
            <a:tailEnd type="none" len="sm" w="sm"/>
          </a:ln>
        </p:spPr>
      </p:sp>
      <p:sp>
        <p:nvSpPr>
          <p:cNvPr name="AutoShape 124" id="124"/>
          <p:cNvSpPr/>
          <p:nvPr/>
        </p:nvSpPr>
        <p:spPr>
          <a:xfrm flipV="true">
            <a:off x="4350272" y="7047960"/>
            <a:ext cx="0" cy="266700"/>
          </a:xfrm>
          <a:prstGeom prst="line">
            <a:avLst/>
          </a:prstGeom>
          <a:ln cap="rnd" w="19050">
            <a:solidFill>
              <a:srgbClr val="003882"/>
            </a:solidFill>
            <a:prstDash val="solid"/>
            <a:headEnd type="none" len="sm" w="sm"/>
            <a:tailEnd type="none" len="sm" w="sm"/>
          </a:ln>
        </p:spPr>
      </p:sp>
      <p:sp>
        <p:nvSpPr>
          <p:cNvPr name="AutoShape 125" id="125"/>
          <p:cNvSpPr/>
          <p:nvPr/>
        </p:nvSpPr>
        <p:spPr>
          <a:xfrm flipV="true">
            <a:off x="9231123" y="5774281"/>
            <a:ext cx="0" cy="236306"/>
          </a:xfrm>
          <a:prstGeom prst="line">
            <a:avLst/>
          </a:prstGeom>
          <a:ln cap="rnd" w="19050">
            <a:solidFill>
              <a:srgbClr val="003882"/>
            </a:solidFill>
            <a:prstDash val="solid"/>
            <a:headEnd type="none" len="sm" w="sm"/>
            <a:tailEnd type="none" len="sm" w="sm"/>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0423227" y="-353728"/>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sp>
        <p:nvSpPr>
          <p:cNvPr name="Freeform 3" id="3"/>
          <p:cNvSpPr/>
          <p:nvPr/>
        </p:nvSpPr>
        <p:spPr>
          <a:xfrm flipH="false" flipV="false" rot="0">
            <a:off x="-2548061" y="1494104"/>
            <a:ext cx="10429472" cy="9451709"/>
          </a:xfrm>
          <a:custGeom>
            <a:avLst/>
            <a:gdLst/>
            <a:ahLst/>
            <a:cxnLst/>
            <a:rect r="r" b="b" t="t" l="l"/>
            <a:pathLst>
              <a:path h="9451709" w="10429472">
                <a:moveTo>
                  <a:pt x="0" y="0"/>
                </a:moveTo>
                <a:lnTo>
                  <a:pt x="10429473" y="0"/>
                </a:lnTo>
                <a:lnTo>
                  <a:pt x="10429473" y="9451709"/>
                </a:lnTo>
                <a:lnTo>
                  <a:pt x="0" y="9451709"/>
                </a:lnTo>
                <a:lnTo>
                  <a:pt x="0" y="0"/>
                </a:lnTo>
                <a:close/>
              </a:path>
            </a:pathLst>
          </a:custGeom>
          <a:blipFill>
            <a:blip r:embed="rId3"/>
            <a:stretch>
              <a:fillRect l="0" t="0" r="0" b="0"/>
            </a:stretch>
          </a:blipFill>
        </p:spPr>
      </p:sp>
      <p:sp>
        <p:nvSpPr>
          <p:cNvPr name="Freeform 4" id="4"/>
          <p:cNvSpPr/>
          <p:nvPr/>
        </p:nvSpPr>
        <p:spPr>
          <a:xfrm flipH="false" flipV="false" rot="0">
            <a:off x="15666340" y="-26123"/>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grpSp>
        <p:nvGrpSpPr>
          <p:cNvPr name="Group 5" id="5"/>
          <p:cNvGrpSpPr/>
          <p:nvPr/>
        </p:nvGrpSpPr>
        <p:grpSpPr>
          <a:xfrm rot="0">
            <a:off x="1527867" y="3171911"/>
            <a:ext cx="7023751" cy="6527612"/>
            <a:chOff x="0" y="0"/>
            <a:chExt cx="8548308" cy="7944479"/>
          </a:xfrm>
        </p:grpSpPr>
        <p:sp>
          <p:nvSpPr>
            <p:cNvPr name="Freeform 6" id="6"/>
            <p:cNvSpPr/>
            <p:nvPr/>
          </p:nvSpPr>
          <p:spPr>
            <a:xfrm flipH="false" flipV="false" rot="0">
              <a:off x="31750" y="31750"/>
              <a:ext cx="8483566" cy="7880979"/>
            </a:xfrm>
            <a:custGeom>
              <a:avLst/>
              <a:gdLst/>
              <a:ahLst/>
              <a:cxnLst/>
              <a:rect r="r" b="b" t="t" l="l"/>
              <a:pathLst>
                <a:path h="7880979" w="8483566">
                  <a:moveTo>
                    <a:pt x="8392098" y="7880979"/>
                  </a:moveTo>
                  <a:lnTo>
                    <a:pt x="92710" y="7880979"/>
                  </a:lnTo>
                  <a:cubicBezTo>
                    <a:pt x="41910" y="7880979"/>
                    <a:pt x="0" y="7839069"/>
                    <a:pt x="0" y="7788269"/>
                  </a:cubicBezTo>
                  <a:lnTo>
                    <a:pt x="0" y="92710"/>
                  </a:lnTo>
                  <a:cubicBezTo>
                    <a:pt x="0" y="41910"/>
                    <a:pt x="41910" y="0"/>
                    <a:pt x="92710" y="0"/>
                  </a:cubicBezTo>
                  <a:lnTo>
                    <a:pt x="8390828" y="0"/>
                  </a:lnTo>
                  <a:cubicBezTo>
                    <a:pt x="8441628" y="0"/>
                    <a:pt x="8483538" y="41910"/>
                    <a:pt x="8483538" y="92710"/>
                  </a:cubicBezTo>
                  <a:lnTo>
                    <a:pt x="8483538" y="7786998"/>
                  </a:lnTo>
                  <a:cubicBezTo>
                    <a:pt x="8484808" y="7839069"/>
                    <a:pt x="8442898" y="7880979"/>
                    <a:pt x="8392098" y="7880979"/>
                  </a:cubicBezTo>
                  <a:close/>
                </a:path>
              </a:pathLst>
            </a:custGeom>
            <a:solidFill>
              <a:srgbClr val="13538A"/>
            </a:solidFill>
          </p:spPr>
        </p:sp>
        <p:sp>
          <p:nvSpPr>
            <p:cNvPr name="Freeform 7" id="7"/>
            <p:cNvSpPr/>
            <p:nvPr/>
          </p:nvSpPr>
          <p:spPr>
            <a:xfrm flipH="false" flipV="false" rot="0">
              <a:off x="0" y="0"/>
              <a:ext cx="8548308" cy="7944479"/>
            </a:xfrm>
            <a:custGeom>
              <a:avLst/>
              <a:gdLst/>
              <a:ahLst/>
              <a:cxnLst/>
              <a:rect r="r" b="b" t="t" l="l"/>
              <a:pathLst>
                <a:path h="7944479" w="8548308">
                  <a:moveTo>
                    <a:pt x="8423848" y="59690"/>
                  </a:moveTo>
                  <a:cubicBezTo>
                    <a:pt x="8459408" y="59690"/>
                    <a:pt x="8488618" y="88900"/>
                    <a:pt x="8488618" y="124460"/>
                  </a:cubicBezTo>
                  <a:lnTo>
                    <a:pt x="8488618" y="7820019"/>
                  </a:lnTo>
                  <a:cubicBezTo>
                    <a:pt x="8488618" y="7855579"/>
                    <a:pt x="8459408" y="7884788"/>
                    <a:pt x="8423848" y="7884788"/>
                  </a:cubicBezTo>
                  <a:lnTo>
                    <a:pt x="124460" y="7884788"/>
                  </a:lnTo>
                  <a:cubicBezTo>
                    <a:pt x="88900" y="7884788"/>
                    <a:pt x="59690" y="7855579"/>
                    <a:pt x="59690" y="7820019"/>
                  </a:cubicBezTo>
                  <a:lnTo>
                    <a:pt x="59690" y="124460"/>
                  </a:lnTo>
                  <a:cubicBezTo>
                    <a:pt x="59690" y="88900"/>
                    <a:pt x="88900" y="59690"/>
                    <a:pt x="124460" y="59690"/>
                  </a:cubicBezTo>
                  <a:lnTo>
                    <a:pt x="8423849" y="59690"/>
                  </a:lnTo>
                  <a:moveTo>
                    <a:pt x="8423849" y="0"/>
                  </a:moveTo>
                  <a:lnTo>
                    <a:pt x="124460" y="0"/>
                  </a:lnTo>
                  <a:cubicBezTo>
                    <a:pt x="55880" y="0"/>
                    <a:pt x="0" y="55880"/>
                    <a:pt x="0" y="124460"/>
                  </a:cubicBezTo>
                  <a:lnTo>
                    <a:pt x="0" y="7820019"/>
                  </a:lnTo>
                  <a:cubicBezTo>
                    <a:pt x="0" y="7888598"/>
                    <a:pt x="55880" y="7944479"/>
                    <a:pt x="124460" y="7944479"/>
                  </a:cubicBezTo>
                  <a:lnTo>
                    <a:pt x="8423849" y="7944479"/>
                  </a:lnTo>
                  <a:cubicBezTo>
                    <a:pt x="8492428" y="7944479"/>
                    <a:pt x="8548308" y="7888598"/>
                    <a:pt x="8548308" y="7820019"/>
                  </a:cubicBezTo>
                  <a:lnTo>
                    <a:pt x="8548308" y="124460"/>
                  </a:lnTo>
                  <a:cubicBezTo>
                    <a:pt x="8548308" y="55880"/>
                    <a:pt x="8492428" y="0"/>
                    <a:pt x="8423849" y="0"/>
                  </a:cubicBezTo>
                  <a:close/>
                </a:path>
              </a:pathLst>
            </a:custGeom>
            <a:solidFill>
              <a:srgbClr val="13538A"/>
            </a:solidFill>
          </p:spPr>
        </p:sp>
      </p:grpSp>
      <p:grpSp>
        <p:nvGrpSpPr>
          <p:cNvPr name="Group 8" id="8"/>
          <p:cNvGrpSpPr/>
          <p:nvPr/>
        </p:nvGrpSpPr>
        <p:grpSpPr>
          <a:xfrm rot="0">
            <a:off x="1527867" y="1292574"/>
            <a:ext cx="7023751" cy="1572555"/>
            <a:chOff x="0" y="0"/>
            <a:chExt cx="8548308" cy="1913890"/>
          </a:xfrm>
        </p:grpSpPr>
        <p:sp>
          <p:nvSpPr>
            <p:cNvPr name="Freeform 9" id="9"/>
            <p:cNvSpPr/>
            <p:nvPr/>
          </p:nvSpPr>
          <p:spPr>
            <a:xfrm flipH="false" flipV="false" rot="0">
              <a:off x="31750" y="31750"/>
              <a:ext cx="8483566" cy="1850390"/>
            </a:xfrm>
            <a:custGeom>
              <a:avLst/>
              <a:gdLst/>
              <a:ahLst/>
              <a:cxnLst/>
              <a:rect r="r" b="b" t="t" l="l"/>
              <a:pathLst>
                <a:path h="1850390" w="8483566">
                  <a:moveTo>
                    <a:pt x="8392098" y="1850390"/>
                  </a:moveTo>
                  <a:lnTo>
                    <a:pt x="92710" y="1850390"/>
                  </a:lnTo>
                  <a:cubicBezTo>
                    <a:pt x="41910" y="1850390"/>
                    <a:pt x="0" y="1808480"/>
                    <a:pt x="0" y="1757680"/>
                  </a:cubicBezTo>
                  <a:lnTo>
                    <a:pt x="0" y="92710"/>
                  </a:lnTo>
                  <a:cubicBezTo>
                    <a:pt x="0" y="41910"/>
                    <a:pt x="41910" y="0"/>
                    <a:pt x="92710" y="0"/>
                  </a:cubicBezTo>
                  <a:lnTo>
                    <a:pt x="8390828" y="0"/>
                  </a:lnTo>
                  <a:cubicBezTo>
                    <a:pt x="8441628" y="0"/>
                    <a:pt x="8483538" y="41910"/>
                    <a:pt x="8483538" y="92710"/>
                  </a:cubicBezTo>
                  <a:lnTo>
                    <a:pt x="8483538" y="1756410"/>
                  </a:lnTo>
                  <a:cubicBezTo>
                    <a:pt x="8484808" y="1808480"/>
                    <a:pt x="8442898" y="1850390"/>
                    <a:pt x="8392098" y="1850390"/>
                  </a:cubicBezTo>
                  <a:close/>
                </a:path>
              </a:pathLst>
            </a:custGeom>
            <a:solidFill>
              <a:srgbClr val="003882"/>
            </a:solidFill>
          </p:spPr>
        </p:sp>
        <p:sp>
          <p:nvSpPr>
            <p:cNvPr name="Freeform 10" id="10"/>
            <p:cNvSpPr/>
            <p:nvPr/>
          </p:nvSpPr>
          <p:spPr>
            <a:xfrm flipH="false" flipV="false" rot="0">
              <a:off x="0" y="0"/>
              <a:ext cx="8548308" cy="1913890"/>
            </a:xfrm>
            <a:custGeom>
              <a:avLst/>
              <a:gdLst/>
              <a:ahLst/>
              <a:cxnLst/>
              <a:rect r="r" b="b" t="t" l="l"/>
              <a:pathLst>
                <a:path h="1913890" w="8548308">
                  <a:moveTo>
                    <a:pt x="8423848" y="59690"/>
                  </a:moveTo>
                  <a:cubicBezTo>
                    <a:pt x="8459408" y="59690"/>
                    <a:pt x="8488618" y="88900"/>
                    <a:pt x="8488618" y="124460"/>
                  </a:cubicBezTo>
                  <a:lnTo>
                    <a:pt x="8488618" y="1789430"/>
                  </a:lnTo>
                  <a:cubicBezTo>
                    <a:pt x="8488618" y="1824990"/>
                    <a:pt x="8459408" y="1854200"/>
                    <a:pt x="8423848" y="1854200"/>
                  </a:cubicBezTo>
                  <a:lnTo>
                    <a:pt x="124460" y="1854200"/>
                  </a:lnTo>
                  <a:cubicBezTo>
                    <a:pt x="88900" y="1854200"/>
                    <a:pt x="59690" y="1824990"/>
                    <a:pt x="59690" y="1789430"/>
                  </a:cubicBezTo>
                  <a:lnTo>
                    <a:pt x="59690" y="124460"/>
                  </a:lnTo>
                  <a:cubicBezTo>
                    <a:pt x="59690" y="88900"/>
                    <a:pt x="88900" y="59690"/>
                    <a:pt x="124460" y="59690"/>
                  </a:cubicBezTo>
                  <a:lnTo>
                    <a:pt x="8423849" y="59690"/>
                  </a:lnTo>
                  <a:moveTo>
                    <a:pt x="8423849" y="0"/>
                  </a:moveTo>
                  <a:lnTo>
                    <a:pt x="124460" y="0"/>
                  </a:lnTo>
                  <a:cubicBezTo>
                    <a:pt x="55880" y="0"/>
                    <a:pt x="0" y="55880"/>
                    <a:pt x="0" y="124460"/>
                  </a:cubicBezTo>
                  <a:lnTo>
                    <a:pt x="0" y="1789430"/>
                  </a:lnTo>
                  <a:cubicBezTo>
                    <a:pt x="0" y="1858010"/>
                    <a:pt x="55880" y="1913890"/>
                    <a:pt x="124460" y="1913890"/>
                  </a:cubicBezTo>
                  <a:lnTo>
                    <a:pt x="8423849" y="1913890"/>
                  </a:lnTo>
                  <a:cubicBezTo>
                    <a:pt x="8492428" y="1913890"/>
                    <a:pt x="8548308" y="1858010"/>
                    <a:pt x="8548308" y="1789430"/>
                  </a:cubicBezTo>
                  <a:lnTo>
                    <a:pt x="8548308" y="124460"/>
                  </a:lnTo>
                  <a:cubicBezTo>
                    <a:pt x="8548308" y="55880"/>
                    <a:pt x="8492428" y="0"/>
                    <a:pt x="8423849" y="0"/>
                  </a:cubicBezTo>
                  <a:close/>
                </a:path>
              </a:pathLst>
            </a:custGeom>
            <a:solidFill>
              <a:srgbClr val="003882"/>
            </a:solidFill>
          </p:spPr>
        </p:sp>
      </p:grpSp>
      <p:sp>
        <p:nvSpPr>
          <p:cNvPr name="TextBox 11" id="11"/>
          <p:cNvSpPr txBox="true"/>
          <p:nvPr/>
        </p:nvSpPr>
        <p:spPr>
          <a:xfrm rot="0">
            <a:off x="1675631" y="3222617"/>
            <a:ext cx="6728223" cy="6359525"/>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FFFFFF"/>
                </a:solidFill>
                <a:latin typeface="Poppins"/>
                <a:ea typeface="Poppins"/>
                <a:cs typeface="Poppins"/>
                <a:sym typeface="Poppins"/>
              </a:rPr>
              <a:t>Desarrollo e implementación de una plataforma e-commerce completa para Cordillera Pets.</a:t>
            </a:r>
          </a:p>
          <a:p>
            <a:pPr algn="l" marL="431801" indent="-215900" lvl="1">
              <a:lnSpc>
                <a:spcPts val="2800"/>
              </a:lnSpc>
              <a:buFont typeface="Arial"/>
              <a:buChar char="•"/>
            </a:pPr>
            <a:r>
              <a:rPr lang="en-US" sz="2000">
                <a:solidFill>
                  <a:srgbClr val="FFFFFF"/>
                </a:solidFill>
                <a:latin typeface="Poppins"/>
                <a:ea typeface="Poppins"/>
                <a:cs typeface="Poppins"/>
                <a:sym typeface="Poppins"/>
              </a:rPr>
              <a:t>Incluye diseño UI/UX, desarrollo frontend y backend, integración de pasarela de pago y panel administrativo.</a:t>
            </a:r>
          </a:p>
          <a:p>
            <a:pPr algn="l" marL="431801" indent="-215900" lvl="1">
              <a:lnSpc>
                <a:spcPts val="2800"/>
              </a:lnSpc>
              <a:buFont typeface="Arial"/>
              <a:buChar char="•"/>
            </a:pPr>
            <a:r>
              <a:rPr lang="en-US" sz="2000">
                <a:solidFill>
                  <a:srgbClr val="FFFFFF"/>
                </a:solidFill>
                <a:latin typeface="Poppins"/>
                <a:ea typeface="Poppins"/>
                <a:cs typeface="Poppins"/>
                <a:sym typeface="Poppins"/>
              </a:rPr>
              <a:t>El p</a:t>
            </a:r>
            <a:r>
              <a:rPr lang="en-US" sz="2000">
                <a:solidFill>
                  <a:srgbClr val="FFFFFF"/>
                </a:solidFill>
                <a:latin typeface="Poppins"/>
                <a:ea typeface="Poppins"/>
                <a:cs typeface="Poppins"/>
                <a:sym typeface="Poppins"/>
              </a:rPr>
              <a:t>royecto contempla pruebas funcionales, de integración y de usabilidad, además del despliegue en un entorno cloud.</a:t>
            </a:r>
          </a:p>
          <a:p>
            <a:pPr algn="l" marL="431801" indent="-215900" lvl="1">
              <a:lnSpc>
                <a:spcPts val="2800"/>
              </a:lnSpc>
              <a:buFont typeface="Arial"/>
              <a:buChar char="•"/>
            </a:pPr>
            <a:r>
              <a:rPr lang="en-US" sz="2000">
                <a:solidFill>
                  <a:srgbClr val="FFFFFF"/>
                </a:solidFill>
                <a:latin typeface="Poppins"/>
                <a:ea typeface="Poppins"/>
                <a:cs typeface="Poppins"/>
                <a:sym typeface="Poppins"/>
              </a:rPr>
              <a:t>El equipo informático </a:t>
            </a:r>
            <a:r>
              <a:rPr lang="en-US" sz="2000">
                <a:solidFill>
                  <a:srgbClr val="FFFFFF"/>
                </a:solidFill>
                <a:latin typeface="Poppins"/>
                <a:ea typeface="Poppins"/>
                <a:cs typeface="Poppins"/>
                <a:sym typeface="Poppins"/>
              </a:rPr>
              <a:t>asumirá los costos asociados al hosting, servicios cloud y puesta en producción.</a:t>
            </a:r>
          </a:p>
          <a:p>
            <a:pPr algn="l" marL="431801" indent="-215900" lvl="1">
              <a:lnSpc>
                <a:spcPts val="2800"/>
              </a:lnSpc>
              <a:buFont typeface="Arial"/>
              <a:buChar char="•"/>
            </a:pPr>
            <a:r>
              <a:rPr lang="en-US" sz="2000">
                <a:solidFill>
                  <a:srgbClr val="FFFFFF"/>
                </a:solidFill>
                <a:latin typeface="Poppins"/>
                <a:ea typeface="Poppins"/>
                <a:cs typeface="Poppins"/>
                <a:sym typeface="Poppins"/>
              </a:rPr>
              <a:t>La pyme Cordillera Pets arrendara el sistema de manera mensual por el uso y mantención del software</a:t>
            </a:r>
          </a:p>
          <a:p>
            <a:pPr algn="l" marL="431801" indent="-215900" lvl="1">
              <a:lnSpc>
                <a:spcPts val="2800"/>
              </a:lnSpc>
              <a:buFont typeface="Arial"/>
              <a:buChar char="•"/>
            </a:pPr>
            <a:r>
              <a:rPr lang="en-US" sz="2000">
                <a:solidFill>
                  <a:srgbClr val="FFFFFF"/>
                </a:solidFill>
                <a:latin typeface="Poppins"/>
                <a:ea typeface="Poppins"/>
                <a:cs typeface="Poppins"/>
                <a:sym typeface="Poppins"/>
              </a:rPr>
              <a:t>Se capacitará al dueño y al personal en el uso del panel administrativo y en la gestión del e-commerce.</a:t>
            </a:r>
          </a:p>
          <a:p>
            <a:pPr algn="ctr">
              <a:lnSpc>
                <a:spcPts val="2800"/>
              </a:lnSpc>
              <a:spcBef>
                <a:spcPct val="0"/>
              </a:spcBef>
            </a:pPr>
          </a:p>
        </p:txBody>
      </p:sp>
      <p:sp>
        <p:nvSpPr>
          <p:cNvPr name="TextBox 12" id="12"/>
          <p:cNvSpPr txBox="true"/>
          <p:nvPr/>
        </p:nvSpPr>
        <p:spPr>
          <a:xfrm rot="0">
            <a:off x="1675631" y="1669727"/>
            <a:ext cx="6728223" cy="813395"/>
          </a:xfrm>
          <a:prstGeom prst="rect">
            <a:avLst/>
          </a:prstGeom>
        </p:spPr>
        <p:txBody>
          <a:bodyPr anchor="t" rtlCol="false" tIns="0" lIns="0" bIns="0" rIns="0">
            <a:spAutoFit/>
          </a:bodyPr>
          <a:lstStyle/>
          <a:p>
            <a:pPr algn="ctr">
              <a:lnSpc>
                <a:spcPts val="6318"/>
              </a:lnSpc>
              <a:spcBef>
                <a:spcPct val="0"/>
              </a:spcBef>
            </a:pPr>
            <a:r>
              <a:rPr lang="en-US" sz="4513">
                <a:solidFill>
                  <a:srgbClr val="FFFFFF"/>
                </a:solidFill>
                <a:latin typeface="Poppins"/>
                <a:ea typeface="Poppins"/>
                <a:cs typeface="Poppins"/>
                <a:sym typeface="Poppins"/>
              </a:rPr>
              <a:t>Alcances de Proyecto</a:t>
            </a:r>
          </a:p>
        </p:txBody>
      </p:sp>
      <p:grpSp>
        <p:nvGrpSpPr>
          <p:cNvPr name="Group 13" id="13"/>
          <p:cNvGrpSpPr/>
          <p:nvPr/>
        </p:nvGrpSpPr>
        <p:grpSpPr>
          <a:xfrm rot="0">
            <a:off x="9736382" y="3131829"/>
            <a:ext cx="7023751" cy="6567694"/>
            <a:chOff x="0" y="0"/>
            <a:chExt cx="8548308" cy="7993261"/>
          </a:xfrm>
        </p:grpSpPr>
        <p:sp>
          <p:nvSpPr>
            <p:cNvPr name="Freeform 14" id="14"/>
            <p:cNvSpPr/>
            <p:nvPr/>
          </p:nvSpPr>
          <p:spPr>
            <a:xfrm flipH="false" flipV="false" rot="0">
              <a:off x="31750" y="31750"/>
              <a:ext cx="8483566" cy="7929761"/>
            </a:xfrm>
            <a:custGeom>
              <a:avLst/>
              <a:gdLst/>
              <a:ahLst/>
              <a:cxnLst/>
              <a:rect r="r" b="b" t="t" l="l"/>
              <a:pathLst>
                <a:path h="7929761" w="8483566">
                  <a:moveTo>
                    <a:pt x="8392098" y="7929761"/>
                  </a:moveTo>
                  <a:lnTo>
                    <a:pt x="92710" y="7929761"/>
                  </a:lnTo>
                  <a:cubicBezTo>
                    <a:pt x="41910" y="7929761"/>
                    <a:pt x="0" y="7887850"/>
                    <a:pt x="0" y="7837050"/>
                  </a:cubicBezTo>
                  <a:lnTo>
                    <a:pt x="0" y="92710"/>
                  </a:lnTo>
                  <a:cubicBezTo>
                    <a:pt x="0" y="41910"/>
                    <a:pt x="41910" y="0"/>
                    <a:pt x="92710" y="0"/>
                  </a:cubicBezTo>
                  <a:lnTo>
                    <a:pt x="8390828" y="0"/>
                  </a:lnTo>
                  <a:cubicBezTo>
                    <a:pt x="8441628" y="0"/>
                    <a:pt x="8483538" y="41910"/>
                    <a:pt x="8483538" y="92710"/>
                  </a:cubicBezTo>
                  <a:lnTo>
                    <a:pt x="8483538" y="7835781"/>
                  </a:lnTo>
                  <a:cubicBezTo>
                    <a:pt x="8484808" y="7887850"/>
                    <a:pt x="8442898" y="7929761"/>
                    <a:pt x="8392098" y="7929761"/>
                  </a:cubicBezTo>
                  <a:close/>
                </a:path>
              </a:pathLst>
            </a:custGeom>
            <a:solidFill>
              <a:srgbClr val="13538A"/>
            </a:solidFill>
          </p:spPr>
        </p:sp>
        <p:sp>
          <p:nvSpPr>
            <p:cNvPr name="Freeform 15" id="15"/>
            <p:cNvSpPr/>
            <p:nvPr/>
          </p:nvSpPr>
          <p:spPr>
            <a:xfrm flipH="false" flipV="false" rot="0">
              <a:off x="0" y="0"/>
              <a:ext cx="8548308" cy="7993261"/>
            </a:xfrm>
            <a:custGeom>
              <a:avLst/>
              <a:gdLst/>
              <a:ahLst/>
              <a:cxnLst/>
              <a:rect r="r" b="b" t="t" l="l"/>
              <a:pathLst>
                <a:path h="7993261" w="8548308">
                  <a:moveTo>
                    <a:pt x="8423848" y="59690"/>
                  </a:moveTo>
                  <a:cubicBezTo>
                    <a:pt x="8459408" y="59690"/>
                    <a:pt x="8488618" y="88900"/>
                    <a:pt x="8488618" y="124460"/>
                  </a:cubicBezTo>
                  <a:lnTo>
                    <a:pt x="8488618" y="7868801"/>
                  </a:lnTo>
                  <a:cubicBezTo>
                    <a:pt x="8488618" y="7904361"/>
                    <a:pt x="8459408" y="7933571"/>
                    <a:pt x="8423848" y="7933571"/>
                  </a:cubicBezTo>
                  <a:lnTo>
                    <a:pt x="124460" y="7933571"/>
                  </a:lnTo>
                  <a:cubicBezTo>
                    <a:pt x="88900" y="7933571"/>
                    <a:pt x="59690" y="7904361"/>
                    <a:pt x="59690" y="7868801"/>
                  </a:cubicBezTo>
                  <a:lnTo>
                    <a:pt x="59690" y="124460"/>
                  </a:lnTo>
                  <a:cubicBezTo>
                    <a:pt x="59690" y="88900"/>
                    <a:pt x="88900" y="59690"/>
                    <a:pt x="124460" y="59690"/>
                  </a:cubicBezTo>
                  <a:lnTo>
                    <a:pt x="8423849" y="59690"/>
                  </a:lnTo>
                  <a:moveTo>
                    <a:pt x="8423849" y="0"/>
                  </a:moveTo>
                  <a:lnTo>
                    <a:pt x="124460" y="0"/>
                  </a:lnTo>
                  <a:cubicBezTo>
                    <a:pt x="55880" y="0"/>
                    <a:pt x="0" y="55880"/>
                    <a:pt x="0" y="124460"/>
                  </a:cubicBezTo>
                  <a:lnTo>
                    <a:pt x="0" y="7868801"/>
                  </a:lnTo>
                  <a:cubicBezTo>
                    <a:pt x="0" y="7937381"/>
                    <a:pt x="55880" y="7993261"/>
                    <a:pt x="124460" y="7993261"/>
                  </a:cubicBezTo>
                  <a:lnTo>
                    <a:pt x="8423849" y="7993261"/>
                  </a:lnTo>
                  <a:cubicBezTo>
                    <a:pt x="8492428" y="7993261"/>
                    <a:pt x="8548308" y="7937381"/>
                    <a:pt x="8548308" y="7868801"/>
                  </a:cubicBezTo>
                  <a:lnTo>
                    <a:pt x="8548308" y="124460"/>
                  </a:lnTo>
                  <a:cubicBezTo>
                    <a:pt x="8548308" y="55880"/>
                    <a:pt x="8492428" y="0"/>
                    <a:pt x="8423849" y="0"/>
                  </a:cubicBezTo>
                  <a:close/>
                </a:path>
              </a:pathLst>
            </a:custGeom>
            <a:solidFill>
              <a:srgbClr val="13538A"/>
            </a:solidFill>
          </p:spPr>
        </p:sp>
      </p:grpSp>
      <p:grpSp>
        <p:nvGrpSpPr>
          <p:cNvPr name="Group 16" id="16"/>
          <p:cNvGrpSpPr/>
          <p:nvPr/>
        </p:nvGrpSpPr>
        <p:grpSpPr>
          <a:xfrm rot="0">
            <a:off x="9736382" y="1292574"/>
            <a:ext cx="7023751" cy="1572555"/>
            <a:chOff x="0" y="0"/>
            <a:chExt cx="8548308" cy="1913890"/>
          </a:xfrm>
        </p:grpSpPr>
        <p:sp>
          <p:nvSpPr>
            <p:cNvPr name="Freeform 17" id="17"/>
            <p:cNvSpPr/>
            <p:nvPr/>
          </p:nvSpPr>
          <p:spPr>
            <a:xfrm flipH="false" flipV="false" rot="0">
              <a:off x="31750" y="31750"/>
              <a:ext cx="8483566" cy="1850390"/>
            </a:xfrm>
            <a:custGeom>
              <a:avLst/>
              <a:gdLst/>
              <a:ahLst/>
              <a:cxnLst/>
              <a:rect r="r" b="b" t="t" l="l"/>
              <a:pathLst>
                <a:path h="1850390" w="8483566">
                  <a:moveTo>
                    <a:pt x="8392098" y="1850390"/>
                  </a:moveTo>
                  <a:lnTo>
                    <a:pt x="92710" y="1850390"/>
                  </a:lnTo>
                  <a:cubicBezTo>
                    <a:pt x="41910" y="1850390"/>
                    <a:pt x="0" y="1808480"/>
                    <a:pt x="0" y="1757680"/>
                  </a:cubicBezTo>
                  <a:lnTo>
                    <a:pt x="0" y="92710"/>
                  </a:lnTo>
                  <a:cubicBezTo>
                    <a:pt x="0" y="41910"/>
                    <a:pt x="41910" y="0"/>
                    <a:pt x="92710" y="0"/>
                  </a:cubicBezTo>
                  <a:lnTo>
                    <a:pt x="8390828" y="0"/>
                  </a:lnTo>
                  <a:cubicBezTo>
                    <a:pt x="8441628" y="0"/>
                    <a:pt x="8483538" y="41910"/>
                    <a:pt x="8483538" y="92710"/>
                  </a:cubicBezTo>
                  <a:lnTo>
                    <a:pt x="8483538" y="1756410"/>
                  </a:lnTo>
                  <a:cubicBezTo>
                    <a:pt x="8484808" y="1808480"/>
                    <a:pt x="8442898" y="1850390"/>
                    <a:pt x="8392098" y="1850390"/>
                  </a:cubicBezTo>
                  <a:close/>
                </a:path>
              </a:pathLst>
            </a:custGeom>
            <a:solidFill>
              <a:srgbClr val="003882"/>
            </a:solidFill>
          </p:spPr>
        </p:sp>
        <p:sp>
          <p:nvSpPr>
            <p:cNvPr name="Freeform 18" id="18"/>
            <p:cNvSpPr/>
            <p:nvPr/>
          </p:nvSpPr>
          <p:spPr>
            <a:xfrm flipH="false" flipV="false" rot="0">
              <a:off x="0" y="0"/>
              <a:ext cx="8548308" cy="1913890"/>
            </a:xfrm>
            <a:custGeom>
              <a:avLst/>
              <a:gdLst/>
              <a:ahLst/>
              <a:cxnLst/>
              <a:rect r="r" b="b" t="t" l="l"/>
              <a:pathLst>
                <a:path h="1913890" w="8548308">
                  <a:moveTo>
                    <a:pt x="8423848" y="59690"/>
                  </a:moveTo>
                  <a:cubicBezTo>
                    <a:pt x="8459408" y="59690"/>
                    <a:pt x="8488618" y="88900"/>
                    <a:pt x="8488618" y="124460"/>
                  </a:cubicBezTo>
                  <a:lnTo>
                    <a:pt x="8488618" y="1789430"/>
                  </a:lnTo>
                  <a:cubicBezTo>
                    <a:pt x="8488618" y="1824990"/>
                    <a:pt x="8459408" y="1854200"/>
                    <a:pt x="8423848" y="1854200"/>
                  </a:cubicBezTo>
                  <a:lnTo>
                    <a:pt x="124460" y="1854200"/>
                  </a:lnTo>
                  <a:cubicBezTo>
                    <a:pt x="88900" y="1854200"/>
                    <a:pt x="59690" y="1824990"/>
                    <a:pt x="59690" y="1789430"/>
                  </a:cubicBezTo>
                  <a:lnTo>
                    <a:pt x="59690" y="124460"/>
                  </a:lnTo>
                  <a:cubicBezTo>
                    <a:pt x="59690" y="88900"/>
                    <a:pt x="88900" y="59690"/>
                    <a:pt x="124460" y="59690"/>
                  </a:cubicBezTo>
                  <a:lnTo>
                    <a:pt x="8423849" y="59690"/>
                  </a:lnTo>
                  <a:moveTo>
                    <a:pt x="8423849" y="0"/>
                  </a:moveTo>
                  <a:lnTo>
                    <a:pt x="124460" y="0"/>
                  </a:lnTo>
                  <a:cubicBezTo>
                    <a:pt x="55880" y="0"/>
                    <a:pt x="0" y="55880"/>
                    <a:pt x="0" y="124460"/>
                  </a:cubicBezTo>
                  <a:lnTo>
                    <a:pt x="0" y="1789430"/>
                  </a:lnTo>
                  <a:cubicBezTo>
                    <a:pt x="0" y="1858010"/>
                    <a:pt x="55880" y="1913890"/>
                    <a:pt x="124460" y="1913890"/>
                  </a:cubicBezTo>
                  <a:lnTo>
                    <a:pt x="8423849" y="1913890"/>
                  </a:lnTo>
                  <a:cubicBezTo>
                    <a:pt x="8492428" y="1913890"/>
                    <a:pt x="8548308" y="1858010"/>
                    <a:pt x="8548308" y="1789430"/>
                  </a:cubicBezTo>
                  <a:lnTo>
                    <a:pt x="8548308" y="124460"/>
                  </a:lnTo>
                  <a:cubicBezTo>
                    <a:pt x="8548308" y="55880"/>
                    <a:pt x="8492428" y="0"/>
                    <a:pt x="8423849" y="0"/>
                  </a:cubicBezTo>
                  <a:close/>
                </a:path>
              </a:pathLst>
            </a:custGeom>
            <a:solidFill>
              <a:srgbClr val="003882"/>
            </a:solidFill>
          </p:spPr>
        </p:sp>
      </p:grpSp>
      <p:sp>
        <p:nvSpPr>
          <p:cNvPr name="TextBox 19" id="19"/>
          <p:cNvSpPr txBox="true"/>
          <p:nvPr/>
        </p:nvSpPr>
        <p:spPr>
          <a:xfrm rot="0">
            <a:off x="9884146" y="3267823"/>
            <a:ext cx="6713623" cy="6523598"/>
          </a:xfrm>
          <a:prstGeom prst="rect">
            <a:avLst/>
          </a:prstGeom>
        </p:spPr>
        <p:txBody>
          <a:bodyPr anchor="t" rtlCol="false" tIns="0" lIns="0" bIns="0" rIns="0">
            <a:spAutoFit/>
          </a:bodyPr>
          <a:lstStyle/>
          <a:p>
            <a:pPr algn="l" marL="470842" indent="-235421" lvl="1">
              <a:lnSpc>
                <a:spcPts val="3053"/>
              </a:lnSpc>
              <a:buFont typeface="Arial"/>
              <a:buChar char="•"/>
            </a:pPr>
            <a:r>
              <a:rPr lang="en-US" sz="2180">
                <a:solidFill>
                  <a:srgbClr val="FFFFFF"/>
                </a:solidFill>
                <a:latin typeface="Poppins"/>
                <a:ea typeface="Poppins"/>
                <a:cs typeface="Poppins"/>
                <a:sym typeface="Poppins"/>
              </a:rPr>
              <a:t>Desarrollo de una página web responsiva, accesible desde computador, tablet y smartphone.</a:t>
            </a:r>
          </a:p>
          <a:p>
            <a:pPr algn="l" marL="470842" indent="-235421" lvl="1">
              <a:lnSpc>
                <a:spcPts val="3053"/>
              </a:lnSpc>
              <a:buFont typeface="Arial"/>
              <a:buChar char="•"/>
            </a:pPr>
            <a:r>
              <a:rPr lang="en-US" sz="2180">
                <a:solidFill>
                  <a:srgbClr val="FFFFFF"/>
                </a:solidFill>
                <a:latin typeface="Poppins"/>
                <a:ea typeface="Poppins"/>
                <a:cs typeface="Poppins"/>
                <a:sym typeface="Poppins"/>
              </a:rPr>
              <a:t>El sistema incluirá módulos de: Ventas, catálogo digital, carrito de compras y proceso de checkout</a:t>
            </a:r>
          </a:p>
          <a:p>
            <a:pPr algn="l" marL="470842" indent="-235421" lvl="1">
              <a:lnSpc>
                <a:spcPts val="3053"/>
              </a:lnSpc>
              <a:buFont typeface="Arial"/>
              <a:buChar char="•"/>
            </a:pPr>
            <a:r>
              <a:rPr lang="en-US" sz="2180">
                <a:solidFill>
                  <a:srgbClr val="FFFFFF"/>
                </a:solidFill>
                <a:latin typeface="Poppins"/>
                <a:ea typeface="Poppins"/>
                <a:cs typeface="Poppins"/>
                <a:sym typeface="Poppins"/>
              </a:rPr>
              <a:t>Dashboa</a:t>
            </a:r>
            <a:r>
              <a:rPr lang="en-US" sz="2180">
                <a:solidFill>
                  <a:srgbClr val="FFFFFF"/>
                </a:solidFill>
                <a:latin typeface="Poppins"/>
                <a:ea typeface="Poppins"/>
                <a:cs typeface="Poppins"/>
                <a:sym typeface="Poppins"/>
              </a:rPr>
              <a:t>rd administrativo para gestión de productos, pedidos y stock</a:t>
            </a:r>
          </a:p>
          <a:p>
            <a:pPr algn="l" marL="470842" indent="-235421" lvl="1">
              <a:lnSpc>
                <a:spcPts val="3053"/>
              </a:lnSpc>
              <a:buFont typeface="Arial"/>
              <a:buChar char="•"/>
            </a:pPr>
            <a:r>
              <a:rPr lang="en-US" sz="2180">
                <a:solidFill>
                  <a:srgbClr val="FFFFFF"/>
                </a:solidFill>
                <a:latin typeface="Poppins"/>
                <a:ea typeface="Poppins"/>
                <a:cs typeface="Poppins"/>
                <a:sym typeface="Poppins"/>
              </a:rPr>
              <a:t>El e-commerce p</a:t>
            </a:r>
            <a:r>
              <a:rPr lang="en-US" sz="2180">
                <a:solidFill>
                  <a:srgbClr val="FFFFFF"/>
                </a:solidFill>
                <a:latin typeface="Poppins"/>
                <a:ea typeface="Poppins"/>
                <a:cs typeface="Poppins"/>
                <a:sym typeface="Poppins"/>
              </a:rPr>
              <a:t>ermitirá pagos en línea a través de Webpay/Transbank con excepción de transferencia bancaria.</a:t>
            </a:r>
          </a:p>
          <a:p>
            <a:pPr algn="l" marL="470842" indent="-235421" lvl="1">
              <a:lnSpc>
                <a:spcPts val="3053"/>
              </a:lnSpc>
              <a:buFont typeface="Arial"/>
              <a:buChar char="•"/>
            </a:pPr>
            <a:r>
              <a:rPr lang="en-US" sz="2180">
                <a:solidFill>
                  <a:srgbClr val="FFFFFF"/>
                </a:solidFill>
                <a:latin typeface="Poppins"/>
                <a:ea typeface="Poppins"/>
                <a:cs typeface="Poppins"/>
                <a:sym typeface="Poppins"/>
              </a:rPr>
              <a:t>El software contará con notificaciones automáticas, historial de compras y manejo de usuarios registrados.</a:t>
            </a:r>
          </a:p>
          <a:p>
            <a:pPr algn="l" marL="470842" indent="-235421" lvl="1">
              <a:lnSpc>
                <a:spcPts val="3053"/>
              </a:lnSpc>
              <a:buFont typeface="Arial"/>
              <a:buChar char="•"/>
            </a:pPr>
            <a:r>
              <a:rPr lang="en-US" sz="2180">
                <a:solidFill>
                  <a:srgbClr val="FFFFFF"/>
                </a:solidFill>
                <a:latin typeface="Poppins"/>
                <a:ea typeface="Poppins"/>
                <a:cs typeface="Poppins"/>
                <a:sym typeface="Poppins"/>
              </a:rPr>
              <a:t>La solución garantizará seguridad, encriptación de datos y disponibilidad 24/7.</a:t>
            </a:r>
          </a:p>
          <a:p>
            <a:pPr algn="ctr">
              <a:lnSpc>
                <a:spcPts val="3359"/>
              </a:lnSpc>
              <a:spcBef>
                <a:spcPct val="0"/>
              </a:spcBef>
            </a:pPr>
          </a:p>
        </p:txBody>
      </p:sp>
      <p:sp>
        <p:nvSpPr>
          <p:cNvPr name="TextBox 20" id="20"/>
          <p:cNvSpPr txBox="true"/>
          <p:nvPr/>
        </p:nvSpPr>
        <p:spPr>
          <a:xfrm rot="0">
            <a:off x="9884146" y="1669727"/>
            <a:ext cx="6728223" cy="813395"/>
          </a:xfrm>
          <a:prstGeom prst="rect">
            <a:avLst/>
          </a:prstGeom>
        </p:spPr>
        <p:txBody>
          <a:bodyPr anchor="t" rtlCol="false" tIns="0" lIns="0" bIns="0" rIns="0">
            <a:spAutoFit/>
          </a:bodyPr>
          <a:lstStyle/>
          <a:p>
            <a:pPr algn="ctr">
              <a:lnSpc>
                <a:spcPts val="6318"/>
              </a:lnSpc>
              <a:spcBef>
                <a:spcPct val="0"/>
              </a:spcBef>
            </a:pPr>
            <a:r>
              <a:rPr lang="en-US" sz="4513">
                <a:solidFill>
                  <a:srgbClr val="FFFFFF"/>
                </a:solidFill>
                <a:latin typeface="Poppins"/>
                <a:ea typeface="Poppins"/>
                <a:cs typeface="Poppins"/>
                <a:sym typeface="Poppins"/>
              </a:rPr>
              <a:t>Alcances de Software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1929263" y="-552118"/>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sp>
        <p:nvSpPr>
          <p:cNvPr name="Freeform 3" id="3"/>
          <p:cNvSpPr/>
          <p:nvPr/>
        </p:nvSpPr>
        <p:spPr>
          <a:xfrm flipH="false" flipV="false" rot="0">
            <a:off x="-2779778" y="3282658"/>
            <a:ext cx="11923778" cy="8619179"/>
          </a:xfrm>
          <a:custGeom>
            <a:avLst/>
            <a:gdLst/>
            <a:ahLst/>
            <a:cxnLst/>
            <a:rect r="r" b="b" t="t" l="l"/>
            <a:pathLst>
              <a:path h="8619179" w="11923778">
                <a:moveTo>
                  <a:pt x="0" y="0"/>
                </a:moveTo>
                <a:lnTo>
                  <a:pt x="11923778" y="0"/>
                </a:lnTo>
                <a:lnTo>
                  <a:pt x="11923778" y="8619179"/>
                </a:lnTo>
                <a:lnTo>
                  <a:pt x="0" y="8619179"/>
                </a:lnTo>
                <a:lnTo>
                  <a:pt x="0" y="0"/>
                </a:lnTo>
                <a:close/>
              </a:path>
            </a:pathLst>
          </a:custGeom>
          <a:blipFill>
            <a:blip r:embed="rId3"/>
            <a:stretch>
              <a:fillRect l="0" t="-14854" r="0" b="-10515"/>
            </a:stretch>
          </a:blipFill>
        </p:spPr>
      </p:sp>
      <p:grpSp>
        <p:nvGrpSpPr>
          <p:cNvPr name="Group 4" id="4"/>
          <p:cNvGrpSpPr/>
          <p:nvPr/>
        </p:nvGrpSpPr>
        <p:grpSpPr>
          <a:xfrm rot="0">
            <a:off x="5175079" y="2300744"/>
            <a:ext cx="12239068" cy="7566099"/>
            <a:chOff x="0" y="0"/>
            <a:chExt cx="2829282" cy="1749041"/>
          </a:xfrm>
        </p:grpSpPr>
        <p:sp>
          <p:nvSpPr>
            <p:cNvPr name="Freeform 5" id="5"/>
            <p:cNvSpPr/>
            <p:nvPr/>
          </p:nvSpPr>
          <p:spPr>
            <a:xfrm flipH="false" flipV="false" rot="0">
              <a:off x="0" y="0"/>
              <a:ext cx="2829282" cy="1749041"/>
            </a:xfrm>
            <a:custGeom>
              <a:avLst/>
              <a:gdLst/>
              <a:ahLst/>
              <a:cxnLst/>
              <a:rect r="r" b="b" t="t" l="l"/>
              <a:pathLst>
                <a:path h="1749041" w="2829282">
                  <a:moveTo>
                    <a:pt x="12651" y="0"/>
                  </a:moveTo>
                  <a:lnTo>
                    <a:pt x="2816631" y="0"/>
                  </a:lnTo>
                  <a:cubicBezTo>
                    <a:pt x="2819986" y="0"/>
                    <a:pt x="2823204" y="1333"/>
                    <a:pt x="2825577" y="3705"/>
                  </a:cubicBezTo>
                  <a:cubicBezTo>
                    <a:pt x="2827949" y="6078"/>
                    <a:pt x="2829282" y="9296"/>
                    <a:pt x="2829282" y="12651"/>
                  </a:cubicBezTo>
                  <a:lnTo>
                    <a:pt x="2829282" y="1736390"/>
                  </a:lnTo>
                  <a:cubicBezTo>
                    <a:pt x="2829282" y="1739745"/>
                    <a:pt x="2827949" y="1742963"/>
                    <a:pt x="2825577" y="1745335"/>
                  </a:cubicBezTo>
                  <a:cubicBezTo>
                    <a:pt x="2823204" y="1747708"/>
                    <a:pt x="2819986" y="1749041"/>
                    <a:pt x="2816631" y="1749041"/>
                  </a:cubicBezTo>
                  <a:lnTo>
                    <a:pt x="12651" y="1749041"/>
                  </a:lnTo>
                  <a:cubicBezTo>
                    <a:pt x="9296" y="1749041"/>
                    <a:pt x="6078" y="1747708"/>
                    <a:pt x="3705" y="1745335"/>
                  </a:cubicBezTo>
                  <a:cubicBezTo>
                    <a:pt x="1333" y="1742963"/>
                    <a:pt x="0" y="1739745"/>
                    <a:pt x="0" y="1736390"/>
                  </a:cubicBezTo>
                  <a:lnTo>
                    <a:pt x="0" y="12651"/>
                  </a:lnTo>
                  <a:cubicBezTo>
                    <a:pt x="0" y="9296"/>
                    <a:pt x="1333" y="6078"/>
                    <a:pt x="3705" y="3705"/>
                  </a:cubicBezTo>
                  <a:cubicBezTo>
                    <a:pt x="6078" y="1333"/>
                    <a:pt x="9296" y="0"/>
                    <a:pt x="12651" y="0"/>
                  </a:cubicBezTo>
                  <a:close/>
                </a:path>
              </a:pathLst>
            </a:custGeom>
            <a:solidFill>
              <a:srgbClr val="003882"/>
            </a:solidFill>
          </p:spPr>
        </p:sp>
        <p:sp>
          <p:nvSpPr>
            <p:cNvPr name="TextBox 6" id="6"/>
            <p:cNvSpPr txBox="true"/>
            <p:nvPr/>
          </p:nvSpPr>
          <p:spPr>
            <a:xfrm>
              <a:off x="0" y="-57150"/>
              <a:ext cx="2829282" cy="1806191"/>
            </a:xfrm>
            <a:prstGeom prst="rect">
              <a:avLst/>
            </a:prstGeom>
          </p:spPr>
          <p:txBody>
            <a:bodyPr anchor="ctr" rtlCol="false" tIns="50800" lIns="50800" bIns="50800" rIns="50800"/>
            <a:lstStyle/>
            <a:p>
              <a:pPr algn="ctr">
                <a:lnSpc>
                  <a:spcPts val="2734"/>
                </a:lnSpc>
              </a:pPr>
            </a:p>
          </p:txBody>
        </p:sp>
      </p:grpSp>
      <p:sp>
        <p:nvSpPr>
          <p:cNvPr name="Freeform 7" id="7"/>
          <p:cNvSpPr/>
          <p:nvPr/>
        </p:nvSpPr>
        <p:spPr>
          <a:xfrm flipH="false" flipV="false" rot="0">
            <a:off x="15666340" y="0"/>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sp>
        <p:nvSpPr>
          <p:cNvPr name="Freeform 8" id="8"/>
          <p:cNvSpPr/>
          <p:nvPr/>
        </p:nvSpPr>
        <p:spPr>
          <a:xfrm flipH="false" flipV="false" rot="0">
            <a:off x="5678854" y="2554003"/>
            <a:ext cx="11231518" cy="6810841"/>
          </a:xfrm>
          <a:custGeom>
            <a:avLst/>
            <a:gdLst/>
            <a:ahLst/>
            <a:cxnLst/>
            <a:rect r="r" b="b" t="t" l="l"/>
            <a:pathLst>
              <a:path h="6810841" w="11231518">
                <a:moveTo>
                  <a:pt x="0" y="0"/>
                </a:moveTo>
                <a:lnTo>
                  <a:pt x="11231518" y="0"/>
                </a:lnTo>
                <a:lnTo>
                  <a:pt x="11231518" y="6810842"/>
                </a:lnTo>
                <a:lnTo>
                  <a:pt x="0" y="6810842"/>
                </a:lnTo>
                <a:lnTo>
                  <a:pt x="0" y="0"/>
                </a:lnTo>
                <a:close/>
              </a:path>
            </a:pathLst>
          </a:custGeom>
          <a:blipFill>
            <a:blip r:embed="rId5"/>
            <a:stretch>
              <a:fillRect l="0" t="-9965" r="0" b="-9965"/>
            </a:stretch>
          </a:blipFill>
        </p:spPr>
      </p:sp>
      <p:sp>
        <p:nvSpPr>
          <p:cNvPr name="TextBox 9" id="9"/>
          <p:cNvSpPr txBox="true"/>
          <p:nvPr/>
        </p:nvSpPr>
        <p:spPr>
          <a:xfrm rot="0">
            <a:off x="3817183" y="460083"/>
            <a:ext cx="11134498" cy="984834"/>
          </a:xfrm>
          <a:prstGeom prst="rect">
            <a:avLst/>
          </a:prstGeom>
        </p:spPr>
        <p:txBody>
          <a:bodyPr anchor="t" rtlCol="false" tIns="0" lIns="0" bIns="0" rIns="0">
            <a:spAutoFit/>
          </a:bodyPr>
          <a:lstStyle/>
          <a:p>
            <a:pPr algn="l">
              <a:lnSpc>
                <a:spcPts val="7667"/>
              </a:lnSpc>
              <a:spcBef>
                <a:spcPct val="0"/>
              </a:spcBef>
            </a:pPr>
            <a:r>
              <a:rPr lang="en-US" b="true" sz="5477">
                <a:solidFill>
                  <a:srgbClr val="28346D"/>
                </a:solidFill>
                <a:latin typeface="Poppins Bold"/>
                <a:ea typeface="Poppins Bold"/>
                <a:cs typeface="Poppins Bold"/>
                <a:sym typeface="Poppins Bold"/>
              </a:rPr>
              <a:t>METODOLOGÍA DEL PROYECTO</a:t>
            </a:r>
          </a:p>
        </p:txBody>
      </p:sp>
      <p:sp>
        <p:nvSpPr>
          <p:cNvPr name="TextBox 10" id="10"/>
          <p:cNvSpPr txBox="true"/>
          <p:nvPr/>
        </p:nvSpPr>
        <p:spPr>
          <a:xfrm rot="0">
            <a:off x="5175079" y="1349667"/>
            <a:ext cx="11134498" cy="616533"/>
          </a:xfrm>
          <a:prstGeom prst="rect">
            <a:avLst/>
          </a:prstGeom>
        </p:spPr>
        <p:txBody>
          <a:bodyPr anchor="t" rtlCol="false" tIns="0" lIns="0" bIns="0" rIns="0">
            <a:spAutoFit/>
          </a:bodyPr>
          <a:lstStyle/>
          <a:p>
            <a:pPr algn="l">
              <a:lnSpc>
                <a:spcPts val="4867"/>
              </a:lnSpc>
              <a:spcBef>
                <a:spcPct val="0"/>
              </a:spcBef>
            </a:pPr>
            <a:r>
              <a:rPr lang="en-US" b="true" sz="3477">
                <a:solidFill>
                  <a:srgbClr val="28346D"/>
                </a:solidFill>
                <a:latin typeface="Poppins Bold"/>
                <a:ea typeface="Poppins Bold"/>
                <a:cs typeface="Poppins Bold"/>
                <a:sym typeface="Poppins Bold"/>
              </a:rPr>
              <a:t>METODOLOGÍA ÁGIL HÍBRIDA</a:t>
            </a:r>
          </a:p>
        </p:txBody>
      </p:sp>
      <p:sp>
        <p:nvSpPr>
          <p:cNvPr name="TextBox 11" id="11"/>
          <p:cNvSpPr txBox="true"/>
          <p:nvPr/>
        </p:nvSpPr>
        <p:spPr>
          <a:xfrm rot="0">
            <a:off x="7659021" y="6045706"/>
            <a:ext cx="10852" cy="1006940"/>
          </a:xfrm>
          <a:prstGeom prst="rect">
            <a:avLst/>
          </a:prstGeom>
        </p:spPr>
        <p:txBody>
          <a:bodyPr anchor="t" rtlCol="false" tIns="0" lIns="0" bIns="0" rIns="0">
            <a:spAutoFit/>
          </a:bodyPr>
          <a:lstStyle/>
          <a:p>
            <a:pPr algn="ctr">
              <a:lnSpc>
                <a:spcPts val="8294"/>
              </a:lnSpc>
            </a:pPr>
          </a:p>
        </p:txBody>
      </p:sp>
      <p:sp>
        <p:nvSpPr>
          <p:cNvPr name="TextBox 12" id="12"/>
          <p:cNvSpPr txBox="true"/>
          <p:nvPr/>
        </p:nvSpPr>
        <p:spPr>
          <a:xfrm rot="0">
            <a:off x="6671487" y="5121735"/>
            <a:ext cx="844593" cy="213781"/>
          </a:xfrm>
          <a:prstGeom prst="rect">
            <a:avLst/>
          </a:prstGeom>
        </p:spPr>
        <p:txBody>
          <a:bodyPr anchor="t" rtlCol="false" tIns="0" lIns="0" bIns="0" rIns="0">
            <a:spAutoFit/>
          </a:bodyPr>
          <a:lstStyle/>
          <a:p>
            <a:pPr algn="ctr">
              <a:lnSpc>
                <a:spcPts val="1754"/>
              </a:lnSpc>
            </a:pPr>
            <a:r>
              <a:rPr lang="en-US" sz="1253">
                <a:solidFill>
                  <a:srgbClr val="FFFFFF"/>
                </a:solidFill>
                <a:latin typeface="Open Sans"/>
                <a:ea typeface="Open Sans"/>
                <a:cs typeface="Open Sans"/>
                <a:sym typeface="Open Sans"/>
              </a:rPr>
              <a:t>26/08/2025</a:t>
            </a:r>
          </a:p>
        </p:txBody>
      </p:sp>
      <p:sp>
        <p:nvSpPr>
          <p:cNvPr name="TextBox 13" id="13"/>
          <p:cNvSpPr txBox="true"/>
          <p:nvPr/>
        </p:nvSpPr>
        <p:spPr>
          <a:xfrm rot="0">
            <a:off x="7516080" y="7563673"/>
            <a:ext cx="844593" cy="213781"/>
          </a:xfrm>
          <a:prstGeom prst="rect">
            <a:avLst/>
          </a:prstGeom>
        </p:spPr>
        <p:txBody>
          <a:bodyPr anchor="t" rtlCol="false" tIns="0" lIns="0" bIns="0" rIns="0">
            <a:spAutoFit/>
          </a:bodyPr>
          <a:lstStyle/>
          <a:p>
            <a:pPr algn="ctr">
              <a:lnSpc>
                <a:spcPts val="1754"/>
              </a:lnSpc>
            </a:pPr>
            <a:r>
              <a:rPr lang="en-US" sz="1253">
                <a:solidFill>
                  <a:srgbClr val="FFFFFF"/>
                </a:solidFill>
                <a:latin typeface="Open Sans"/>
                <a:ea typeface="Open Sans"/>
                <a:cs typeface="Open Sans"/>
                <a:sym typeface="Open Sans"/>
              </a:rPr>
              <a:t>09/09/2025</a:t>
            </a:r>
          </a:p>
        </p:txBody>
      </p:sp>
      <p:sp>
        <p:nvSpPr>
          <p:cNvPr name="TextBox 14" id="14"/>
          <p:cNvSpPr txBox="true"/>
          <p:nvPr/>
        </p:nvSpPr>
        <p:spPr>
          <a:xfrm rot="0">
            <a:off x="8533590" y="5121735"/>
            <a:ext cx="844593" cy="213781"/>
          </a:xfrm>
          <a:prstGeom prst="rect">
            <a:avLst/>
          </a:prstGeom>
        </p:spPr>
        <p:txBody>
          <a:bodyPr anchor="t" rtlCol="false" tIns="0" lIns="0" bIns="0" rIns="0">
            <a:spAutoFit/>
          </a:bodyPr>
          <a:lstStyle/>
          <a:p>
            <a:pPr algn="ctr">
              <a:lnSpc>
                <a:spcPts val="1754"/>
              </a:lnSpc>
            </a:pPr>
            <a:r>
              <a:rPr lang="en-US" sz="1253">
                <a:solidFill>
                  <a:srgbClr val="FFFFFF"/>
                </a:solidFill>
                <a:latin typeface="Open Sans"/>
                <a:ea typeface="Open Sans"/>
                <a:cs typeface="Open Sans"/>
                <a:sym typeface="Open Sans"/>
              </a:rPr>
              <a:t>11/09/2025</a:t>
            </a:r>
          </a:p>
        </p:txBody>
      </p:sp>
      <p:sp>
        <p:nvSpPr>
          <p:cNvPr name="TextBox 15" id="15"/>
          <p:cNvSpPr txBox="true"/>
          <p:nvPr/>
        </p:nvSpPr>
        <p:spPr>
          <a:xfrm rot="0">
            <a:off x="9378183" y="7563673"/>
            <a:ext cx="844593" cy="213781"/>
          </a:xfrm>
          <a:prstGeom prst="rect">
            <a:avLst/>
          </a:prstGeom>
        </p:spPr>
        <p:txBody>
          <a:bodyPr anchor="t" rtlCol="false" tIns="0" lIns="0" bIns="0" rIns="0">
            <a:spAutoFit/>
          </a:bodyPr>
          <a:lstStyle/>
          <a:p>
            <a:pPr algn="ctr">
              <a:lnSpc>
                <a:spcPts val="1754"/>
              </a:lnSpc>
            </a:pPr>
            <a:r>
              <a:rPr lang="en-US" sz="1253">
                <a:solidFill>
                  <a:srgbClr val="FFFFFF"/>
                </a:solidFill>
                <a:latin typeface="Open Sans"/>
                <a:ea typeface="Open Sans"/>
                <a:cs typeface="Open Sans"/>
                <a:sym typeface="Open Sans"/>
              </a:rPr>
              <a:t>23/09/2025</a:t>
            </a:r>
          </a:p>
        </p:txBody>
      </p:sp>
      <p:sp>
        <p:nvSpPr>
          <p:cNvPr name="TextBox 16" id="16"/>
          <p:cNvSpPr txBox="true"/>
          <p:nvPr/>
        </p:nvSpPr>
        <p:spPr>
          <a:xfrm rot="0">
            <a:off x="10398274" y="5121735"/>
            <a:ext cx="844593" cy="213781"/>
          </a:xfrm>
          <a:prstGeom prst="rect">
            <a:avLst/>
          </a:prstGeom>
        </p:spPr>
        <p:txBody>
          <a:bodyPr anchor="t" rtlCol="false" tIns="0" lIns="0" bIns="0" rIns="0">
            <a:spAutoFit/>
          </a:bodyPr>
          <a:lstStyle/>
          <a:p>
            <a:pPr algn="ctr">
              <a:lnSpc>
                <a:spcPts val="1754"/>
              </a:lnSpc>
            </a:pPr>
            <a:r>
              <a:rPr lang="en-US" sz="1253">
                <a:solidFill>
                  <a:srgbClr val="FFFFFF"/>
                </a:solidFill>
                <a:latin typeface="Open Sans"/>
                <a:ea typeface="Open Sans"/>
                <a:cs typeface="Open Sans"/>
                <a:sym typeface="Open Sans"/>
              </a:rPr>
              <a:t>19/09/2025</a:t>
            </a:r>
          </a:p>
        </p:txBody>
      </p:sp>
      <p:sp>
        <p:nvSpPr>
          <p:cNvPr name="TextBox 17" id="17"/>
          <p:cNvSpPr txBox="true"/>
          <p:nvPr/>
        </p:nvSpPr>
        <p:spPr>
          <a:xfrm rot="0">
            <a:off x="11294613" y="7563673"/>
            <a:ext cx="844593" cy="213781"/>
          </a:xfrm>
          <a:prstGeom prst="rect">
            <a:avLst/>
          </a:prstGeom>
        </p:spPr>
        <p:txBody>
          <a:bodyPr anchor="t" rtlCol="false" tIns="0" lIns="0" bIns="0" rIns="0">
            <a:spAutoFit/>
          </a:bodyPr>
          <a:lstStyle/>
          <a:p>
            <a:pPr algn="ctr">
              <a:lnSpc>
                <a:spcPts val="1754"/>
              </a:lnSpc>
            </a:pPr>
            <a:r>
              <a:rPr lang="en-US" sz="1253">
                <a:solidFill>
                  <a:srgbClr val="FFFFFF"/>
                </a:solidFill>
                <a:latin typeface="Open Sans"/>
                <a:ea typeface="Open Sans"/>
                <a:cs typeface="Open Sans"/>
                <a:sym typeface="Open Sans"/>
              </a:rPr>
              <a:t>07/10/2025</a:t>
            </a:r>
          </a:p>
        </p:txBody>
      </p:sp>
      <p:sp>
        <p:nvSpPr>
          <p:cNvPr name="TextBox 18" id="18"/>
          <p:cNvSpPr txBox="true"/>
          <p:nvPr/>
        </p:nvSpPr>
        <p:spPr>
          <a:xfrm rot="0">
            <a:off x="12262957" y="5121735"/>
            <a:ext cx="844593" cy="213781"/>
          </a:xfrm>
          <a:prstGeom prst="rect">
            <a:avLst/>
          </a:prstGeom>
        </p:spPr>
        <p:txBody>
          <a:bodyPr anchor="t" rtlCol="false" tIns="0" lIns="0" bIns="0" rIns="0">
            <a:spAutoFit/>
          </a:bodyPr>
          <a:lstStyle/>
          <a:p>
            <a:pPr algn="ctr">
              <a:lnSpc>
                <a:spcPts val="1754"/>
              </a:lnSpc>
            </a:pPr>
            <a:r>
              <a:rPr lang="en-US" sz="1253">
                <a:solidFill>
                  <a:srgbClr val="FFFFFF"/>
                </a:solidFill>
                <a:latin typeface="Open Sans"/>
                <a:ea typeface="Open Sans"/>
                <a:cs typeface="Open Sans"/>
                <a:sym typeface="Open Sans"/>
              </a:rPr>
              <a:t>04/11/2025</a:t>
            </a:r>
          </a:p>
        </p:txBody>
      </p:sp>
      <p:sp>
        <p:nvSpPr>
          <p:cNvPr name="TextBox 19" id="19"/>
          <p:cNvSpPr txBox="true"/>
          <p:nvPr/>
        </p:nvSpPr>
        <p:spPr>
          <a:xfrm rot="0">
            <a:off x="13107549" y="7563673"/>
            <a:ext cx="844593" cy="213781"/>
          </a:xfrm>
          <a:prstGeom prst="rect">
            <a:avLst/>
          </a:prstGeom>
        </p:spPr>
        <p:txBody>
          <a:bodyPr anchor="t" rtlCol="false" tIns="0" lIns="0" bIns="0" rIns="0">
            <a:spAutoFit/>
          </a:bodyPr>
          <a:lstStyle/>
          <a:p>
            <a:pPr algn="ctr">
              <a:lnSpc>
                <a:spcPts val="1754"/>
              </a:lnSpc>
            </a:pPr>
            <a:r>
              <a:rPr lang="en-US" sz="1253">
                <a:solidFill>
                  <a:srgbClr val="FFFFFF"/>
                </a:solidFill>
                <a:latin typeface="Open Sans"/>
                <a:ea typeface="Open Sans"/>
                <a:cs typeface="Open Sans"/>
                <a:sym typeface="Open Sans"/>
              </a:rPr>
              <a:t>18/11/2025</a:t>
            </a:r>
          </a:p>
        </p:txBody>
      </p:sp>
      <p:sp>
        <p:nvSpPr>
          <p:cNvPr name="TextBox 20" id="20"/>
          <p:cNvSpPr txBox="true"/>
          <p:nvPr/>
        </p:nvSpPr>
        <p:spPr>
          <a:xfrm rot="0">
            <a:off x="14127640" y="5121735"/>
            <a:ext cx="844593" cy="213781"/>
          </a:xfrm>
          <a:prstGeom prst="rect">
            <a:avLst/>
          </a:prstGeom>
        </p:spPr>
        <p:txBody>
          <a:bodyPr anchor="t" rtlCol="false" tIns="0" lIns="0" bIns="0" rIns="0">
            <a:spAutoFit/>
          </a:bodyPr>
          <a:lstStyle/>
          <a:p>
            <a:pPr algn="ctr">
              <a:lnSpc>
                <a:spcPts val="1754"/>
              </a:lnSpc>
            </a:pPr>
            <a:r>
              <a:rPr lang="en-US" sz="1253">
                <a:solidFill>
                  <a:srgbClr val="FFFFFF"/>
                </a:solidFill>
                <a:latin typeface="Open Sans"/>
                <a:ea typeface="Open Sans"/>
                <a:cs typeface="Open Sans"/>
                <a:sym typeface="Open Sans"/>
              </a:rPr>
              <a:t>20/11/2025</a:t>
            </a:r>
          </a:p>
        </p:txBody>
      </p:sp>
      <p:sp>
        <p:nvSpPr>
          <p:cNvPr name="TextBox 21" id="21"/>
          <p:cNvSpPr txBox="true"/>
          <p:nvPr/>
        </p:nvSpPr>
        <p:spPr>
          <a:xfrm rot="0">
            <a:off x="15026493" y="7563673"/>
            <a:ext cx="844593" cy="213781"/>
          </a:xfrm>
          <a:prstGeom prst="rect">
            <a:avLst/>
          </a:prstGeom>
        </p:spPr>
        <p:txBody>
          <a:bodyPr anchor="t" rtlCol="false" tIns="0" lIns="0" bIns="0" rIns="0">
            <a:spAutoFit/>
          </a:bodyPr>
          <a:lstStyle/>
          <a:p>
            <a:pPr algn="ctr">
              <a:lnSpc>
                <a:spcPts val="1754"/>
              </a:lnSpc>
            </a:pPr>
            <a:r>
              <a:rPr lang="en-US" sz="1253">
                <a:solidFill>
                  <a:srgbClr val="FFFFFF"/>
                </a:solidFill>
                <a:latin typeface="Open Sans"/>
                <a:ea typeface="Open Sans"/>
                <a:cs typeface="Open Sans"/>
                <a:sym typeface="Open Sans"/>
              </a:rPr>
              <a:t>05/12/2025</a:t>
            </a:r>
          </a:p>
        </p:txBody>
      </p:sp>
      <p:sp>
        <p:nvSpPr>
          <p:cNvPr name="TextBox 22" id="22"/>
          <p:cNvSpPr txBox="true"/>
          <p:nvPr/>
        </p:nvSpPr>
        <p:spPr>
          <a:xfrm rot="0">
            <a:off x="901962" y="2724656"/>
            <a:ext cx="4358842" cy="3182938"/>
          </a:xfrm>
          <a:prstGeom prst="rect">
            <a:avLst/>
          </a:prstGeom>
        </p:spPr>
        <p:txBody>
          <a:bodyPr anchor="t" rtlCol="false" tIns="0" lIns="0" bIns="0" rIns="0">
            <a:spAutoFit/>
          </a:bodyPr>
          <a:lstStyle/>
          <a:p>
            <a:pPr algn="l">
              <a:lnSpc>
                <a:spcPts val="2799"/>
              </a:lnSpc>
            </a:pPr>
          </a:p>
          <a:p>
            <a:pPr algn="l" marL="431799" indent="-215899" lvl="1">
              <a:lnSpc>
                <a:spcPts val="2799"/>
              </a:lnSpc>
              <a:buFont typeface="Arial"/>
              <a:buChar char="•"/>
            </a:pPr>
            <a:r>
              <a:rPr lang="en-US" b="true" sz="1999">
                <a:solidFill>
                  <a:srgbClr val="00285D"/>
                </a:solidFill>
                <a:latin typeface="Poppins Bold"/>
                <a:ea typeface="Poppins Bold"/>
                <a:cs typeface="Poppins Bold"/>
                <a:sym typeface="Poppins Bold"/>
              </a:rPr>
              <a:t>Ágil con desarrollo en 9 sprints con tiempo de duración de 2 semanas.</a:t>
            </a:r>
          </a:p>
          <a:p>
            <a:pPr algn="l" marL="431799" indent="-215899" lvl="1">
              <a:lnSpc>
                <a:spcPts val="2799"/>
              </a:lnSpc>
              <a:buFont typeface="Arial"/>
              <a:buChar char="•"/>
            </a:pPr>
            <a:r>
              <a:rPr lang="en-US" b="true" sz="1999">
                <a:solidFill>
                  <a:srgbClr val="00285D"/>
                </a:solidFill>
                <a:latin typeface="Poppins Bold"/>
                <a:ea typeface="Poppins Bold"/>
                <a:cs typeface="Poppins Bold"/>
                <a:sym typeface="Poppins Bold"/>
              </a:rPr>
              <a:t>Plan de proyecto</a:t>
            </a:r>
          </a:p>
          <a:p>
            <a:pPr algn="l" marL="431799" indent="-215899" lvl="1">
              <a:lnSpc>
                <a:spcPts val="2799"/>
              </a:lnSpc>
              <a:buFont typeface="Arial"/>
              <a:buChar char="•"/>
            </a:pPr>
            <a:r>
              <a:rPr lang="en-US" b="true" sz="1999">
                <a:solidFill>
                  <a:srgbClr val="00285D"/>
                </a:solidFill>
                <a:latin typeface="Poppins Bold"/>
                <a:ea typeface="Poppins Bold"/>
                <a:cs typeface="Poppins Bold"/>
                <a:sym typeface="Poppins Bold"/>
              </a:rPr>
              <a:t>Product Backlog </a:t>
            </a:r>
          </a:p>
          <a:p>
            <a:pPr algn="l" marL="431799" indent="-215899" lvl="1">
              <a:lnSpc>
                <a:spcPts val="2799"/>
              </a:lnSpc>
              <a:buFont typeface="Arial"/>
              <a:buChar char="•"/>
            </a:pPr>
            <a:r>
              <a:rPr lang="en-US" b="true" sz="1999">
                <a:solidFill>
                  <a:srgbClr val="00285D"/>
                </a:solidFill>
                <a:latin typeface="Poppins Bold"/>
                <a:ea typeface="Poppins Bold"/>
                <a:cs typeface="Poppins Bold"/>
                <a:sym typeface="Poppins Bold"/>
              </a:rPr>
              <a:t>Matriz RACI</a:t>
            </a:r>
          </a:p>
          <a:p>
            <a:pPr algn="l" marL="431799" indent="-215899" lvl="1">
              <a:lnSpc>
                <a:spcPts val="2799"/>
              </a:lnSpc>
              <a:buFont typeface="Arial"/>
              <a:buChar char="•"/>
            </a:pPr>
            <a:r>
              <a:rPr lang="en-US" b="true" sz="1999">
                <a:solidFill>
                  <a:srgbClr val="00285D"/>
                </a:solidFill>
                <a:latin typeface="Poppins Bold"/>
                <a:ea typeface="Poppins Bold"/>
                <a:cs typeface="Poppins Bold"/>
                <a:sym typeface="Poppins Bold"/>
              </a:rPr>
              <a:t>Carta Gantt</a:t>
            </a:r>
          </a:p>
          <a:p>
            <a:pPr algn="l" marL="431799" indent="-215899" lvl="1">
              <a:lnSpc>
                <a:spcPts val="2799"/>
              </a:lnSpc>
              <a:buFont typeface="Arial"/>
              <a:buChar char="•"/>
            </a:pPr>
            <a:r>
              <a:rPr lang="en-US" b="true" sz="1999">
                <a:solidFill>
                  <a:srgbClr val="00285D"/>
                </a:solidFill>
                <a:latin typeface="Poppins Bold"/>
                <a:ea typeface="Poppins Bold"/>
                <a:cs typeface="Poppins Bold"/>
                <a:sym typeface="Poppins Bold"/>
              </a:rPr>
              <a:t>Roadmap</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9520506" y="-888503"/>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grpSp>
        <p:nvGrpSpPr>
          <p:cNvPr name="Group 3" id="3"/>
          <p:cNvGrpSpPr/>
          <p:nvPr/>
        </p:nvGrpSpPr>
        <p:grpSpPr>
          <a:xfrm rot="0">
            <a:off x="2489057" y="1434631"/>
            <a:ext cx="13609731" cy="7487284"/>
            <a:chOff x="0" y="0"/>
            <a:chExt cx="3584456" cy="1971960"/>
          </a:xfrm>
        </p:grpSpPr>
        <p:sp>
          <p:nvSpPr>
            <p:cNvPr name="Freeform 4" id="4"/>
            <p:cNvSpPr/>
            <p:nvPr/>
          </p:nvSpPr>
          <p:spPr>
            <a:xfrm flipH="false" flipV="false" rot="0">
              <a:off x="0" y="0"/>
              <a:ext cx="3584456" cy="1971960"/>
            </a:xfrm>
            <a:custGeom>
              <a:avLst/>
              <a:gdLst/>
              <a:ahLst/>
              <a:cxnLst/>
              <a:rect r="r" b="b" t="t" l="l"/>
              <a:pathLst>
                <a:path h="1971960" w="3584456">
                  <a:moveTo>
                    <a:pt x="11377" y="0"/>
                  </a:moveTo>
                  <a:lnTo>
                    <a:pt x="3573079" y="0"/>
                  </a:lnTo>
                  <a:cubicBezTo>
                    <a:pt x="3576096" y="0"/>
                    <a:pt x="3578990" y="1199"/>
                    <a:pt x="3581124" y="3332"/>
                  </a:cubicBezTo>
                  <a:cubicBezTo>
                    <a:pt x="3583257" y="5466"/>
                    <a:pt x="3584456" y="8360"/>
                    <a:pt x="3584456" y="11377"/>
                  </a:cubicBezTo>
                  <a:lnTo>
                    <a:pt x="3584456" y="1960583"/>
                  </a:lnTo>
                  <a:cubicBezTo>
                    <a:pt x="3584456" y="1963600"/>
                    <a:pt x="3583257" y="1966494"/>
                    <a:pt x="3581124" y="1968628"/>
                  </a:cubicBezTo>
                  <a:cubicBezTo>
                    <a:pt x="3578990" y="1970761"/>
                    <a:pt x="3576096" y="1971960"/>
                    <a:pt x="3573079" y="1971960"/>
                  </a:cubicBezTo>
                  <a:lnTo>
                    <a:pt x="11377" y="1971960"/>
                  </a:lnTo>
                  <a:cubicBezTo>
                    <a:pt x="8360" y="1971960"/>
                    <a:pt x="5466" y="1970761"/>
                    <a:pt x="3332" y="1968628"/>
                  </a:cubicBezTo>
                  <a:cubicBezTo>
                    <a:pt x="1199" y="1966494"/>
                    <a:pt x="0" y="1963600"/>
                    <a:pt x="0" y="1960583"/>
                  </a:cubicBezTo>
                  <a:lnTo>
                    <a:pt x="0" y="11377"/>
                  </a:lnTo>
                  <a:cubicBezTo>
                    <a:pt x="0" y="8360"/>
                    <a:pt x="1199" y="5466"/>
                    <a:pt x="3332" y="3332"/>
                  </a:cubicBezTo>
                  <a:cubicBezTo>
                    <a:pt x="5466" y="1199"/>
                    <a:pt x="8360" y="0"/>
                    <a:pt x="11377" y="0"/>
                  </a:cubicBezTo>
                  <a:close/>
                </a:path>
              </a:pathLst>
            </a:custGeom>
            <a:solidFill>
              <a:srgbClr val="003882"/>
            </a:solidFill>
          </p:spPr>
        </p:sp>
        <p:sp>
          <p:nvSpPr>
            <p:cNvPr name="TextBox 5" id="5"/>
            <p:cNvSpPr txBox="true"/>
            <p:nvPr/>
          </p:nvSpPr>
          <p:spPr>
            <a:xfrm>
              <a:off x="0" y="-57150"/>
              <a:ext cx="3584456" cy="2029110"/>
            </a:xfrm>
            <a:prstGeom prst="rect">
              <a:avLst/>
            </a:prstGeom>
          </p:spPr>
          <p:txBody>
            <a:bodyPr anchor="ctr" rtlCol="false" tIns="50800" lIns="50800" bIns="50800" rIns="50800"/>
            <a:lstStyle/>
            <a:p>
              <a:pPr algn="ctr">
                <a:lnSpc>
                  <a:spcPts val="2734"/>
                </a:lnSpc>
              </a:pPr>
            </a:p>
          </p:txBody>
        </p:sp>
      </p:grpSp>
      <p:sp>
        <p:nvSpPr>
          <p:cNvPr name="Freeform 6" id="6"/>
          <p:cNvSpPr/>
          <p:nvPr/>
        </p:nvSpPr>
        <p:spPr>
          <a:xfrm flipH="false" flipV="false" rot="0">
            <a:off x="15666340" y="0"/>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sp>
        <p:nvSpPr>
          <p:cNvPr name="Freeform 7" id="7"/>
          <p:cNvSpPr/>
          <p:nvPr/>
        </p:nvSpPr>
        <p:spPr>
          <a:xfrm flipH="false" flipV="false" rot="0">
            <a:off x="-1171772" y="2721805"/>
            <a:ext cx="10465695" cy="7565195"/>
          </a:xfrm>
          <a:custGeom>
            <a:avLst/>
            <a:gdLst/>
            <a:ahLst/>
            <a:cxnLst/>
            <a:rect r="r" b="b" t="t" l="l"/>
            <a:pathLst>
              <a:path h="7565195" w="10465695">
                <a:moveTo>
                  <a:pt x="0" y="0"/>
                </a:moveTo>
                <a:lnTo>
                  <a:pt x="10465695" y="0"/>
                </a:lnTo>
                <a:lnTo>
                  <a:pt x="10465695" y="7565195"/>
                </a:lnTo>
                <a:lnTo>
                  <a:pt x="0" y="7565195"/>
                </a:lnTo>
                <a:lnTo>
                  <a:pt x="0" y="0"/>
                </a:lnTo>
                <a:close/>
              </a:path>
            </a:pathLst>
          </a:custGeom>
          <a:blipFill>
            <a:blip r:embed="rId3"/>
            <a:stretch>
              <a:fillRect l="0" t="-14854" r="0" b="-10515"/>
            </a:stretch>
          </a:blipFill>
        </p:spPr>
      </p:sp>
      <p:sp>
        <p:nvSpPr>
          <p:cNvPr name="Freeform 8" id="8"/>
          <p:cNvSpPr/>
          <p:nvPr/>
        </p:nvSpPr>
        <p:spPr>
          <a:xfrm flipH="false" flipV="false" rot="0">
            <a:off x="2306088" y="233728"/>
            <a:ext cx="13975670" cy="9889089"/>
          </a:xfrm>
          <a:custGeom>
            <a:avLst/>
            <a:gdLst/>
            <a:ahLst/>
            <a:cxnLst/>
            <a:rect r="r" b="b" t="t" l="l"/>
            <a:pathLst>
              <a:path h="9889089" w="13975670">
                <a:moveTo>
                  <a:pt x="0" y="0"/>
                </a:moveTo>
                <a:lnTo>
                  <a:pt x="13975670" y="0"/>
                </a:lnTo>
                <a:lnTo>
                  <a:pt x="13975670" y="9889090"/>
                </a:lnTo>
                <a:lnTo>
                  <a:pt x="0" y="9889090"/>
                </a:lnTo>
                <a:lnTo>
                  <a:pt x="0" y="0"/>
                </a:lnTo>
                <a:close/>
              </a:path>
            </a:pathLst>
          </a:custGeom>
          <a:blipFill>
            <a:blip r:embed="rId5"/>
            <a:stretch>
              <a:fillRect l="0" t="0" r="-658" b="-15477"/>
            </a:stretch>
          </a:blipFill>
        </p:spPr>
      </p:sp>
      <p:sp>
        <p:nvSpPr>
          <p:cNvPr name="TextBox 9" id="9"/>
          <p:cNvSpPr txBox="true"/>
          <p:nvPr/>
        </p:nvSpPr>
        <p:spPr>
          <a:xfrm rot="0">
            <a:off x="8008328" y="3920558"/>
            <a:ext cx="3024357" cy="829790"/>
          </a:xfrm>
          <a:prstGeom prst="rect">
            <a:avLst/>
          </a:prstGeom>
        </p:spPr>
        <p:txBody>
          <a:bodyPr anchor="t" rtlCol="false" tIns="0" lIns="0" bIns="0" rIns="0">
            <a:spAutoFit/>
          </a:bodyPr>
          <a:lstStyle/>
          <a:p>
            <a:pPr algn="ctr">
              <a:lnSpc>
                <a:spcPts val="3375"/>
              </a:lnSpc>
            </a:pPr>
            <a:r>
              <a:rPr lang="en-US" b="true" sz="2411">
                <a:solidFill>
                  <a:srgbClr val="FFFFFF"/>
                </a:solidFill>
                <a:latin typeface="Open Sans Bold"/>
                <a:ea typeface="Open Sans Bold"/>
                <a:cs typeface="Open Sans Bold"/>
                <a:sym typeface="Open Sans Bold"/>
              </a:rPr>
              <a:t>Roles dentro del Proyecto</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0067559" y="-1260754"/>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sp>
        <p:nvSpPr>
          <p:cNvPr name="Freeform 3" id="3"/>
          <p:cNvSpPr/>
          <p:nvPr/>
        </p:nvSpPr>
        <p:spPr>
          <a:xfrm flipH="false" flipV="false" rot="0">
            <a:off x="15666340" y="0"/>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sp>
        <p:nvSpPr>
          <p:cNvPr name="TextBox 4" id="4"/>
          <p:cNvSpPr txBox="true"/>
          <p:nvPr/>
        </p:nvSpPr>
        <p:spPr>
          <a:xfrm rot="0">
            <a:off x="1262659" y="279762"/>
            <a:ext cx="15996641" cy="817194"/>
          </a:xfrm>
          <a:prstGeom prst="rect">
            <a:avLst/>
          </a:prstGeom>
        </p:spPr>
        <p:txBody>
          <a:bodyPr anchor="t" rtlCol="false" tIns="0" lIns="0" bIns="0" rIns="0">
            <a:spAutoFit/>
          </a:bodyPr>
          <a:lstStyle/>
          <a:p>
            <a:pPr algn="ctr">
              <a:lnSpc>
                <a:spcPts val="6407"/>
              </a:lnSpc>
              <a:spcBef>
                <a:spcPct val="0"/>
              </a:spcBef>
            </a:pPr>
            <a:r>
              <a:rPr lang="en-US" b="true" sz="4577">
                <a:solidFill>
                  <a:srgbClr val="28346D"/>
                </a:solidFill>
                <a:latin typeface="Poppins Bold"/>
                <a:ea typeface="Poppins Bold"/>
                <a:cs typeface="Poppins Bold"/>
                <a:sym typeface="Poppins Bold"/>
              </a:rPr>
              <a:t>DISEÑO Y MODELAMIENTO DE LA SOLUCIÓN</a:t>
            </a:r>
          </a:p>
        </p:txBody>
      </p:sp>
      <p:sp>
        <p:nvSpPr>
          <p:cNvPr name="AutoShape 5" id="5"/>
          <p:cNvSpPr/>
          <p:nvPr/>
        </p:nvSpPr>
        <p:spPr>
          <a:xfrm>
            <a:off x="9060108" y="1588797"/>
            <a:ext cx="0" cy="1149428"/>
          </a:xfrm>
          <a:prstGeom prst="line">
            <a:avLst/>
          </a:prstGeom>
          <a:ln cap="flat" w="28575">
            <a:solidFill>
              <a:srgbClr val="000000"/>
            </a:solidFill>
            <a:prstDash val="solid"/>
            <a:headEnd type="none" len="sm" w="sm"/>
            <a:tailEnd type="none" len="sm" w="sm"/>
          </a:ln>
        </p:spPr>
      </p:sp>
      <p:sp>
        <p:nvSpPr>
          <p:cNvPr name="AutoShape 6" id="6"/>
          <p:cNvSpPr/>
          <p:nvPr/>
        </p:nvSpPr>
        <p:spPr>
          <a:xfrm flipH="true">
            <a:off x="4833333" y="5634797"/>
            <a:ext cx="755324" cy="0"/>
          </a:xfrm>
          <a:prstGeom prst="line">
            <a:avLst/>
          </a:prstGeom>
          <a:ln cap="flat" w="28575">
            <a:solidFill>
              <a:srgbClr val="000000"/>
            </a:solidFill>
            <a:prstDash val="solid"/>
            <a:headEnd type="none" len="sm" w="sm"/>
            <a:tailEnd type="none" len="sm" w="sm"/>
          </a:ln>
        </p:spPr>
      </p:sp>
      <p:grpSp>
        <p:nvGrpSpPr>
          <p:cNvPr name="Group 7" id="7"/>
          <p:cNvGrpSpPr/>
          <p:nvPr/>
        </p:nvGrpSpPr>
        <p:grpSpPr>
          <a:xfrm rot="0">
            <a:off x="2364875" y="4892562"/>
            <a:ext cx="2794633" cy="1665905"/>
            <a:chOff x="0" y="0"/>
            <a:chExt cx="721641" cy="430177"/>
          </a:xfrm>
        </p:grpSpPr>
        <p:sp>
          <p:nvSpPr>
            <p:cNvPr name="Freeform 8" id="8"/>
            <p:cNvSpPr/>
            <p:nvPr/>
          </p:nvSpPr>
          <p:spPr>
            <a:xfrm flipH="false" flipV="false" rot="0">
              <a:off x="0" y="0"/>
              <a:ext cx="721641" cy="430177"/>
            </a:xfrm>
            <a:custGeom>
              <a:avLst/>
              <a:gdLst/>
              <a:ahLst/>
              <a:cxnLst/>
              <a:rect r="r" b="b" t="t" l="l"/>
              <a:pathLst>
                <a:path h="430177" w="721641">
                  <a:moveTo>
                    <a:pt x="83108" y="0"/>
                  </a:moveTo>
                  <a:lnTo>
                    <a:pt x="638533" y="0"/>
                  </a:lnTo>
                  <a:cubicBezTo>
                    <a:pt x="684432" y="0"/>
                    <a:pt x="721641" y="37209"/>
                    <a:pt x="721641" y="83108"/>
                  </a:cubicBezTo>
                  <a:lnTo>
                    <a:pt x="721641" y="347068"/>
                  </a:lnTo>
                  <a:cubicBezTo>
                    <a:pt x="721641" y="369110"/>
                    <a:pt x="712885" y="390249"/>
                    <a:pt x="697299" y="405835"/>
                  </a:cubicBezTo>
                  <a:cubicBezTo>
                    <a:pt x="681714" y="421421"/>
                    <a:pt x="660575" y="430177"/>
                    <a:pt x="638533" y="430177"/>
                  </a:cubicBezTo>
                  <a:lnTo>
                    <a:pt x="83108" y="430177"/>
                  </a:lnTo>
                  <a:cubicBezTo>
                    <a:pt x="61067" y="430177"/>
                    <a:pt x="39928" y="421421"/>
                    <a:pt x="24342" y="405835"/>
                  </a:cubicBezTo>
                  <a:cubicBezTo>
                    <a:pt x="8756" y="390249"/>
                    <a:pt x="0" y="369110"/>
                    <a:pt x="0" y="347068"/>
                  </a:cubicBezTo>
                  <a:lnTo>
                    <a:pt x="0" y="83108"/>
                  </a:lnTo>
                  <a:cubicBezTo>
                    <a:pt x="0" y="61067"/>
                    <a:pt x="8756" y="39928"/>
                    <a:pt x="24342" y="24342"/>
                  </a:cubicBezTo>
                  <a:cubicBezTo>
                    <a:pt x="39928" y="8756"/>
                    <a:pt x="61067" y="0"/>
                    <a:pt x="83108" y="0"/>
                  </a:cubicBezTo>
                  <a:close/>
                </a:path>
              </a:pathLst>
            </a:custGeom>
            <a:solidFill>
              <a:srgbClr val="E8E8E8"/>
            </a:solidFill>
            <a:ln w="28575" cap="rnd">
              <a:solidFill>
                <a:srgbClr val="5282FF"/>
              </a:solidFill>
              <a:prstDash val="solid"/>
              <a:round/>
            </a:ln>
          </p:spPr>
        </p:sp>
        <p:sp>
          <p:nvSpPr>
            <p:cNvPr name="TextBox 9" id="9"/>
            <p:cNvSpPr txBox="true"/>
            <p:nvPr/>
          </p:nvSpPr>
          <p:spPr>
            <a:xfrm>
              <a:off x="0" y="66675"/>
              <a:ext cx="721641" cy="363502"/>
            </a:xfrm>
            <a:prstGeom prst="rect">
              <a:avLst/>
            </a:prstGeom>
          </p:spPr>
          <p:txBody>
            <a:bodyPr anchor="ctr" rtlCol="false" tIns="50800" lIns="50800" bIns="50800" rIns="50800"/>
            <a:lstStyle/>
            <a:p>
              <a:pPr algn="ctr">
                <a:lnSpc>
                  <a:spcPts val="499"/>
                </a:lnSpc>
              </a:pPr>
            </a:p>
          </p:txBody>
        </p:sp>
      </p:grpSp>
      <p:sp>
        <p:nvSpPr>
          <p:cNvPr name="TextBox 10" id="10"/>
          <p:cNvSpPr txBox="true"/>
          <p:nvPr/>
        </p:nvSpPr>
        <p:spPr>
          <a:xfrm rot="0">
            <a:off x="2556182" y="5213707"/>
            <a:ext cx="2412020" cy="1033140"/>
          </a:xfrm>
          <a:prstGeom prst="rect">
            <a:avLst/>
          </a:prstGeom>
        </p:spPr>
        <p:txBody>
          <a:bodyPr anchor="t" rtlCol="false" tIns="0" lIns="0" bIns="0" rIns="0">
            <a:spAutoFit/>
          </a:bodyPr>
          <a:lstStyle/>
          <a:p>
            <a:pPr algn="ctr">
              <a:lnSpc>
                <a:spcPts val="2698"/>
              </a:lnSpc>
            </a:pPr>
            <a:r>
              <a:rPr lang="en-US" sz="2367" spc="47">
                <a:solidFill>
                  <a:srgbClr val="000000"/>
                </a:solidFill>
                <a:latin typeface="Montserrat"/>
                <a:ea typeface="Montserrat"/>
                <a:cs typeface="Montserrat"/>
                <a:sym typeface="Montserrat"/>
              </a:rPr>
              <a:t>Modelo Arquitectónico </a:t>
            </a:r>
          </a:p>
          <a:p>
            <a:pPr algn="ctr">
              <a:lnSpc>
                <a:spcPts val="2698"/>
              </a:lnSpc>
            </a:pPr>
            <a:r>
              <a:rPr lang="en-US" sz="2367" spc="47">
                <a:solidFill>
                  <a:srgbClr val="000000"/>
                </a:solidFill>
                <a:latin typeface="Montserrat"/>
                <a:ea typeface="Montserrat"/>
                <a:cs typeface="Montserrat"/>
                <a:sym typeface="Montserrat"/>
              </a:rPr>
              <a:t>4+1</a:t>
            </a:r>
          </a:p>
        </p:txBody>
      </p:sp>
      <p:grpSp>
        <p:nvGrpSpPr>
          <p:cNvPr name="Group 11" id="11"/>
          <p:cNvGrpSpPr/>
          <p:nvPr/>
        </p:nvGrpSpPr>
        <p:grpSpPr>
          <a:xfrm rot="0">
            <a:off x="6027076" y="5796517"/>
            <a:ext cx="2794633" cy="1159518"/>
            <a:chOff x="0" y="0"/>
            <a:chExt cx="721641" cy="299415"/>
          </a:xfrm>
        </p:grpSpPr>
        <p:sp>
          <p:nvSpPr>
            <p:cNvPr name="Freeform 12" id="12"/>
            <p:cNvSpPr/>
            <p:nvPr/>
          </p:nvSpPr>
          <p:spPr>
            <a:xfrm flipH="false" flipV="false" rot="0">
              <a:off x="0" y="0"/>
              <a:ext cx="721641" cy="299415"/>
            </a:xfrm>
            <a:custGeom>
              <a:avLst/>
              <a:gdLst/>
              <a:ahLst/>
              <a:cxnLst/>
              <a:rect r="r" b="b" t="t" l="l"/>
              <a:pathLst>
                <a:path h="299415" w="721641">
                  <a:moveTo>
                    <a:pt x="83108" y="0"/>
                  </a:moveTo>
                  <a:lnTo>
                    <a:pt x="638533" y="0"/>
                  </a:lnTo>
                  <a:cubicBezTo>
                    <a:pt x="684432" y="0"/>
                    <a:pt x="721641" y="37209"/>
                    <a:pt x="721641" y="83108"/>
                  </a:cubicBezTo>
                  <a:lnTo>
                    <a:pt x="721641" y="216307"/>
                  </a:lnTo>
                  <a:cubicBezTo>
                    <a:pt x="721641" y="238349"/>
                    <a:pt x="712885" y="259488"/>
                    <a:pt x="697299" y="275073"/>
                  </a:cubicBezTo>
                  <a:cubicBezTo>
                    <a:pt x="681714" y="290659"/>
                    <a:pt x="660575" y="299415"/>
                    <a:pt x="638533" y="299415"/>
                  </a:cubicBezTo>
                  <a:lnTo>
                    <a:pt x="83108" y="299415"/>
                  </a:lnTo>
                  <a:cubicBezTo>
                    <a:pt x="61067" y="299415"/>
                    <a:pt x="39928" y="290659"/>
                    <a:pt x="24342" y="275073"/>
                  </a:cubicBezTo>
                  <a:cubicBezTo>
                    <a:pt x="8756" y="259488"/>
                    <a:pt x="0" y="238349"/>
                    <a:pt x="0" y="216307"/>
                  </a:cubicBezTo>
                  <a:lnTo>
                    <a:pt x="0" y="83108"/>
                  </a:lnTo>
                  <a:cubicBezTo>
                    <a:pt x="0" y="61067"/>
                    <a:pt x="8756" y="39928"/>
                    <a:pt x="24342" y="24342"/>
                  </a:cubicBezTo>
                  <a:cubicBezTo>
                    <a:pt x="39928" y="8756"/>
                    <a:pt x="61067" y="0"/>
                    <a:pt x="83108" y="0"/>
                  </a:cubicBezTo>
                  <a:close/>
                </a:path>
              </a:pathLst>
            </a:custGeom>
            <a:solidFill>
              <a:srgbClr val="E8E8E8"/>
            </a:solidFill>
            <a:ln w="28575" cap="rnd">
              <a:solidFill>
                <a:srgbClr val="5282FF"/>
              </a:solidFill>
              <a:prstDash val="solid"/>
              <a:round/>
            </a:ln>
          </p:spPr>
        </p:sp>
        <p:sp>
          <p:nvSpPr>
            <p:cNvPr name="TextBox 13" id="13"/>
            <p:cNvSpPr txBox="true"/>
            <p:nvPr/>
          </p:nvSpPr>
          <p:spPr>
            <a:xfrm>
              <a:off x="0" y="66675"/>
              <a:ext cx="721641" cy="232740"/>
            </a:xfrm>
            <a:prstGeom prst="rect">
              <a:avLst/>
            </a:prstGeom>
          </p:spPr>
          <p:txBody>
            <a:bodyPr anchor="ctr" rtlCol="false" tIns="50800" lIns="50800" bIns="50800" rIns="50800"/>
            <a:lstStyle/>
            <a:p>
              <a:pPr algn="ctr" marL="0" indent="0" lvl="0">
                <a:lnSpc>
                  <a:spcPts val="499"/>
                </a:lnSpc>
                <a:spcBef>
                  <a:spcPct val="0"/>
                </a:spcBef>
              </a:pPr>
            </a:p>
          </p:txBody>
        </p:sp>
      </p:grpSp>
      <p:sp>
        <p:nvSpPr>
          <p:cNvPr name="TextBox 14" id="14"/>
          <p:cNvSpPr txBox="true"/>
          <p:nvPr/>
        </p:nvSpPr>
        <p:spPr>
          <a:xfrm rot="0">
            <a:off x="6256867" y="6190099"/>
            <a:ext cx="2335052" cy="321639"/>
          </a:xfrm>
          <a:prstGeom prst="rect">
            <a:avLst/>
          </a:prstGeom>
        </p:spPr>
        <p:txBody>
          <a:bodyPr anchor="t" rtlCol="false" tIns="0" lIns="0" bIns="0" rIns="0">
            <a:spAutoFit/>
          </a:bodyPr>
          <a:lstStyle/>
          <a:p>
            <a:pPr algn="ctr">
              <a:lnSpc>
                <a:spcPts val="2535"/>
              </a:lnSpc>
            </a:pPr>
            <a:r>
              <a:rPr lang="en-US" sz="2223" spc="44">
                <a:solidFill>
                  <a:srgbClr val="000000"/>
                </a:solidFill>
                <a:latin typeface="Montserrat"/>
                <a:ea typeface="Montserrat"/>
                <a:cs typeface="Montserrat"/>
                <a:sym typeface="Montserrat"/>
              </a:rPr>
              <a:t>Vista Proceso</a:t>
            </a:r>
          </a:p>
        </p:txBody>
      </p:sp>
      <p:grpSp>
        <p:nvGrpSpPr>
          <p:cNvPr name="Group 15" id="15"/>
          <p:cNvGrpSpPr/>
          <p:nvPr/>
        </p:nvGrpSpPr>
        <p:grpSpPr>
          <a:xfrm rot="0">
            <a:off x="6019697" y="1616346"/>
            <a:ext cx="2794633" cy="1163248"/>
            <a:chOff x="0" y="0"/>
            <a:chExt cx="721641" cy="300379"/>
          </a:xfrm>
        </p:grpSpPr>
        <p:sp>
          <p:nvSpPr>
            <p:cNvPr name="Freeform 16" id="16"/>
            <p:cNvSpPr/>
            <p:nvPr/>
          </p:nvSpPr>
          <p:spPr>
            <a:xfrm flipH="false" flipV="false" rot="0">
              <a:off x="0" y="0"/>
              <a:ext cx="721641" cy="300379"/>
            </a:xfrm>
            <a:custGeom>
              <a:avLst/>
              <a:gdLst/>
              <a:ahLst/>
              <a:cxnLst/>
              <a:rect r="r" b="b" t="t" l="l"/>
              <a:pathLst>
                <a:path h="300379" w="721641">
                  <a:moveTo>
                    <a:pt x="83108" y="0"/>
                  </a:moveTo>
                  <a:lnTo>
                    <a:pt x="638533" y="0"/>
                  </a:lnTo>
                  <a:cubicBezTo>
                    <a:pt x="684432" y="0"/>
                    <a:pt x="721641" y="37209"/>
                    <a:pt x="721641" y="83108"/>
                  </a:cubicBezTo>
                  <a:lnTo>
                    <a:pt x="721641" y="217270"/>
                  </a:lnTo>
                  <a:cubicBezTo>
                    <a:pt x="721641" y="239312"/>
                    <a:pt x="712885" y="260451"/>
                    <a:pt x="697299" y="276037"/>
                  </a:cubicBezTo>
                  <a:cubicBezTo>
                    <a:pt x="681714" y="291623"/>
                    <a:pt x="660575" y="300379"/>
                    <a:pt x="638533" y="300379"/>
                  </a:cubicBezTo>
                  <a:lnTo>
                    <a:pt x="83108" y="300379"/>
                  </a:lnTo>
                  <a:cubicBezTo>
                    <a:pt x="61067" y="300379"/>
                    <a:pt x="39928" y="291623"/>
                    <a:pt x="24342" y="276037"/>
                  </a:cubicBezTo>
                  <a:cubicBezTo>
                    <a:pt x="8756" y="260451"/>
                    <a:pt x="0" y="239312"/>
                    <a:pt x="0" y="217270"/>
                  </a:cubicBezTo>
                  <a:lnTo>
                    <a:pt x="0" y="83108"/>
                  </a:lnTo>
                  <a:cubicBezTo>
                    <a:pt x="0" y="61067"/>
                    <a:pt x="8756" y="39928"/>
                    <a:pt x="24342" y="24342"/>
                  </a:cubicBezTo>
                  <a:cubicBezTo>
                    <a:pt x="39928" y="8756"/>
                    <a:pt x="61067" y="0"/>
                    <a:pt x="83108" y="0"/>
                  </a:cubicBezTo>
                  <a:close/>
                </a:path>
              </a:pathLst>
            </a:custGeom>
            <a:solidFill>
              <a:srgbClr val="E8E8E8"/>
            </a:solidFill>
            <a:ln w="28575" cap="rnd">
              <a:solidFill>
                <a:srgbClr val="5282FF"/>
              </a:solidFill>
              <a:prstDash val="solid"/>
              <a:round/>
            </a:ln>
          </p:spPr>
        </p:sp>
        <p:sp>
          <p:nvSpPr>
            <p:cNvPr name="TextBox 17" id="17"/>
            <p:cNvSpPr txBox="true"/>
            <p:nvPr/>
          </p:nvSpPr>
          <p:spPr>
            <a:xfrm>
              <a:off x="0" y="66675"/>
              <a:ext cx="721641" cy="233704"/>
            </a:xfrm>
            <a:prstGeom prst="rect">
              <a:avLst/>
            </a:prstGeom>
          </p:spPr>
          <p:txBody>
            <a:bodyPr anchor="ctr" rtlCol="false" tIns="50800" lIns="50800" bIns="50800" rIns="50800"/>
            <a:lstStyle/>
            <a:p>
              <a:pPr algn="ctr" marL="0" indent="0" lvl="0">
                <a:lnSpc>
                  <a:spcPts val="499"/>
                </a:lnSpc>
                <a:spcBef>
                  <a:spcPct val="0"/>
                </a:spcBef>
              </a:pPr>
            </a:p>
          </p:txBody>
        </p:sp>
      </p:grpSp>
      <p:sp>
        <p:nvSpPr>
          <p:cNvPr name="TextBox 18" id="18"/>
          <p:cNvSpPr txBox="true"/>
          <p:nvPr/>
        </p:nvSpPr>
        <p:spPr>
          <a:xfrm rot="0">
            <a:off x="6249488" y="2041914"/>
            <a:ext cx="2335052" cy="321639"/>
          </a:xfrm>
          <a:prstGeom prst="rect">
            <a:avLst/>
          </a:prstGeom>
        </p:spPr>
        <p:txBody>
          <a:bodyPr anchor="t" rtlCol="false" tIns="0" lIns="0" bIns="0" rIns="0">
            <a:spAutoFit/>
          </a:bodyPr>
          <a:lstStyle/>
          <a:p>
            <a:pPr algn="ctr">
              <a:lnSpc>
                <a:spcPts val="2535"/>
              </a:lnSpc>
            </a:pPr>
            <a:r>
              <a:rPr lang="en-US" sz="2223" spc="44">
                <a:solidFill>
                  <a:srgbClr val="000000"/>
                </a:solidFill>
                <a:latin typeface="Montserrat"/>
                <a:ea typeface="Montserrat"/>
                <a:cs typeface="Montserrat"/>
                <a:sym typeface="Montserrat"/>
              </a:rPr>
              <a:t>Vista Lógica</a:t>
            </a:r>
          </a:p>
        </p:txBody>
      </p:sp>
      <p:grpSp>
        <p:nvGrpSpPr>
          <p:cNvPr name="Group 19" id="19"/>
          <p:cNvGrpSpPr/>
          <p:nvPr/>
        </p:nvGrpSpPr>
        <p:grpSpPr>
          <a:xfrm rot="0">
            <a:off x="9795781" y="1220780"/>
            <a:ext cx="6127343" cy="1855420"/>
            <a:chOff x="0" y="0"/>
            <a:chExt cx="8169791" cy="2473894"/>
          </a:xfrm>
        </p:grpSpPr>
        <p:grpSp>
          <p:nvGrpSpPr>
            <p:cNvPr name="Group 20" id="20"/>
            <p:cNvGrpSpPr/>
            <p:nvPr/>
          </p:nvGrpSpPr>
          <p:grpSpPr>
            <a:xfrm rot="0">
              <a:off x="0" y="0"/>
              <a:ext cx="6755916" cy="947931"/>
              <a:chOff x="0" y="0"/>
              <a:chExt cx="817668" cy="114728"/>
            </a:xfrm>
          </p:grpSpPr>
          <p:sp>
            <p:nvSpPr>
              <p:cNvPr name="Freeform 21" id="21"/>
              <p:cNvSpPr/>
              <p:nvPr/>
            </p:nvSpPr>
            <p:spPr>
              <a:xfrm flipH="false" flipV="false" rot="0">
                <a:off x="0" y="0"/>
                <a:ext cx="817668" cy="114728"/>
              </a:xfrm>
              <a:custGeom>
                <a:avLst/>
                <a:gdLst/>
                <a:ahLst/>
                <a:cxnLst/>
                <a:rect r="r" b="b" t="t" l="l"/>
                <a:pathLst>
                  <a:path h="114728" w="817668">
                    <a:moveTo>
                      <a:pt x="18747" y="0"/>
                    </a:moveTo>
                    <a:lnTo>
                      <a:pt x="798921" y="0"/>
                    </a:lnTo>
                    <a:cubicBezTo>
                      <a:pt x="809275" y="0"/>
                      <a:pt x="817668" y="8393"/>
                      <a:pt x="817668" y="18747"/>
                    </a:cubicBezTo>
                    <a:lnTo>
                      <a:pt x="817668" y="95981"/>
                    </a:lnTo>
                    <a:cubicBezTo>
                      <a:pt x="817668" y="106335"/>
                      <a:pt x="809275" y="114728"/>
                      <a:pt x="798921" y="114728"/>
                    </a:cubicBezTo>
                    <a:lnTo>
                      <a:pt x="18747" y="114728"/>
                    </a:lnTo>
                    <a:cubicBezTo>
                      <a:pt x="13775" y="114728"/>
                      <a:pt x="9007" y="112753"/>
                      <a:pt x="5491" y="109237"/>
                    </a:cubicBezTo>
                    <a:cubicBezTo>
                      <a:pt x="1975" y="105721"/>
                      <a:pt x="0" y="100953"/>
                      <a:pt x="0" y="95981"/>
                    </a:cubicBezTo>
                    <a:lnTo>
                      <a:pt x="0" y="18747"/>
                    </a:lnTo>
                    <a:cubicBezTo>
                      <a:pt x="0" y="8393"/>
                      <a:pt x="8393" y="0"/>
                      <a:pt x="18747" y="0"/>
                    </a:cubicBezTo>
                    <a:close/>
                  </a:path>
                </a:pathLst>
              </a:custGeom>
              <a:solidFill>
                <a:srgbClr val="E8E8E8"/>
              </a:solidFill>
              <a:ln w="28575" cap="sq">
                <a:solidFill>
                  <a:srgbClr val="5282FF"/>
                </a:solidFill>
                <a:prstDash val="solid"/>
                <a:miter/>
              </a:ln>
            </p:spPr>
          </p:sp>
          <p:sp>
            <p:nvSpPr>
              <p:cNvPr name="TextBox 22" id="22"/>
              <p:cNvSpPr txBox="true"/>
              <p:nvPr/>
            </p:nvSpPr>
            <p:spPr>
              <a:xfrm>
                <a:off x="0" y="66675"/>
                <a:ext cx="817668" cy="48053"/>
              </a:xfrm>
              <a:prstGeom prst="rect">
                <a:avLst/>
              </a:prstGeom>
            </p:spPr>
            <p:txBody>
              <a:bodyPr anchor="ctr" rtlCol="false" tIns="50800" lIns="50800" bIns="50800" rIns="50800"/>
              <a:lstStyle/>
              <a:p>
                <a:pPr algn="ctr" marL="0" indent="0" lvl="0">
                  <a:lnSpc>
                    <a:spcPts val="499"/>
                  </a:lnSpc>
                  <a:spcBef>
                    <a:spcPct val="0"/>
                  </a:spcBef>
                </a:pPr>
              </a:p>
            </p:txBody>
          </p:sp>
        </p:grpSp>
        <p:grpSp>
          <p:nvGrpSpPr>
            <p:cNvPr name="Group 23" id="23"/>
            <p:cNvGrpSpPr/>
            <p:nvPr/>
          </p:nvGrpSpPr>
          <p:grpSpPr>
            <a:xfrm rot="0">
              <a:off x="0" y="1525962"/>
              <a:ext cx="6755916" cy="947931"/>
              <a:chOff x="0" y="0"/>
              <a:chExt cx="817668" cy="114728"/>
            </a:xfrm>
          </p:grpSpPr>
          <p:sp>
            <p:nvSpPr>
              <p:cNvPr name="Freeform 24" id="24"/>
              <p:cNvSpPr/>
              <p:nvPr/>
            </p:nvSpPr>
            <p:spPr>
              <a:xfrm flipH="false" flipV="false" rot="0">
                <a:off x="0" y="0"/>
                <a:ext cx="817668" cy="114728"/>
              </a:xfrm>
              <a:custGeom>
                <a:avLst/>
                <a:gdLst/>
                <a:ahLst/>
                <a:cxnLst/>
                <a:rect r="r" b="b" t="t" l="l"/>
                <a:pathLst>
                  <a:path h="114728" w="817668">
                    <a:moveTo>
                      <a:pt x="18747" y="0"/>
                    </a:moveTo>
                    <a:lnTo>
                      <a:pt x="798921" y="0"/>
                    </a:lnTo>
                    <a:cubicBezTo>
                      <a:pt x="809275" y="0"/>
                      <a:pt x="817668" y="8393"/>
                      <a:pt x="817668" y="18747"/>
                    </a:cubicBezTo>
                    <a:lnTo>
                      <a:pt x="817668" y="95981"/>
                    </a:lnTo>
                    <a:cubicBezTo>
                      <a:pt x="817668" y="106335"/>
                      <a:pt x="809275" y="114728"/>
                      <a:pt x="798921" y="114728"/>
                    </a:cubicBezTo>
                    <a:lnTo>
                      <a:pt x="18747" y="114728"/>
                    </a:lnTo>
                    <a:cubicBezTo>
                      <a:pt x="13775" y="114728"/>
                      <a:pt x="9007" y="112753"/>
                      <a:pt x="5491" y="109237"/>
                    </a:cubicBezTo>
                    <a:cubicBezTo>
                      <a:pt x="1975" y="105721"/>
                      <a:pt x="0" y="100953"/>
                      <a:pt x="0" y="95981"/>
                    </a:cubicBezTo>
                    <a:lnTo>
                      <a:pt x="0" y="18747"/>
                    </a:lnTo>
                    <a:cubicBezTo>
                      <a:pt x="0" y="8393"/>
                      <a:pt x="8393" y="0"/>
                      <a:pt x="18747" y="0"/>
                    </a:cubicBezTo>
                    <a:close/>
                  </a:path>
                </a:pathLst>
              </a:custGeom>
              <a:solidFill>
                <a:srgbClr val="E8E8E8"/>
              </a:solidFill>
              <a:ln w="28575" cap="sq">
                <a:solidFill>
                  <a:srgbClr val="5282FF"/>
                </a:solidFill>
                <a:prstDash val="solid"/>
                <a:miter/>
              </a:ln>
            </p:spPr>
          </p:sp>
          <p:sp>
            <p:nvSpPr>
              <p:cNvPr name="TextBox 25" id="25"/>
              <p:cNvSpPr txBox="true"/>
              <p:nvPr/>
            </p:nvSpPr>
            <p:spPr>
              <a:xfrm>
                <a:off x="0" y="66675"/>
                <a:ext cx="817668" cy="48053"/>
              </a:xfrm>
              <a:prstGeom prst="rect">
                <a:avLst/>
              </a:prstGeom>
            </p:spPr>
            <p:txBody>
              <a:bodyPr anchor="ctr" rtlCol="false" tIns="50800" lIns="50800" bIns="50800" rIns="50800"/>
              <a:lstStyle/>
              <a:p>
                <a:pPr algn="ctr" marL="0" indent="0" lvl="0">
                  <a:lnSpc>
                    <a:spcPts val="499"/>
                  </a:lnSpc>
                  <a:spcBef>
                    <a:spcPct val="0"/>
                  </a:spcBef>
                </a:pPr>
              </a:p>
            </p:txBody>
          </p:sp>
        </p:grpSp>
        <p:sp>
          <p:nvSpPr>
            <p:cNvPr name="TextBox 26" id="26"/>
            <p:cNvSpPr txBox="true"/>
            <p:nvPr/>
          </p:nvSpPr>
          <p:spPr>
            <a:xfrm rot="0">
              <a:off x="210149" y="1784893"/>
              <a:ext cx="7959642" cy="449120"/>
            </a:xfrm>
            <a:prstGeom prst="rect">
              <a:avLst/>
            </a:prstGeom>
          </p:spPr>
          <p:txBody>
            <a:bodyPr anchor="t" rtlCol="false" tIns="0" lIns="0" bIns="0" rIns="0">
              <a:spAutoFit/>
            </a:bodyPr>
            <a:lstStyle/>
            <a:p>
              <a:pPr algn="l">
                <a:lnSpc>
                  <a:spcPts val="2575"/>
                </a:lnSpc>
              </a:pPr>
              <a:r>
                <a:rPr lang="en-US" sz="2341">
                  <a:solidFill>
                    <a:srgbClr val="000000"/>
                  </a:solidFill>
                  <a:latin typeface="Montserrat"/>
                  <a:ea typeface="Montserrat"/>
                  <a:cs typeface="Montserrat"/>
                  <a:sym typeface="Montserrat"/>
                </a:rPr>
                <a:t>Diagrama de Componentes</a:t>
              </a:r>
            </a:p>
          </p:txBody>
        </p:sp>
      </p:grpSp>
      <p:sp>
        <p:nvSpPr>
          <p:cNvPr name="TextBox 27" id="27"/>
          <p:cNvSpPr txBox="true"/>
          <p:nvPr/>
        </p:nvSpPr>
        <p:spPr>
          <a:xfrm rot="0">
            <a:off x="9902090" y="1463472"/>
            <a:ext cx="3676153" cy="324798"/>
          </a:xfrm>
          <a:prstGeom prst="rect">
            <a:avLst/>
          </a:prstGeom>
        </p:spPr>
        <p:txBody>
          <a:bodyPr anchor="t" rtlCol="false" tIns="0" lIns="0" bIns="0" rIns="0">
            <a:spAutoFit/>
          </a:bodyPr>
          <a:lstStyle/>
          <a:p>
            <a:pPr algn="l">
              <a:lnSpc>
                <a:spcPts val="2566"/>
              </a:lnSpc>
            </a:pPr>
            <a:r>
              <a:rPr lang="en-US" sz="2333">
                <a:solidFill>
                  <a:srgbClr val="000000"/>
                </a:solidFill>
                <a:latin typeface="Montserrat"/>
                <a:ea typeface="Montserrat"/>
                <a:cs typeface="Montserrat"/>
                <a:sym typeface="Montserrat"/>
              </a:rPr>
              <a:t>Diagrama de Clases</a:t>
            </a:r>
          </a:p>
        </p:txBody>
      </p:sp>
      <p:grpSp>
        <p:nvGrpSpPr>
          <p:cNvPr name="Group 28" id="28"/>
          <p:cNvGrpSpPr/>
          <p:nvPr/>
        </p:nvGrpSpPr>
        <p:grpSpPr>
          <a:xfrm rot="0">
            <a:off x="6046888" y="3864350"/>
            <a:ext cx="2794633" cy="1016439"/>
            <a:chOff x="0" y="0"/>
            <a:chExt cx="721641" cy="262469"/>
          </a:xfrm>
        </p:grpSpPr>
        <p:sp>
          <p:nvSpPr>
            <p:cNvPr name="Freeform 29" id="29"/>
            <p:cNvSpPr/>
            <p:nvPr/>
          </p:nvSpPr>
          <p:spPr>
            <a:xfrm flipH="false" flipV="false" rot="0">
              <a:off x="0" y="0"/>
              <a:ext cx="721641" cy="262469"/>
            </a:xfrm>
            <a:custGeom>
              <a:avLst/>
              <a:gdLst/>
              <a:ahLst/>
              <a:cxnLst/>
              <a:rect r="r" b="b" t="t" l="l"/>
              <a:pathLst>
                <a:path h="262469" w="721641">
                  <a:moveTo>
                    <a:pt x="83108" y="0"/>
                  </a:moveTo>
                  <a:lnTo>
                    <a:pt x="638533" y="0"/>
                  </a:lnTo>
                  <a:cubicBezTo>
                    <a:pt x="684432" y="0"/>
                    <a:pt x="721641" y="37209"/>
                    <a:pt x="721641" y="83108"/>
                  </a:cubicBezTo>
                  <a:lnTo>
                    <a:pt x="721641" y="179361"/>
                  </a:lnTo>
                  <a:cubicBezTo>
                    <a:pt x="721641" y="201402"/>
                    <a:pt x="712885" y="222541"/>
                    <a:pt x="697299" y="238127"/>
                  </a:cubicBezTo>
                  <a:cubicBezTo>
                    <a:pt x="681714" y="253713"/>
                    <a:pt x="660575" y="262469"/>
                    <a:pt x="638533" y="262469"/>
                  </a:cubicBezTo>
                  <a:lnTo>
                    <a:pt x="83108" y="262469"/>
                  </a:lnTo>
                  <a:cubicBezTo>
                    <a:pt x="61067" y="262469"/>
                    <a:pt x="39928" y="253713"/>
                    <a:pt x="24342" y="238127"/>
                  </a:cubicBezTo>
                  <a:cubicBezTo>
                    <a:pt x="8756" y="222541"/>
                    <a:pt x="0" y="201402"/>
                    <a:pt x="0" y="179361"/>
                  </a:cubicBezTo>
                  <a:lnTo>
                    <a:pt x="0" y="83108"/>
                  </a:lnTo>
                  <a:cubicBezTo>
                    <a:pt x="0" y="61067"/>
                    <a:pt x="8756" y="39928"/>
                    <a:pt x="24342" y="24342"/>
                  </a:cubicBezTo>
                  <a:cubicBezTo>
                    <a:pt x="39928" y="8756"/>
                    <a:pt x="61067" y="0"/>
                    <a:pt x="83108" y="0"/>
                  </a:cubicBezTo>
                  <a:close/>
                </a:path>
              </a:pathLst>
            </a:custGeom>
            <a:solidFill>
              <a:srgbClr val="E8E8E8"/>
            </a:solidFill>
            <a:ln w="28575" cap="rnd">
              <a:solidFill>
                <a:srgbClr val="5282FF"/>
              </a:solidFill>
              <a:prstDash val="solid"/>
              <a:round/>
            </a:ln>
          </p:spPr>
        </p:sp>
        <p:sp>
          <p:nvSpPr>
            <p:cNvPr name="TextBox 30" id="30"/>
            <p:cNvSpPr txBox="true"/>
            <p:nvPr/>
          </p:nvSpPr>
          <p:spPr>
            <a:xfrm>
              <a:off x="0" y="66675"/>
              <a:ext cx="721641" cy="195794"/>
            </a:xfrm>
            <a:prstGeom prst="rect">
              <a:avLst/>
            </a:prstGeom>
          </p:spPr>
          <p:txBody>
            <a:bodyPr anchor="ctr" rtlCol="false" tIns="50800" lIns="50800" bIns="50800" rIns="50800"/>
            <a:lstStyle/>
            <a:p>
              <a:pPr algn="ctr" marL="0" indent="0" lvl="0">
                <a:lnSpc>
                  <a:spcPts val="499"/>
                </a:lnSpc>
                <a:spcBef>
                  <a:spcPct val="0"/>
                </a:spcBef>
              </a:pPr>
            </a:p>
          </p:txBody>
        </p:sp>
      </p:grpSp>
      <p:sp>
        <p:nvSpPr>
          <p:cNvPr name="TextBox 31" id="31"/>
          <p:cNvSpPr txBox="true"/>
          <p:nvPr/>
        </p:nvSpPr>
        <p:spPr>
          <a:xfrm rot="0">
            <a:off x="6256867" y="4174094"/>
            <a:ext cx="2335052" cy="321639"/>
          </a:xfrm>
          <a:prstGeom prst="rect">
            <a:avLst/>
          </a:prstGeom>
        </p:spPr>
        <p:txBody>
          <a:bodyPr anchor="t" rtlCol="false" tIns="0" lIns="0" bIns="0" rIns="0">
            <a:spAutoFit/>
          </a:bodyPr>
          <a:lstStyle/>
          <a:p>
            <a:pPr algn="ctr">
              <a:lnSpc>
                <a:spcPts val="2535"/>
              </a:lnSpc>
            </a:pPr>
            <a:r>
              <a:rPr lang="en-US" sz="2223" spc="44">
                <a:solidFill>
                  <a:srgbClr val="000000"/>
                </a:solidFill>
                <a:latin typeface="Montserrat"/>
                <a:ea typeface="Montserrat"/>
                <a:cs typeface="Montserrat"/>
                <a:sym typeface="Montserrat"/>
              </a:rPr>
              <a:t>Vista Desarrollo </a:t>
            </a:r>
          </a:p>
        </p:txBody>
      </p:sp>
      <p:grpSp>
        <p:nvGrpSpPr>
          <p:cNvPr name="Group 32" id="32"/>
          <p:cNvGrpSpPr/>
          <p:nvPr/>
        </p:nvGrpSpPr>
        <p:grpSpPr>
          <a:xfrm rot="0">
            <a:off x="6046888" y="7362649"/>
            <a:ext cx="2794633" cy="1159518"/>
            <a:chOff x="0" y="0"/>
            <a:chExt cx="721641" cy="299415"/>
          </a:xfrm>
        </p:grpSpPr>
        <p:sp>
          <p:nvSpPr>
            <p:cNvPr name="Freeform 33" id="33"/>
            <p:cNvSpPr/>
            <p:nvPr/>
          </p:nvSpPr>
          <p:spPr>
            <a:xfrm flipH="false" flipV="false" rot="0">
              <a:off x="0" y="0"/>
              <a:ext cx="721641" cy="299415"/>
            </a:xfrm>
            <a:custGeom>
              <a:avLst/>
              <a:gdLst/>
              <a:ahLst/>
              <a:cxnLst/>
              <a:rect r="r" b="b" t="t" l="l"/>
              <a:pathLst>
                <a:path h="299415" w="721641">
                  <a:moveTo>
                    <a:pt x="83108" y="0"/>
                  </a:moveTo>
                  <a:lnTo>
                    <a:pt x="638533" y="0"/>
                  </a:lnTo>
                  <a:cubicBezTo>
                    <a:pt x="684432" y="0"/>
                    <a:pt x="721641" y="37209"/>
                    <a:pt x="721641" y="83108"/>
                  </a:cubicBezTo>
                  <a:lnTo>
                    <a:pt x="721641" y="216307"/>
                  </a:lnTo>
                  <a:cubicBezTo>
                    <a:pt x="721641" y="238349"/>
                    <a:pt x="712885" y="259488"/>
                    <a:pt x="697299" y="275073"/>
                  </a:cubicBezTo>
                  <a:cubicBezTo>
                    <a:pt x="681714" y="290659"/>
                    <a:pt x="660575" y="299415"/>
                    <a:pt x="638533" y="299415"/>
                  </a:cubicBezTo>
                  <a:lnTo>
                    <a:pt x="83108" y="299415"/>
                  </a:lnTo>
                  <a:cubicBezTo>
                    <a:pt x="61067" y="299415"/>
                    <a:pt x="39928" y="290659"/>
                    <a:pt x="24342" y="275073"/>
                  </a:cubicBezTo>
                  <a:cubicBezTo>
                    <a:pt x="8756" y="259488"/>
                    <a:pt x="0" y="238349"/>
                    <a:pt x="0" y="216307"/>
                  </a:cubicBezTo>
                  <a:lnTo>
                    <a:pt x="0" y="83108"/>
                  </a:lnTo>
                  <a:cubicBezTo>
                    <a:pt x="0" y="61067"/>
                    <a:pt x="8756" y="39928"/>
                    <a:pt x="24342" y="24342"/>
                  </a:cubicBezTo>
                  <a:cubicBezTo>
                    <a:pt x="39928" y="8756"/>
                    <a:pt x="61067" y="0"/>
                    <a:pt x="83108" y="0"/>
                  </a:cubicBezTo>
                  <a:close/>
                </a:path>
              </a:pathLst>
            </a:custGeom>
            <a:solidFill>
              <a:srgbClr val="E8E8E8"/>
            </a:solidFill>
            <a:ln w="28575" cap="rnd">
              <a:solidFill>
                <a:srgbClr val="5282FF"/>
              </a:solidFill>
              <a:prstDash val="solid"/>
              <a:round/>
            </a:ln>
          </p:spPr>
        </p:sp>
        <p:sp>
          <p:nvSpPr>
            <p:cNvPr name="TextBox 34" id="34"/>
            <p:cNvSpPr txBox="true"/>
            <p:nvPr/>
          </p:nvSpPr>
          <p:spPr>
            <a:xfrm>
              <a:off x="0" y="66675"/>
              <a:ext cx="721641" cy="232740"/>
            </a:xfrm>
            <a:prstGeom prst="rect">
              <a:avLst/>
            </a:prstGeom>
          </p:spPr>
          <p:txBody>
            <a:bodyPr anchor="ctr" rtlCol="false" tIns="50800" lIns="50800" bIns="50800" rIns="50800"/>
            <a:lstStyle/>
            <a:p>
              <a:pPr algn="ctr" marL="0" indent="0" lvl="0">
                <a:lnSpc>
                  <a:spcPts val="499"/>
                </a:lnSpc>
                <a:spcBef>
                  <a:spcPct val="0"/>
                </a:spcBef>
              </a:pPr>
            </a:p>
          </p:txBody>
        </p:sp>
      </p:grpSp>
      <p:sp>
        <p:nvSpPr>
          <p:cNvPr name="TextBox 35" id="35"/>
          <p:cNvSpPr txBox="true"/>
          <p:nvPr/>
        </p:nvSpPr>
        <p:spPr>
          <a:xfrm rot="0">
            <a:off x="6276678" y="7756231"/>
            <a:ext cx="2335052" cy="321639"/>
          </a:xfrm>
          <a:prstGeom prst="rect">
            <a:avLst/>
          </a:prstGeom>
        </p:spPr>
        <p:txBody>
          <a:bodyPr anchor="t" rtlCol="false" tIns="0" lIns="0" bIns="0" rIns="0">
            <a:spAutoFit/>
          </a:bodyPr>
          <a:lstStyle/>
          <a:p>
            <a:pPr algn="ctr">
              <a:lnSpc>
                <a:spcPts val="2535"/>
              </a:lnSpc>
            </a:pPr>
            <a:r>
              <a:rPr lang="en-US" sz="2223" spc="44">
                <a:solidFill>
                  <a:srgbClr val="000000"/>
                </a:solidFill>
                <a:latin typeface="Montserrat"/>
                <a:ea typeface="Montserrat"/>
                <a:cs typeface="Montserrat"/>
                <a:sym typeface="Montserrat"/>
              </a:rPr>
              <a:t>Vista Fisica</a:t>
            </a:r>
          </a:p>
        </p:txBody>
      </p:sp>
      <p:grpSp>
        <p:nvGrpSpPr>
          <p:cNvPr name="Group 36" id="36"/>
          <p:cNvGrpSpPr/>
          <p:nvPr/>
        </p:nvGrpSpPr>
        <p:grpSpPr>
          <a:xfrm rot="0">
            <a:off x="6046888" y="8777925"/>
            <a:ext cx="2794633" cy="1159518"/>
            <a:chOff x="0" y="0"/>
            <a:chExt cx="721641" cy="299415"/>
          </a:xfrm>
        </p:grpSpPr>
        <p:sp>
          <p:nvSpPr>
            <p:cNvPr name="Freeform 37" id="37"/>
            <p:cNvSpPr/>
            <p:nvPr/>
          </p:nvSpPr>
          <p:spPr>
            <a:xfrm flipH="false" flipV="false" rot="0">
              <a:off x="0" y="0"/>
              <a:ext cx="721641" cy="299415"/>
            </a:xfrm>
            <a:custGeom>
              <a:avLst/>
              <a:gdLst/>
              <a:ahLst/>
              <a:cxnLst/>
              <a:rect r="r" b="b" t="t" l="l"/>
              <a:pathLst>
                <a:path h="299415" w="721641">
                  <a:moveTo>
                    <a:pt x="83108" y="0"/>
                  </a:moveTo>
                  <a:lnTo>
                    <a:pt x="638533" y="0"/>
                  </a:lnTo>
                  <a:cubicBezTo>
                    <a:pt x="684432" y="0"/>
                    <a:pt x="721641" y="37209"/>
                    <a:pt x="721641" y="83108"/>
                  </a:cubicBezTo>
                  <a:lnTo>
                    <a:pt x="721641" y="216307"/>
                  </a:lnTo>
                  <a:cubicBezTo>
                    <a:pt x="721641" y="238349"/>
                    <a:pt x="712885" y="259488"/>
                    <a:pt x="697299" y="275073"/>
                  </a:cubicBezTo>
                  <a:cubicBezTo>
                    <a:pt x="681714" y="290659"/>
                    <a:pt x="660575" y="299415"/>
                    <a:pt x="638533" y="299415"/>
                  </a:cubicBezTo>
                  <a:lnTo>
                    <a:pt x="83108" y="299415"/>
                  </a:lnTo>
                  <a:cubicBezTo>
                    <a:pt x="61067" y="299415"/>
                    <a:pt x="39928" y="290659"/>
                    <a:pt x="24342" y="275073"/>
                  </a:cubicBezTo>
                  <a:cubicBezTo>
                    <a:pt x="8756" y="259488"/>
                    <a:pt x="0" y="238349"/>
                    <a:pt x="0" y="216307"/>
                  </a:cubicBezTo>
                  <a:lnTo>
                    <a:pt x="0" y="83108"/>
                  </a:lnTo>
                  <a:cubicBezTo>
                    <a:pt x="0" y="61067"/>
                    <a:pt x="8756" y="39928"/>
                    <a:pt x="24342" y="24342"/>
                  </a:cubicBezTo>
                  <a:cubicBezTo>
                    <a:pt x="39928" y="8756"/>
                    <a:pt x="61067" y="0"/>
                    <a:pt x="83108" y="0"/>
                  </a:cubicBezTo>
                  <a:close/>
                </a:path>
              </a:pathLst>
            </a:custGeom>
            <a:solidFill>
              <a:srgbClr val="E8E8E8"/>
            </a:solidFill>
            <a:ln w="28575" cap="rnd">
              <a:solidFill>
                <a:srgbClr val="5282FF"/>
              </a:solidFill>
              <a:prstDash val="solid"/>
              <a:round/>
            </a:ln>
          </p:spPr>
        </p:sp>
        <p:sp>
          <p:nvSpPr>
            <p:cNvPr name="TextBox 38" id="38"/>
            <p:cNvSpPr txBox="true"/>
            <p:nvPr/>
          </p:nvSpPr>
          <p:spPr>
            <a:xfrm>
              <a:off x="0" y="66675"/>
              <a:ext cx="721641" cy="232740"/>
            </a:xfrm>
            <a:prstGeom prst="rect">
              <a:avLst/>
            </a:prstGeom>
          </p:spPr>
          <p:txBody>
            <a:bodyPr anchor="ctr" rtlCol="false" tIns="50800" lIns="50800" bIns="50800" rIns="50800"/>
            <a:lstStyle/>
            <a:p>
              <a:pPr algn="ctr" marL="0" indent="0" lvl="0">
                <a:lnSpc>
                  <a:spcPts val="499"/>
                </a:lnSpc>
                <a:spcBef>
                  <a:spcPct val="0"/>
                </a:spcBef>
              </a:pPr>
            </a:p>
          </p:txBody>
        </p:sp>
      </p:grpSp>
      <p:sp>
        <p:nvSpPr>
          <p:cNvPr name="TextBox 39" id="39"/>
          <p:cNvSpPr txBox="true"/>
          <p:nvPr/>
        </p:nvSpPr>
        <p:spPr>
          <a:xfrm rot="0">
            <a:off x="6276678" y="9185169"/>
            <a:ext cx="2335052" cy="321639"/>
          </a:xfrm>
          <a:prstGeom prst="rect">
            <a:avLst/>
          </a:prstGeom>
        </p:spPr>
        <p:txBody>
          <a:bodyPr anchor="t" rtlCol="false" tIns="0" lIns="0" bIns="0" rIns="0">
            <a:spAutoFit/>
          </a:bodyPr>
          <a:lstStyle/>
          <a:p>
            <a:pPr algn="ctr">
              <a:lnSpc>
                <a:spcPts val="2535"/>
              </a:lnSpc>
            </a:pPr>
            <a:r>
              <a:rPr lang="en-US" sz="2223" spc="44">
                <a:solidFill>
                  <a:srgbClr val="000000"/>
                </a:solidFill>
                <a:latin typeface="Montserrat"/>
                <a:ea typeface="Montserrat"/>
                <a:cs typeface="Montserrat"/>
                <a:sym typeface="Montserrat"/>
              </a:rPr>
              <a:t>Escenarios</a:t>
            </a:r>
          </a:p>
        </p:txBody>
      </p:sp>
      <p:sp>
        <p:nvSpPr>
          <p:cNvPr name="AutoShape 40" id="40"/>
          <p:cNvSpPr/>
          <p:nvPr/>
        </p:nvSpPr>
        <p:spPr>
          <a:xfrm>
            <a:off x="5588657" y="2280028"/>
            <a:ext cx="0" cy="7131062"/>
          </a:xfrm>
          <a:prstGeom prst="line">
            <a:avLst/>
          </a:prstGeom>
          <a:ln cap="flat" w="28575">
            <a:solidFill>
              <a:srgbClr val="000000"/>
            </a:solidFill>
            <a:prstDash val="solid"/>
            <a:headEnd type="none" len="sm" w="sm"/>
            <a:tailEnd type="none" len="sm" w="sm"/>
          </a:ln>
        </p:spPr>
      </p:sp>
      <p:sp>
        <p:nvSpPr>
          <p:cNvPr name="AutoShape 41" id="41"/>
          <p:cNvSpPr/>
          <p:nvPr/>
        </p:nvSpPr>
        <p:spPr>
          <a:xfrm>
            <a:off x="9060108" y="1602685"/>
            <a:ext cx="778851" cy="0"/>
          </a:xfrm>
          <a:prstGeom prst="line">
            <a:avLst/>
          </a:prstGeom>
          <a:ln cap="flat" w="28575">
            <a:solidFill>
              <a:srgbClr val="000000"/>
            </a:solidFill>
            <a:prstDash val="solid"/>
            <a:headEnd type="none" len="sm" w="sm"/>
            <a:tailEnd type="none" len="sm" w="sm"/>
          </a:ln>
        </p:spPr>
      </p:sp>
      <p:sp>
        <p:nvSpPr>
          <p:cNvPr name="AutoShape 42" id="42"/>
          <p:cNvSpPr/>
          <p:nvPr/>
        </p:nvSpPr>
        <p:spPr>
          <a:xfrm>
            <a:off x="8793537" y="2184309"/>
            <a:ext cx="245778" cy="0"/>
          </a:xfrm>
          <a:prstGeom prst="line">
            <a:avLst/>
          </a:prstGeom>
          <a:ln cap="flat" w="28575">
            <a:solidFill>
              <a:srgbClr val="000000"/>
            </a:solidFill>
            <a:prstDash val="solid"/>
            <a:headEnd type="none" len="sm" w="sm"/>
            <a:tailEnd type="none" len="sm" w="sm"/>
          </a:ln>
        </p:spPr>
      </p:sp>
      <p:sp>
        <p:nvSpPr>
          <p:cNvPr name="AutoShape 43" id="43"/>
          <p:cNvSpPr/>
          <p:nvPr/>
        </p:nvSpPr>
        <p:spPr>
          <a:xfrm>
            <a:off x="9039315" y="2738226"/>
            <a:ext cx="778851" cy="0"/>
          </a:xfrm>
          <a:prstGeom prst="line">
            <a:avLst/>
          </a:prstGeom>
          <a:ln cap="flat" w="28575">
            <a:solidFill>
              <a:srgbClr val="000000"/>
            </a:solidFill>
            <a:prstDash val="solid"/>
            <a:headEnd type="none" len="sm" w="sm"/>
            <a:tailEnd type="none" len="sm" w="sm"/>
          </a:ln>
        </p:spPr>
      </p:sp>
      <p:grpSp>
        <p:nvGrpSpPr>
          <p:cNvPr name="Group 44" id="44"/>
          <p:cNvGrpSpPr/>
          <p:nvPr/>
        </p:nvGrpSpPr>
        <p:grpSpPr>
          <a:xfrm rot="0">
            <a:off x="9818166" y="3202724"/>
            <a:ext cx="5139663" cy="803299"/>
            <a:chOff x="0" y="0"/>
            <a:chExt cx="829404" cy="129631"/>
          </a:xfrm>
        </p:grpSpPr>
        <p:sp>
          <p:nvSpPr>
            <p:cNvPr name="Freeform 45" id="45"/>
            <p:cNvSpPr/>
            <p:nvPr/>
          </p:nvSpPr>
          <p:spPr>
            <a:xfrm flipH="false" flipV="false" rot="0">
              <a:off x="0" y="0"/>
              <a:ext cx="829404" cy="129631"/>
            </a:xfrm>
            <a:custGeom>
              <a:avLst/>
              <a:gdLst/>
              <a:ahLst/>
              <a:cxnLst/>
              <a:rect r="r" b="b" t="t" l="l"/>
              <a:pathLst>
                <a:path h="129631" w="829404">
                  <a:moveTo>
                    <a:pt x="12050" y="0"/>
                  </a:moveTo>
                  <a:lnTo>
                    <a:pt x="817354" y="0"/>
                  </a:lnTo>
                  <a:cubicBezTo>
                    <a:pt x="824009" y="0"/>
                    <a:pt x="829404" y="5395"/>
                    <a:pt x="829404" y="12050"/>
                  </a:cubicBezTo>
                  <a:lnTo>
                    <a:pt x="829404" y="117581"/>
                  </a:lnTo>
                  <a:cubicBezTo>
                    <a:pt x="829404" y="120777"/>
                    <a:pt x="828135" y="123842"/>
                    <a:pt x="825875" y="126102"/>
                  </a:cubicBezTo>
                  <a:cubicBezTo>
                    <a:pt x="823615" y="128361"/>
                    <a:pt x="820550" y="129631"/>
                    <a:pt x="817354" y="129631"/>
                  </a:cubicBezTo>
                  <a:lnTo>
                    <a:pt x="12050" y="129631"/>
                  </a:lnTo>
                  <a:cubicBezTo>
                    <a:pt x="8854" y="129631"/>
                    <a:pt x="5789" y="128361"/>
                    <a:pt x="3530" y="126102"/>
                  </a:cubicBezTo>
                  <a:cubicBezTo>
                    <a:pt x="1270" y="123842"/>
                    <a:pt x="0" y="120777"/>
                    <a:pt x="0" y="117581"/>
                  </a:cubicBezTo>
                  <a:lnTo>
                    <a:pt x="0" y="12050"/>
                  </a:lnTo>
                  <a:cubicBezTo>
                    <a:pt x="0" y="8854"/>
                    <a:pt x="1270" y="5789"/>
                    <a:pt x="3530" y="3530"/>
                  </a:cubicBezTo>
                  <a:cubicBezTo>
                    <a:pt x="5789" y="1270"/>
                    <a:pt x="8854" y="0"/>
                    <a:pt x="12050" y="0"/>
                  </a:cubicBezTo>
                  <a:close/>
                </a:path>
              </a:pathLst>
            </a:custGeom>
            <a:solidFill>
              <a:srgbClr val="E8E8E8"/>
            </a:solidFill>
            <a:ln w="28575" cap="sq">
              <a:solidFill>
                <a:srgbClr val="5282FF"/>
              </a:solidFill>
              <a:prstDash val="solid"/>
              <a:miter/>
            </a:ln>
          </p:spPr>
        </p:sp>
        <p:sp>
          <p:nvSpPr>
            <p:cNvPr name="TextBox 46" id="46"/>
            <p:cNvSpPr txBox="true"/>
            <p:nvPr/>
          </p:nvSpPr>
          <p:spPr>
            <a:xfrm>
              <a:off x="0" y="66675"/>
              <a:ext cx="829404" cy="62956"/>
            </a:xfrm>
            <a:prstGeom prst="rect">
              <a:avLst/>
            </a:prstGeom>
          </p:spPr>
          <p:txBody>
            <a:bodyPr anchor="ctr" rtlCol="false" tIns="54321" lIns="54321" bIns="54321" rIns="54321"/>
            <a:lstStyle/>
            <a:p>
              <a:pPr algn="ctr" marL="0" indent="0" lvl="0">
                <a:lnSpc>
                  <a:spcPts val="499"/>
                </a:lnSpc>
                <a:spcBef>
                  <a:spcPct val="0"/>
                </a:spcBef>
              </a:pPr>
            </a:p>
          </p:txBody>
        </p:sp>
      </p:grpSp>
      <p:sp>
        <p:nvSpPr>
          <p:cNvPr name="TextBox 47" id="47"/>
          <p:cNvSpPr txBox="true"/>
          <p:nvPr/>
        </p:nvSpPr>
        <p:spPr>
          <a:xfrm rot="0">
            <a:off x="9902090" y="3367005"/>
            <a:ext cx="4971816" cy="639017"/>
          </a:xfrm>
          <a:prstGeom prst="rect">
            <a:avLst/>
          </a:prstGeom>
        </p:spPr>
        <p:txBody>
          <a:bodyPr anchor="t" rtlCol="false" tIns="0" lIns="0" bIns="0" rIns="0">
            <a:spAutoFit/>
          </a:bodyPr>
          <a:lstStyle/>
          <a:p>
            <a:pPr algn="l">
              <a:lnSpc>
                <a:spcPts val="2566"/>
              </a:lnSpc>
            </a:pPr>
            <a:r>
              <a:rPr lang="en-US" sz="2333">
                <a:solidFill>
                  <a:srgbClr val="000000"/>
                </a:solidFill>
                <a:latin typeface="Montserrat"/>
                <a:ea typeface="Montserrat"/>
                <a:cs typeface="Montserrat"/>
                <a:sym typeface="Montserrat"/>
              </a:rPr>
              <a:t>Diagrama de Arquitectura de Capas</a:t>
            </a:r>
          </a:p>
        </p:txBody>
      </p:sp>
      <p:grpSp>
        <p:nvGrpSpPr>
          <p:cNvPr name="Group 48" id="48"/>
          <p:cNvGrpSpPr/>
          <p:nvPr/>
        </p:nvGrpSpPr>
        <p:grpSpPr>
          <a:xfrm rot="0">
            <a:off x="9818166" y="4144528"/>
            <a:ext cx="5139663" cy="613305"/>
            <a:chOff x="0" y="0"/>
            <a:chExt cx="829404" cy="98971"/>
          </a:xfrm>
        </p:grpSpPr>
        <p:sp>
          <p:nvSpPr>
            <p:cNvPr name="Freeform 49" id="49"/>
            <p:cNvSpPr/>
            <p:nvPr/>
          </p:nvSpPr>
          <p:spPr>
            <a:xfrm flipH="false" flipV="false" rot="0">
              <a:off x="0" y="0"/>
              <a:ext cx="829404" cy="98971"/>
            </a:xfrm>
            <a:custGeom>
              <a:avLst/>
              <a:gdLst/>
              <a:ahLst/>
              <a:cxnLst/>
              <a:rect r="r" b="b" t="t" l="l"/>
              <a:pathLst>
                <a:path h="98971" w="829404">
                  <a:moveTo>
                    <a:pt x="12050" y="0"/>
                  </a:moveTo>
                  <a:lnTo>
                    <a:pt x="817354" y="0"/>
                  </a:lnTo>
                  <a:cubicBezTo>
                    <a:pt x="824009" y="0"/>
                    <a:pt x="829404" y="5395"/>
                    <a:pt x="829404" y="12050"/>
                  </a:cubicBezTo>
                  <a:lnTo>
                    <a:pt x="829404" y="86921"/>
                  </a:lnTo>
                  <a:cubicBezTo>
                    <a:pt x="829404" y="93576"/>
                    <a:pt x="824009" y="98971"/>
                    <a:pt x="817354" y="98971"/>
                  </a:cubicBezTo>
                  <a:lnTo>
                    <a:pt x="12050" y="98971"/>
                  </a:lnTo>
                  <a:cubicBezTo>
                    <a:pt x="8854" y="98971"/>
                    <a:pt x="5789" y="97701"/>
                    <a:pt x="3530" y="95442"/>
                  </a:cubicBezTo>
                  <a:cubicBezTo>
                    <a:pt x="1270" y="93182"/>
                    <a:pt x="0" y="90117"/>
                    <a:pt x="0" y="86921"/>
                  </a:cubicBezTo>
                  <a:lnTo>
                    <a:pt x="0" y="12050"/>
                  </a:lnTo>
                  <a:cubicBezTo>
                    <a:pt x="0" y="8854"/>
                    <a:pt x="1270" y="5789"/>
                    <a:pt x="3530" y="3530"/>
                  </a:cubicBezTo>
                  <a:cubicBezTo>
                    <a:pt x="5789" y="1270"/>
                    <a:pt x="8854" y="0"/>
                    <a:pt x="12050" y="0"/>
                  </a:cubicBezTo>
                  <a:close/>
                </a:path>
              </a:pathLst>
            </a:custGeom>
            <a:solidFill>
              <a:srgbClr val="E8E8E8"/>
            </a:solidFill>
            <a:ln w="28575" cap="sq">
              <a:solidFill>
                <a:srgbClr val="5282FF"/>
              </a:solidFill>
              <a:prstDash val="solid"/>
              <a:miter/>
            </a:ln>
          </p:spPr>
        </p:sp>
        <p:sp>
          <p:nvSpPr>
            <p:cNvPr name="TextBox 50" id="50"/>
            <p:cNvSpPr txBox="true"/>
            <p:nvPr/>
          </p:nvSpPr>
          <p:spPr>
            <a:xfrm>
              <a:off x="0" y="66675"/>
              <a:ext cx="829404" cy="32296"/>
            </a:xfrm>
            <a:prstGeom prst="rect">
              <a:avLst/>
            </a:prstGeom>
          </p:spPr>
          <p:txBody>
            <a:bodyPr anchor="ctr" rtlCol="false" tIns="54321" lIns="54321" bIns="54321" rIns="54321"/>
            <a:lstStyle/>
            <a:p>
              <a:pPr algn="ctr" marL="0" indent="0" lvl="0">
                <a:lnSpc>
                  <a:spcPts val="499"/>
                </a:lnSpc>
                <a:spcBef>
                  <a:spcPct val="0"/>
                </a:spcBef>
              </a:pPr>
            </a:p>
          </p:txBody>
        </p:sp>
      </p:grpSp>
      <p:sp>
        <p:nvSpPr>
          <p:cNvPr name="TextBox 51" id="51"/>
          <p:cNvSpPr txBox="true"/>
          <p:nvPr/>
        </p:nvSpPr>
        <p:spPr>
          <a:xfrm rot="0">
            <a:off x="9902090" y="4298307"/>
            <a:ext cx="4971816" cy="324798"/>
          </a:xfrm>
          <a:prstGeom prst="rect">
            <a:avLst/>
          </a:prstGeom>
        </p:spPr>
        <p:txBody>
          <a:bodyPr anchor="t" rtlCol="false" tIns="0" lIns="0" bIns="0" rIns="0">
            <a:spAutoFit/>
          </a:bodyPr>
          <a:lstStyle/>
          <a:p>
            <a:pPr algn="l">
              <a:lnSpc>
                <a:spcPts val="2566"/>
              </a:lnSpc>
            </a:pPr>
            <a:r>
              <a:rPr lang="en-US" sz="2333">
                <a:solidFill>
                  <a:srgbClr val="000000"/>
                </a:solidFill>
                <a:latin typeface="Montserrat"/>
                <a:ea typeface="Montserrat"/>
                <a:cs typeface="Montserrat"/>
                <a:sym typeface="Montserrat"/>
              </a:rPr>
              <a:t>Diagrama de Componentes</a:t>
            </a:r>
          </a:p>
        </p:txBody>
      </p:sp>
      <p:grpSp>
        <p:nvGrpSpPr>
          <p:cNvPr name="Group 52" id="52"/>
          <p:cNvGrpSpPr/>
          <p:nvPr/>
        </p:nvGrpSpPr>
        <p:grpSpPr>
          <a:xfrm rot="0">
            <a:off x="9818166" y="4880789"/>
            <a:ext cx="5139663" cy="613305"/>
            <a:chOff x="0" y="0"/>
            <a:chExt cx="829404" cy="98971"/>
          </a:xfrm>
        </p:grpSpPr>
        <p:sp>
          <p:nvSpPr>
            <p:cNvPr name="Freeform 53" id="53"/>
            <p:cNvSpPr/>
            <p:nvPr/>
          </p:nvSpPr>
          <p:spPr>
            <a:xfrm flipH="false" flipV="false" rot="0">
              <a:off x="0" y="0"/>
              <a:ext cx="829404" cy="98971"/>
            </a:xfrm>
            <a:custGeom>
              <a:avLst/>
              <a:gdLst/>
              <a:ahLst/>
              <a:cxnLst/>
              <a:rect r="r" b="b" t="t" l="l"/>
              <a:pathLst>
                <a:path h="98971" w="829404">
                  <a:moveTo>
                    <a:pt x="12050" y="0"/>
                  </a:moveTo>
                  <a:lnTo>
                    <a:pt x="817354" y="0"/>
                  </a:lnTo>
                  <a:cubicBezTo>
                    <a:pt x="824009" y="0"/>
                    <a:pt x="829404" y="5395"/>
                    <a:pt x="829404" y="12050"/>
                  </a:cubicBezTo>
                  <a:lnTo>
                    <a:pt x="829404" y="86921"/>
                  </a:lnTo>
                  <a:cubicBezTo>
                    <a:pt x="829404" y="93576"/>
                    <a:pt x="824009" y="98971"/>
                    <a:pt x="817354" y="98971"/>
                  </a:cubicBezTo>
                  <a:lnTo>
                    <a:pt x="12050" y="98971"/>
                  </a:lnTo>
                  <a:cubicBezTo>
                    <a:pt x="8854" y="98971"/>
                    <a:pt x="5789" y="97701"/>
                    <a:pt x="3530" y="95442"/>
                  </a:cubicBezTo>
                  <a:cubicBezTo>
                    <a:pt x="1270" y="93182"/>
                    <a:pt x="0" y="90117"/>
                    <a:pt x="0" y="86921"/>
                  </a:cubicBezTo>
                  <a:lnTo>
                    <a:pt x="0" y="12050"/>
                  </a:lnTo>
                  <a:cubicBezTo>
                    <a:pt x="0" y="8854"/>
                    <a:pt x="1270" y="5789"/>
                    <a:pt x="3530" y="3530"/>
                  </a:cubicBezTo>
                  <a:cubicBezTo>
                    <a:pt x="5789" y="1270"/>
                    <a:pt x="8854" y="0"/>
                    <a:pt x="12050" y="0"/>
                  </a:cubicBezTo>
                  <a:close/>
                </a:path>
              </a:pathLst>
            </a:custGeom>
            <a:solidFill>
              <a:srgbClr val="E8E8E8"/>
            </a:solidFill>
            <a:ln w="28575" cap="sq">
              <a:solidFill>
                <a:srgbClr val="5282FF"/>
              </a:solidFill>
              <a:prstDash val="solid"/>
              <a:miter/>
            </a:ln>
          </p:spPr>
        </p:sp>
        <p:sp>
          <p:nvSpPr>
            <p:cNvPr name="TextBox 54" id="54"/>
            <p:cNvSpPr txBox="true"/>
            <p:nvPr/>
          </p:nvSpPr>
          <p:spPr>
            <a:xfrm>
              <a:off x="0" y="66675"/>
              <a:ext cx="829404" cy="32296"/>
            </a:xfrm>
            <a:prstGeom prst="rect">
              <a:avLst/>
            </a:prstGeom>
          </p:spPr>
          <p:txBody>
            <a:bodyPr anchor="ctr" rtlCol="false" tIns="54321" lIns="54321" bIns="54321" rIns="54321"/>
            <a:lstStyle/>
            <a:p>
              <a:pPr algn="ctr" marL="0" indent="0" lvl="0">
                <a:lnSpc>
                  <a:spcPts val="499"/>
                </a:lnSpc>
                <a:spcBef>
                  <a:spcPct val="0"/>
                </a:spcBef>
              </a:pPr>
            </a:p>
          </p:txBody>
        </p:sp>
      </p:grpSp>
      <p:sp>
        <p:nvSpPr>
          <p:cNvPr name="TextBox 55" id="55"/>
          <p:cNvSpPr txBox="true"/>
          <p:nvPr/>
        </p:nvSpPr>
        <p:spPr>
          <a:xfrm rot="0">
            <a:off x="9902090" y="5034567"/>
            <a:ext cx="4971816" cy="324798"/>
          </a:xfrm>
          <a:prstGeom prst="rect">
            <a:avLst/>
          </a:prstGeom>
        </p:spPr>
        <p:txBody>
          <a:bodyPr anchor="t" rtlCol="false" tIns="0" lIns="0" bIns="0" rIns="0">
            <a:spAutoFit/>
          </a:bodyPr>
          <a:lstStyle/>
          <a:p>
            <a:pPr algn="l">
              <a:lnSpc>
                <a:spcPts val="2566"/>
              </a:lnSpc>
            </a:pPr>
            <a:r>
              <a:rPr lang="en-US" sz="2333">
                <a:solidFill>
                  <a:srgbClr val="000000"/>
                </a:solidFill>
                <a:latin typeface="Montserrat"/>
                <a:ea typeface="Montserrat"/>
                <a:cs typeface="Montserrat"/>
                <a:sym typeface="Montserrat"/>
              </a:rPr>
              <a:t>Diagrama de Paquetes</a:t>
            </a:r>
          </a:p>
        </p:txBody>
      </p:sp>
      <p:grpSp>
        <p:nvGrpSpPr>
          <p:cNvPr name="Group 56" id="56"/>
          <p:cNvGrpSpPr/>
          <p:nvPr/>
        </p:nvGrpSpPr>
        <p:grpSpPr>
          <a:xfrm rot="0">
            <a:off x="9838959" y="5725515"/>
            <a:ext cx="5139663" cy="613305"/>
            <a:chOff x="0" y="0"/>
            <a:chExt cx="829404" cy="98971"/>
          </a:xfrm>
        </p:grpSpPr>
        <p:sp>
          <p:nvSpPr>
            <p:cNvPr name="Freeform 57" id="57"/>
            <p:cNvSpPr/>
            <p:nvPr/>
          </p:nvSpPr>
          <p:spPr>
            <a:xfrm flipH="false" flipV="false" rot="0">
              <a:off x="0" y="0"/>
              <a:ext cx="829404" cy="98971"/>
            </a:xfrm>
            <a:custGeom>
              <a:avLst/>
              <a:gdLst/>
              <a:ahLst/>
              <a:cxnLst/>
              <a:rect r="r" b="b" t="t" l="l"/>
              <a:pathLst>
                <a:path h="98971" w="829404">
                  <a:moveTo>
                    <a:pt x="12050" y="0"/>
                  </a:moveTo>
                  <a:lnTo>
                    <a:pt x="817354" y="0"/>
                  </a:lnTo>
                  <a:cubicBezTo>
                    <a:pt x="824009" y="0"/>
                    <a:pt x="829404" y="5395"/>
                    <a:pt x="829404" y="12050"/>
                  </a:cubicBezTo>
                  <a:lnTo>
                    <a:pt x="829404" y="86921"/>
                  </a:lnTo>
                  <a:cubicBezTo>
                    <a:pt x="829404" y="93576"/>
                    <a:pt x="824009" y="98971"/>
                    <a:pt x="817354" y="98971"/>
                  </a:cubicBezTo>
                  <a:lnTo>
                    <a:pt x="12050" y="98971"/>
                  </a:lnTo>
                  <a:cubicBezTo>
                    <a:pt x="8854" y="98971"/>
                    <a:pt x="5789" y="97701"/>
                    <a:pt x="3530" y="95442"/>
                  </a:cubicBezTo>
                  <a:cubicBezTo>
                    <a:pt x="1270" y="93182"/>
                    <a:pt x="0" y="90117"/>
                    <a:pt x="0" y="86921"/>
                  </a:cubicBezTo>
                  <a:lnTo>
                    <a:pt x="0" y="12050"/>
                  </a:lnTo>
                  <a:cubicBezTo>
                    <a:pt x="0" y="8854"/>
                    <a:pt x="1270" y="5789"/>
                    <a:pt x="3530" y="3530"/>
                  </a:cubicBezTo>
                  <a:cubicBezTo>
                    <a:pt x="5789" y="1270"/>
                    <a:pt x="8854" y="0"/>
                    <a:pt x="12050" y="0"/>
                  </a:cubicBezTo>
                  <a:close/>
                </a:path>
              </a:pathLst>
            </a:custGeom>
            <a:solidFill>
              <a:srgbClr val="E8E8E8"/>
            </a:solidFill>
            <a:ln w="28575" cap="sq">
              <a:solidFill>
                <a:srgbClr val="5282FF"/>
              </a:solidFill>
              <a:prstDash val="solid"/>
              <a:miter/>
            </a:ln>
          </p:spPr>
        </p:sp>
        <p:sp>
          <p:nvSpPr>
            <p:cNvPr name="TextBox 58" id="58"/>
            <p:cNvSpPr txBox="true"/>
            <p:nvPr/>
          </p:nvSpPr>
          <p:spPr>
            <a:xfrm>
              <a:off x="0" y="66675"/>
              <a:ext cx="829404" cy="32296"/>
            </a:xfrm>
            <a:prstGeom prst="rect">
              <a:avLst/>
            </a:prstGeom>
          </p:spPr>
          <p:txBody>
            <a:bodyPr anchor="ctr" rtlCol="false" tIns="54321" lIns="54321" bIns="54321" rIns="54321"/>
            <a:lstStyle/>
            <a:p>
              <a:pPr algn="ctr" marL="0" indent="0" lvl="0">
                <a:lnSpc>
                  <a:spcPts val="499"/>
                </a:lnSpc>
                <a:spcBef>
                  <a:spcPct val="0"/>
                </a:spcBef>
              </a:pPr>
            </a:p>
          </p:txBody>
        </p:sp>
      </p:grpSp>
      <p:sp>
        <p:nvSpPr>
          <p:cNvPr name="TextBox 59" id="59"/>
          <p:cNvSpPr txBox="true"/>
          <p:nvPr/>
        </p:nvSpPr>
        <p:spPr>
          <a:xfrm rot="0">
            <a:off x="9922883" y="5879293"/>
            <a:ext cx="4971816" cy="324798"/>
          </a:xfrm>
          <a:prstGeom prst="rect">
            <a:avLst/>
          </a:prstGeom>
        </p:spPr>
        <p:txBody>
          <a:bodyPr anchor="t" rtlCol="false" tIns="0" lIns="0" bIns="0" rIns="0">
            <a:spAutoFit/>
          </a:bodyPr>
          <a:lstStyle/>
          <a:p>
            <a:pPr algn="l">
              <a:lnSpc>
                <a:spcPts val="2566"/>
              </a:lnSpc>
            </a:pPr>
            <a:r>
              <a:rPr lang="en-US" sz="2333">
                <a:solidFill>
                  <a:srgbClr val="000000"/>
                </a:solidFill>
                <a:latin typeface="Montserrat"/>
                <a:ea typeface="Montserrat"/>
                <a:cs typeface="Montserrat"/>
                <a:sym typeface="Montserrat"/>
              </a:rPr>
              <a:t>Diagrama de Actividad</a:t>
            </a:r>
          </a:p>
        </p:txBody>
      </p:sp>
      <p:grpSp>
        <p:nvGrpSpPr>
          <p:cNvPr name="Group 60" id="60"/>
          <p:cNvGrpSpPr/>
          <p:nvPr/>
        </p:nvGrpSpPr>
        <p:grpSpPr>
          <a:xfrm rot="0">
            <a:off x="9838959" y="6461775"/>
            <a:ext cx="5139663" cy="613305"/>
            <a:chOff x="0" y="0"/>
            <a:chExt cx="829404" cy="98971"/>
          </a:xfrm>
        </p:grpSpPr>
        <p:sp>
          <p:nvSpPr>
            <p:cNvPr name="Freeform 61" id="61"/>
            <p:cNvSpPr/>
            <p:nvPr/>
          </p:nvSpPr>
          <p:spPr>
            <a:xfrm flipH="false" flipV="false" rot="0">
              <a:off x="0" y="0"/>
              <a:ext cx="829404" cy="98971"/>
            </a:xfrm>
            <a:custGeom>
              <a:avLst/>
              <a:gdLst/>
              <a:ahLst/>
              <a:cxnLst/>
              <a:rect r="r" b="b" t="t" l="l"/>
              <a:pathLst>
                <a:path h="98971" w="829404">
                  <a:moveTo>
                    <a:pt x="12050" y="0"/>
                  </a:moveTo>
                  <a:lnTo>
                    <a:pt x="817354" y="0"/>
                  </a:lnTo>
                  <a:cubicBezTo>
                    <a:pt x="824009" y="0"/>
                    <a:pt x="829404" y="5395"/>
                    <a:pt x="829404" y="12050"/>
                  </a:cubicBezTo>
                  <a:lnTo>
                    <a:pt x="829404" y="86921"/>
                  </a:lnTo>
                  <a:cubicBezTo>
                    <a:pt x="829404" y="93576"/>
                    <a:pt x="824009" y="98971"/>
                    <a:pt x="817354" y="98971"/>
                  </a:cubicBezTo>
                  <a:lnTo>
                    <a:pt x="12050" y="98971"/>
                  </a:lnTo>
                  <a:cubicBezTo>
                    <a:pt x="8854" y="98971"/>
                    <a:pt x="5789" y="97701"/>
                    <a:pt x="3530" y="95442"/>
                  </a:cubicBezTo>
                  <a:cubicBezTo>
                    <a:pt x="1270" y="93182"/>
                    <a:pt x="0" y="90117"/>
                    <a:pt x="0" y="86921"/>
                  </a:cubicBezTo>
                  <a:lnTo>
                    <a:pt x="0" y="12050"/>
                  </a:lnTo>
                  <a:cubicBezTo>
                    <a:pt x="0" y="8854"/>
                    <a:pt x="1270" y="5789"/>
                    <a:pt x="3530" y="3530"/>
                  </a:cubicBezTo>
                  <a:cubicBezTo>
                    <a:pt x="5789" y="1270"/>
                    <a:pt x="8854" y="0"/>
                    <a:pt x="12050" y="0"/>
                  </a:cubicBezTo>
                  <a:close/>
                </a:path>
              </a:pathLst>
            </a:custGeom>
            <a:solidFill>
              <a:srgbClr val="E8E8E8"/>
            </a:solidFill>
            <a:ln w="28575" cap="sq">
              <a:solidFill>
                <a:srgbClr val="5282FF"/>
              </a:solidFill>
              <a:prstDash val="solid"/>
              <a:miter/>
            </a:ln>
          </p:spPr>
        </p:sp>
        <p:sp>
          <p:nvSpPr>
            <p:cNvPr name="TextBox 62" id="62"/>
            <p:cNvSpPr txBox="true"/>
            <p:nvPr/>
          </p:nvSpPr>
          <p:spPr>
            <a:xfrm>
              <a:off x="0" y="66675"/>
              <a:ext cx="829404" cy="32296"/>
            </a:xfrm>
            <a:prstGeom prst="rect">
              <a:avLst/>
            </a:prstGeom>
          </p:spPr>
          <p:txBody>
            <a:bodyPr anchor="ctr" rtlCol="false" tIns="54321" lIns="54321" bIns="54321" rIns="54321"/>
            <a:lstStyle/>
            <a:p>
              <a:pPr algn="ctr" marL="0" indent="0" lvl="0">
                <a:lnSpc>
                  <a:spcPts val="499"/>
                </a:lnSpc>
                <a:spcBef>
                  <a:spcPct val="0"/>
                </a:spcBef>
              </a:pPr>
            </a:p>
          </p:txBody>
        </p:sp>
      </p:grpSp>
      <p:sp>
        <p:nvSpPr>
          <p:cNvPr name="TextBox 63" id="63"/>
          <p:cNvSpPr txBox="true"/>
          <p:nvPr/>
        </p:nvSpPr>
        <p:spPr>
          <a:xfrm rot="0">
            <a:off x="9922883" y="6615554"/>
            <a:ext cx="4971816" cy="324798"/>
          </a:xfrm>
          <a:prstGeom prst="rect">
            <a:avLst/>
          </a:prstGeom>
        </p:spPr>
        <p:txBody>
          <a:bodyPr anchor="t" rtlCol="false" tIns="0" lIns="0" bIns="0" rIns="0">
            <a:spAutoFit/>
          </a:bodyPr>
          <a:lstStyle/>
          <a:p>
            <a:pPr algn="l">
              <a:lnSpc>
                <a:spcPts val="2566"/>
              </a:lnSpc>
            </a:pPr>
            <a:r>
              <a:rPr lang="en-US" sz="2333">
                <a:solidFill>
                  <a:srgbClr val="000000"/>
                </a:solidFill>
                <a:latin typeface="Montserrat"/>
                <a:ea typeface="Montserrat"/>
                <a:cs typeface="Montserrat"/>
                <a:sym typeface="Montserrat"/>
              </a:rPr>
              <a:t>BPM</a:t>
            </a:r>
          </a:p>
        </p:txBody>
      </p:sp>
      <p:grpSp>
        <p:nvGrpSpPr>
          <p:cNvPr name="Group 64" id="64"/>
          <p:cNvGrpSpPr/>
          <p:nvPr/>
        </p:nvGrpSpPr>
        <p:grpSpPr>
          <a:xfrm rot="0">
            <a:off x="9818166" y="7307330"/>
            <a:ext cx="5139663" cy="613305"/>
            <a:chOff x="0" y="0"/>
            <a:chExt cx="829404" cy="98971"/>
          </a:xfrm>
        </p:grpSpPr>
        <p:sp>
          <p:nvSpPr>
            <p:cNvPr name="Freeform 65" id="65"/>
            <p:cNvSpPr/>
            <p:nvPr/>
          </p:nvSpPr>
          <p:spPr>
            <a:xfrm flipH="false" flipV="false" rot="0">
              <a:off x="0" y="0"/>
              <a:ext cx="829404" cy="98971"/>
            </a:xfrm>
            <a:custGeom>
              <a:avLst/>
              <a:gdLst/>
              <a:ahLst/>
              <a:cxnLst/>
              <a:rect r="r" b="b" t="t" l="l"/>
              <a:pathLst>
                <a:path h="98971" w="829404">
                  <a:moveTo>
                    <a:pt x="12050" y="0"/>
                  </a:moveTo>
                  <a:lnTo>
                    <a:pt x="817354" y="0"/>
                  </a:lnTo>
                  <a:cubicBezTo>
                    <a:pt x="824009" y="0"/>
                    <a:pt x="829404" y="5395"/>
                    <a:pt x="829404" y="12050"/>
                  </a:cubicBezTo>
                  <a:lnTo>
                    <a:pt x="829404" y="86921"/>
                  </a:lnTo>
                  <a:cubicBezTo>
                    <a:pt x="829404" y="93576"/>
                    <a:pt x="824009" y="98971"/>
                    <a:pt x="817354" y="98971"/>
                  </a:cubicBezTo>
                  <a:lnTo>
                    <a:pt x="12050" y="98971"/>
                  </a:lnTo>
                  <a:cubicBezTo>
                    <a:pt x="8854" y="98971"/>
                    <a:pt x="5789" y="97701"/>
                    <a:pt x="3530" y="95442"/>
                  </a:cubicBezTo>
                  <a:cubicBezTo>
                    <a:pt x="1270" y="93182"/>
                    <a:pt x="0" y="90117"/>
                    <a:pt x="0" y="86921"/>
                  </a:cubicBezTo>
                  <a:lnTo>
                    <a:pt x="0" y="12050"/>
                  </a:lnTo>
                  <a:cubicBezTo>
                    <a:pt x="0" y="8854"/>
                    <a:pt x="1270" y="5789"/>
                    <a:pt x="3530" y="3530"/>
                  </a:cubicBezTo>
                  <a:cubicBezTo>
                    <a:pt x="5789" y="1270"/>
                    <a:pt x="8854" y="0"/>
                    <a:pt x="12050" y="0"/>
                  </a:cubicBezTo>
                  <a:close/>
                </a:path>
              </a:pathLst>
            </a:custGeom>
            <a:solidFill>
              <a:srgbClr val="E8E8E8"/>
            </a:solidFill>
            <a:ln w="28575" cap="sq">
              <a:solidFill>
                <a:srgbClr val="5282FF"/>
              </a:solidFill>
              <a:prstDash val="solid"/>
              <a:miter/>
            </a:ln>
          </p:spPr>
        </p:sp>
        <p:sp>
          <p:nvSpPr>
            <p:cNvPr name="TextBox 66" id="66"/>
            <p:cNvSpPr txBox="true"/>
            <p:nvPr/>
          </p:nvSpPr>
          <p:spPr>
            <a:xfrm>
              <a:off x="0" y="66675"/>
              <a:ext cx="829404" cy="32296"/>
            </a:xfrm>
            <a:prstGeom prst="rect">
              <a:avLst/>
            </a:prstGeom>
          </p:spPr>
          <p:txBody>
            <a:bodyPr anchor="ctr" rtlCol="false" tIns="54321" lIns="54321" bIns="54321" rIns="54321"/>
            <a:lstStyle/>
            <a:p>
              <a:pPr algn="ctr" marL="0" indent="0" lvl="0">
                <a:lnSpc>
                  <a:spcPts val="499"/>
                </a:lnSpc>
                <a:spcBef>
                  <a:spcPct val="0"/>
                </a:spcBef>
              </a:pPr>
            </a:p>
          </p:txBody>
        </p:sp>
      </p:grpSp>
      <p:sp>
        <p:nvSpPr>
          <p:cNvPr name="TextBox 67" id="67"/>
          <p:cNvSpPr txBox="true"/>
          <p:nvPr/>
        </p:nvSpPr>
        <p:spPr>
          <a:xfrm rot="0">
            <a:off x="9902090" y="7461108"/>
            <a:ext cx="4971816" cy="324798"/>
          </a:xfrm>
          <a:prstGeom prst="rect">
            <a:avLst/>
          </a:prstGeom>
        </p:spPr>
        <p:txBody>
          <a:bodyPr anchor="t" rtlCol="false" tIns="0" lIns="0" bIns="0" rIns="0">
            <a:spAutoFit/>
          </a:bodyPr>
          <a:lstStyle/>
          <a:p>
            <a:pPr algn="l">
              <a:lnSpc>
                <a:spcPts val="2566"/>
              </a:lnSpc>
            </a:pPr>
            <a:r>
              <a:rPr lang="en-US" sz="2333">
                <a:solidFill>
                  <a:srgbClr val="000000"/>
                </a:solidFill>
                <a:latin typeface="Montserrat"/>
                <a:ea typeface="Montserrat"/>
                <a:cs typeface="Montserrat"/>
                <a:sym typeface="Montserrat"/>
              </a:rPr>
              <a:t>Diagrama de Despliegue</a:t>
            </a:r>
          </a:p>
        </p:txBody>
      </p:sp>
      <p:grpSp>
        <p:nvGrpSpPr>
          <p:cNvPr name="Group 68" id="68"/>
          <p:cNvGrpSpPr/>
          <p:nvPr/>
        </p:nvGrpSpPr>
        <p:grpSpPr>
          <a:xfrm rot="0">
            <a:off x="9818166" y="8043590"/>
            <a:ext cx="5139663" cy="613305"/>
            <a:chOff x="0" y="0"/>
            <a:chExt cx="829404" cy="98971"/>
          </a:xfrm>
        </p:grpSpPr>
        <p:sp>
          <p:nvSpPr>
            <p:cNvPr name="Freeform 69" id="69"/>
            <p:cNvSpPr/>
            <p:nvPr/>
          </p:nvSpPr>
          <p:spPr>
            <a:xfrm flipH="false" flipV="false" rot="0">
              <a:off x="0" y="0"/>
              <a:ext cx="829404" cy="98971"/>
            </a:xfrm>
            <a:custGeom>
              <a:avLst/>
              <a:gdLst/>
              <a:ahLst/>
              <a:cxnLst/>
              <a:rect r="r" b="b" t="t" l="l"/>
              <a:pathLst>
                <a:path h="98971" w="829404">
                  <a:moveTo>
                    <a:pt x="12050" y="0"/>
                  </a:moveTo>
                  <a:lnTo>
                    <a:pt x="817354" y="0"/>
                  </a:lnTo>
                  <a:cubicBezTo>
                    <a:pt x="824009" y="0"/>
                    <a:pt x="829404" y="5395"/>
                    <a:pt x="829404" y="12050"/>
                  </a:cubicBezTo>
                  <a:lnTo>
                    <a:pt x="829404" y="86921"/>
                  </a:lnTo>
                  <a:cubicBezTo>
                    <a:pt x="829404" y="93576"/>
                    <a:pt x="824009" y="98971"/>
                    <a:pt x="817354" y="98971"/>
                  </a:cubicBezTo>
                  <a:lnTo>
                    <a:pt x="12050" y="98971"/>
                  </a:lnTo>
                  <a:cubicBezTo>
                    <a:pt x="8854" y="98971"/>
                    <a:pt x="5789" y="97701"/>
                    <a:pt x="3530" y="95442"/>
                  </a:cubicBezTo>
                  <a:cubicBezTo>
                    <a:pt x="1270" y="93182"/>
                    <a:pt x="0" y="90117"/>
                    <a:pt x="0" y="86921"/>
                  </a:cubicBezTo>
                  <a:lnTo>
                    <a:pt x="0" y="12050"/>
                  </a:lnTo>
                  <a:cubicBezTo>
                    <a:pt x="0" y="8854"/>
                    <a:pt x="1270" y="5789"/>
                    <a:pt x="3530" y="3530"/>
                  </a:cubicBezTo>
                  <a:cubicBezTo>
                    <a:pt x="5789" y="1270"/>
                    <a:pt x="8854" y="0"/>
                    <a:pt x="12050" y="0"/>
                  </a:cubicBezTo>
                  <a:close/>
                </a:path>
              </a:pathLst>
            </a:custGeom>
            <a:solidFill>
              <a:srgbClr val="E8E8E8"/>
            </a:solidFill>
            <a:ln w="28575" cap="sq">
              <a:solidFill>
                <a:srgbClr val="5282FF"/>
              </a:solidFill>
              <a:prstDash val="solid"/>
              <a:miter/>
            </a:ln>
          </p:spPr>
        </p:sp>
        <p:sp>
          <p:nvSpPr>
            <p:cNvPr name="TextBox 70" id="70"/>
            <p:cNvSpPr txBox="true"/>
            <p:nvPr/>
          </p:nvSpPr>
          <p:spPr>
            <a:xfrm>
              <a:off x="0" y="66675"/>
              <a:ext cx="829404" cy="32296"/>
            </a:xfrm>
            <a:prstGeom prst="rect">
              <a:avLst/>
            </a:prstGeom>
          </p:spPr>
          <p:txBody>
            <a:bodyPr anchor="ctr" rtlCol="false" tIns="54321" lIns="54321" bIns="54321" rIns="54321"/>
            <a:lstStyle/>
            <a:p>
              <a:pPr algn="ctr" marL="0" indent="0" lvl="0">
                <a:lnSpc>
                  <a:spcPts val="499"/>
                </a:lnSpc>
                <a:spcBef>
                  <a:spcPct val="0"/>
                </a:spcBef>
              </a:pPr>
            </a:p>
          </p:txBody>
        </p:sp>
      </p:grpSp>
      <p:sp>
        <p:nvSpPr>
          <p:cNvPr name="TextBox 71" id="71"/>
          <p:cNvSpPr txBox="true"/>
          <p:nvPr/>
        </p:nvSpPr>
        <p:spPr>
          <a:xfrm rot="0">
            <a:off x="9902090" y="8197369"/>
            <a:ext cx="4971816" cy="324798"/>
          </a:xfrm>
          <a:prstGeom prst="rect">
            <a:avLst/>
          </a:prstGeom>
        </p:spPr>
        <p:txBody>
          <a:bodyPr anchor="t" rtlCol="false" tIns="0" lIns="0" bIns="0" rIns="0">
            <a:spAutoFit/>
          </a:bodyPr>
          <a:lstStyle/>
          <a:p>
            <a:pPr algn="l">
              <a:lnSpc>
                <a:spcPts val="2566"/>
              </a:lnSpc>
            </a:pPr>
            <a:r>
              <a:rPr lang="en-US" sz="2333">
                <a:solidFill>
                  <a:srgbClr val="000000"/>
                </a:solidFill>
                <a:latin typeface="Montserrat"/>
                <a:ea typeface="Montserrat"/>
                <a:cs typeface="Montserrat"/>
                <a:sym typeface="Montserrat"/>
              </a:rPr>
              <a:t>Diagrama de Infraestructura</a:t>
            </a:r>
          </a:p>
        </p:txBody>
      </p:sp>
      <p:grpSp>
        <p:nvGrpSpPr>
          <p:cNvPr name="Group 72" id="72"/>
          <p:cNvGrpSpPr/>
          <p:nvPr/>
        </p:nvGrpSpPr>
        <p:grpSpPr>
          <a:xfrm rot="0">
            <a:off x="9795781" y="9064693"/>
            <a:ext cx="5139663" cy="613305"/>
            <a:chOff x="0" y="0"/>
            <a:chExt cx="829404" cy="98971"/>
          </a:xfrm>
        </p:grpSpPr>
        <p:sp>
          <p:nvSpPr>
            <p:cNvPr name="Freeform 73" id="73"/>
            <p:cNvSpPr/>
            <p:nvPr/>
          </p:nvSpPr>
          <p:spPr>
            <a:xfrm flipH="false" flipV="false" rot="0">
              <a:off x="0" y="0"/>
              <a:ext cx="829404" cy="98971"/>
            </a:xfrm>
            <a:custGeom>
              <a:avLst/>
              <a:gdLst/>
              <a:ahLst/>
              <a:cxnLst/>
              <a:rect r="r" b="b" t="t" l="l"/>
              <a:pathLst>
                <a:path h="98971" w="829404">
                  <a:moveTo>
                    <a:pt x="12050" y="0"/>
                  </a:moveTo>
                  <a:lnTo>
                    <a:pt x="817354" y="0"/>
                  </a:lnTo>
                  <a:cubicBezTo>
                    <a:pt x="824009" y="0"/>
                    <a:pt x="829404" y="5395"/>
                    <a:pt x="829404" y="12050"/>
                  </a:cubicBezTo>
                  <a:lnTo>
                    <a:pt x="829404" y="86921"/>
                  </a:lnTo>
                  <a:cubicBezTo>
                    <a:pt x="829404" y="93576"/>
                    <a:pt x="824009" y="98971"/>
                    <a:pt x="817354" y="98971"/>
                  </a:cubicBezTo>
                  <a:lnTo>
                    <a:pt x="12050" y="98971"/>
                  </a:lnTo>
                  <a:cubicBezTo>
                    <a:pt x="8854" y="98971"/>
                    <a:pt x="5789" y="97701"/>
                    <a:pt x="3530" y="95442"/>
                  </a:cubicBezTo>
                  <a:cubicBezTo>
                    <a:pt x="1270" y="93182"/>
                    <a:pt x="0" y="90117"/>
                    <a:pt x="0" y="86921"/>
                  </a:cubicBezTo>
                  <a:lnTo>
                    <a:pt x="0" y="12050"/>
                  </a:lnTo>
                  <a:cubicBezTo>
                    <a:pt x="0" y="8854"/>
                    <a:pt x="1270" y="5789"/>
                    <a:pt x="3530" y="3530"/>
                  </a:cubicBezTo>
                  <a:cubicBezTo>
                    <a:pt x="5789" y="1270"/>
                    <a:pt x="8854" y="0"/>
                    <a:pt x="12050" y="0"/>
                  </a:cubicBezTo>
                  <a:close/>
                </a:path>
              </a:pathLst>
            </a:custGeom>
            <a:solidFill>
              <a:srgbClr val="E8E8E8"/>
            </a:solidFill>
            <a:ln w="28575" cap="sq">
              <a:solidFill>
                <a:srgbClr val="5282FF"/>
              </a:solidFill>
              <a:prstDash val="solid"/>
              <a:miter/>
            </a:ln>
          </p:spPr>
        </p:sp>
        <p:sp>
          <p:nvSpPr>
            <p:cNvPr name="TextBox 74" id="74"/>
            <p:cNvSpPr txBox="true"/>
            <p:nvPr/>
          </p:nvSpPr>
          <p:spPr>
            <a:xfrm>
              <a:off x="0" y="66675"/>
              <a:ext cx="829404" cy="32296"/>
            </a:xfrm>
            <a:prstGeom prst="rect">
              <a:avLst/>
            </a:prstGeom>
          </p:spPr>
          <p:txBody>
            <a:bodyPr anchor="ctr" rtlCol="false" tIns="54321" lIns="54321" bIns="54321" rIns="54321"/>
            <a:lstStyle/>
            <a:p>
              <a:pPr algn="ctr" marL="0" indent="0" lvl="0">
                <a:lnSpc>
                  <a:spcPts val="499"/>
                </a:lnSpc>
                <a:spcBef>
                  <a:spcPct val="0"/>
                </a:spcBef>
              </a:pPr>
            </a:p>
          </p:txBody>
        </p:sp>
      </p:grpSp>
      <p:sp>
        <p:nvSpPr>
          <p:cNvPr name="TextBox 75" id="75"/>
          <p:cNvSpPr txBox="true"/>
          <p:nvPr/>
        </p:nvSpPr>
        <p:spPr>
          <a:xfrm rot="0">
            <a:off x="9922883" y="9181428"/>
            <a:ext cx="4971816" cy="324798"/>
          </a:xfrm>
          <a:prstGeom prst="rect">
            <a:avLst/>
          </a:prstGeom>
        </p:spPr>
        <p:txBody>
          <a:bodyPr anchor="t" rtlCol="false" tIns="0" lIns="0" bIns="0" rIns="0">
            <a:spAutoFit/>
          </a:bodyPr>
          <a:lstStyle/>
          <a:p>
            <a:pPr algn="l">
              <a:lnSpc>
                <a:spcPts val="2566"/>
              </a:lnSpc>
            </a:pPr>
            <a:r>
              <a:rPr lang="en-US" sz="2333">
                <a:solidFill>
                  <a:srgbClr val="000000"/>
                </a:solidFill>
                <a:latin typeface="Montserrat"/>
                <a:ea typeface="Montserrat"/>
                <a:cs typeface="Montserrat"/>
                <a:sym typeface="Montserrat"/>
              </a:rPr>
              <a:t>Diagrama de Casos de Uso</a:t>
            </a:r>
          </a:p>
        </p:txBody>
      </p:sp>
      <p:sp>
        <p:nvSpPr>
          <p:cNvPr name="AutoShape 76" id="76"/>
          <p:cNvSpPr/>
          <p:nvPr/>
        </p:nvSpPr>
        <p:spPr>
          <a:xfrm>
            <a:off x="9060108" y="3590712"/>
            <a:ext cx="778851" cy="0"/>
          </a:xfrm>
          <a:prstGeom prst="line">
            <a:avLst/>
          </a:prstGeom>
          <a:ln cap="flat" w="28575">
            <a:solidFill>
              <a:srgbClr val="000000"/>
            </a:solidFill>
            <a:prstDash val="solid"/>
            <a:headEnd type="none" len="sm" w="sm"/>
            <a:tailEnd type="none" len="sm" w="sm"/>
          </a:ln>
        </p:spPr>
      </p:sp>
      <p:sp>
        <p:nvSpPr>
          <p:cNvPr name="AutoShape 77" id="77"/>
          <p:cNvSpPr/>
          <p:nvPr/>
        </p:nvSpPr>
        <p:spPr>
          <a:xfrm flipV="true">
            <a:off x="9073770" y="4443197"/>
            <a:ext cx="744396" cy="7984"/>
          </a:xfrm>
          <a:prstGeom prst="line">
            <a:avLst/>
          </a:prstGeom>
          <a:ln cap="flat" w="28575">
            <a:solidFill>
              <a:srgbClr val="000000"/>
            </a:solidFill>
            <a:prstDash val="solid"/>
            <a:headEnd type="none" len="sm" w="sm"/>
            <a:tailEnd type="none" len="sm" w="sm"/>
          </a:ln>
        </p:spPr>
      </p:sp>
      <p:sp>
        <p:nvSpPr>
          <p:cNvPr name="AutoShape 78" id="78"/>
          <p:cNvSpPr/>
          <p:nvPr/>
        </p:nvSpPr>
        <p:spPr>
          <a:xfrm>
            <a:off x="9073770" y="5214216"/>
            <a:ext cx="744396" cy="3628"/>
          </a:xfrm>
          <a:prstGeom prst="line">
            <a:avLst/>
          </a:prstGeom>
          <a:ln cap="flat" w="28575">
            <a:solidFill>
              <a:srgbClr val="000000"/>
            </a:solidFill>
            <a:prstDash val="solid"/>
            <a:headEnd type="none" len="sm" w="sm"/>
            <a:tailEnd type="none" len="sm" w="sm"/>
          </a:ln>
        </p:spPr>
      </p:sp>
      <p:sp>
        <p:nvSpPr>
          <p:cNvPr name="AutoShape 79" id="79"/>
          <p:cNvSpPr/>
          <p:nvPr/>
        </p:nvSpPr>
        <p:spPr>
          <a:xfrm>
            <a:off x="9060108" y="6013239"/>
            <a:ext cx="778851" cy="0"/>
          </a:xfrm>
          <a:prstGeom prst="line">
            <a:avLst/>
          </a:prstGeom>
          <a:ln cap="flat" w="28575">
            <a:solidFill>
              <a:srgbClr val="000000"/>
            </a:solidFill>
            <a:prstDash val="solid"/>
            <a:headEnd type="none" len="sm" w="sm"/>
            <a:tailEnd type="none" len="sm" w="sm"/>
          </a:ln>
        </p:spPr>
      </p:sp>
      <p:sp>
        <p:nvSpPr>
          <p:cNvPr name="AutoShape 80" id="80"/>
          <p:cNvSpPr/>
          <p:nvPr/>
        </p:nvSpPr>
        <p:spPr>
          <a:xfrm>
            <a:off x="9060108" y="6754766"/>
            <a:ext cx="778851" cy="0"/>
          </a:xfrm>
          <a:prstGeom prst="line">
            <a:avLst/>
          </a:prstGeom>
          <a:ln cap="flat" w="28575">
            <a:solidFill>
              <a:srgbClr val="000000"/>
            </a:solidFill>
            <a:prstDash val="solid"/>
            <a:headEnd type="none" len="sm" w="sm"/>
            <a:tailEnd type="none" len="sm" w="sm"/>
          </a:ln>
        </p:spPr>
      </p:sp>
      <p:sp>
        <p:nvSpPr>
          <p:cNvPr name="AutoShape 81" id="81"/>
          <p:cNvSpPr/>
          <p:nvPr/>
        </p:nvSpPr>
        <p:spPr>
          <a:xfrm>
            <a:off x="9060108" y="7615453"/>
            <a:ext cx="778851" cy="0"/>
          </a:xfrm>
          <a:prstGeom prst="line">
            <a:avLst/>
          </a:prstGeom>
          <a:ln cap="flat" w="28575">
            <a:solidFill>
              <a:srgbClr val="000000"/>
            </a:solidFill>
            <a:prstDash val="solid"/>
            <a:headEnd type="none" len="sm" w="sm"/>
            <a:tailEnd type="none" len="sm" w="sm"/>
          </a:ln>
        </p:spPr>
      </p:sp>
      <p:sp>
        <p:nvSpPr>
          <p:cNvPr name="AutoShape 82" id="82"/>
          <p:cNvSpPr/>
          <p:nvPr/>
        </p:nvSpPr>
        <p:spPr>
          <a:xfrm>
            <a:off x="9060108" y="8336581"/>
            <a:ext cx="778851" cy="0"/>
          </a:xfrm>
          <a:prstGeom prst="line">
            <a:avLst/>
          </a:prstGeom>
          <a:ln cap="flat" w="28575">
            <a:solidFill>
              <a:srgbClr val="000000"/>
            </a:solidFill>
            <a:prstDash val="solid"/>
            <a:headEnd type="none" len="sm" w="sm"/>
            <a:tailEnd type="none" len="sm" w="sm"/>
          </a:ln>
        </p:spPr>
      </p:sp>
      <p:sp>
        <p:nvSpPr>
          <p:cNvPr name="AutoShape 83" id="83"/>
          <p:cNvSpPr/>
          <p:nvPr/>
        </p:nvSpPr>
        <p:spPr>
          <a:xfrm flipV="true">
            <a:off x="8841521" y="9357684"/>
            <a:ext cx="976645" cy="0"/>
          </a:xfrm>
          <a:prstGeom prst="line">
            <a:avLst/>
          </a:prstGeom>
          <a:ln cap="flat" w="28575">
            <a:solidFill>
              <a:srgbClr val="000000"/>
            </a:solidFill>
            <a:prstDash val="solid"/>
            <a:headEnd type="none" len="sm" w="sm"/>
            <a:tailEnd type="none" len="sm" w="sm"/>
          </a:ln>
        </p:spPr>
      </p:sp>
      <p:sp>
        <p:nvSpPr>
          <p:cNvPr name="AutoShape 84" id="84"/>
          <p:cNvSpPr/>
          <p:nvPr/>
        </p:nvSpPr>
        <p:spPr>
          <a:xfrm>
            <a:off x="9060108" y="3604373"/>
            <a:ext cx="13662" cy="1593446"/>
          </a:xfrm>
          <a:prstGeom prst="line">
            <a:avLst/>
          </a:prstGeom>
          <a:ln cap="flat" w="28575">
            <a:solidFill>
              <a:srgbClr val="000000"/>
            </a:solidFill>
            <a:prstDash val="solid"/>
            <a:headEnd type="none" len="sm" w="sm"/>
            <a:tailEnd type="none" len="sm" w="sm"/>
          </a:ln>
        </p:spPr>
      </p:sp>
      <p:sp>
        <p:nvSpPr>
          <p:cNvPr name="AutoShape 85" id="85"/>
          <p:cNvSpPr/>
          <p:nvPr/>
        </p:nvSpPr>
        <p:spPr>
          <a:xfrm>
            <a:off x="9073770" y="6032167"/>
            <a:ext cx="0" cy="736261"/>
          </a:xfrm>
          <a:prstGeom prst="line">
            <a:avLst/>
          </a:prstGeom>
          <a:ln cap="flat" w="28575">
            <a:solidFill>
              <a:srgbClr val="000000"/>
            </a:solidFill>
            <a:prstDash val="solid"/>
            <a:headEnd type="none" len="sm" w="sm"/>
            <a:tailEnd type="none" len="sm" w="sm"/>
          </a:ln>
        </p:spPr>
      </p:sp>
      <p:sp>
        <p:nvSpPr>
          <p:cNvPr name="AutoShape 86" id="86"/>
          <p:cNvSpPr/>
          <p:nvPr/>
        </p:nvSpPr>
        <p:spPr>
          <a:xfrm>
            <a:off x="9073770" y="7615453"/>
            <a:ext cx="0" cy="736261"/>
          </a:xfrm>
          <a:prstGeom prst="line">
            <a:avLst/>
          </a:prstGeom>
          <a:ln cap="flat" w="28575">
            <a:solidFill>
              <a:srgbClr val="000000"/>
            </a:solidFill>
            <a:prstDash val="solid"/>
            <a:headEnd type="none" len="sm" w="sm"/>
            <a:tailEnd type="none" len="sm" w="sm"/>
          </a:ln>
        </p:spPr>
      </p:sp>
      <p:sp>
        <p:nvSpPr>
          <p:cNvPr name="AutoShape 87" id="87"/>
          <p:cNvSpPr/>
          <p:nvPr/>
        </p:nvSpPr>
        <p:spPr>
          <a:xfrm>
            <a:off x="8841521" y="4456859"/>
            <a:ext cx="245778" cy="0"/>
          </a:xfrm>
          <a:prstGeom prst="line">
            <a:avLst/>
          </a:prstGeom>
          <a:ln cap="flat" w="28575">
            <a:solidFill>
              <a:srgbClr val="000000"/>
            </a:solidFill>
            <a:prstDash val="solid"/>
            <a:headEnd type="none" len="sm" w="sm"/>
            <a:tailEnd type="none" len="sm" w="sm"/>
          </a:ln>
        </p:spPr>
      </p:sp>
      <p:sp>
        <p:nvSpPr>
          <p:cNvPr name="AutoShape 88" id="88"/>
          <p:cNvSpPr/>
          <p:nvPr/>
        </p:nvSpPr>
        <p:spPr>
          <a:xfrm>
            <a:off x="8814330" y="6389937"/>
            <a:ext cx="245778" cy="0"/>
          </a:xfrm>
          <a:prstGeom prst="line">
            <a:avLst/>
          </a:prstGeom>
          <a:ln cap="flat" w="28575">
            <a:solidFill>
              <a:srgbClr val="000000"/>
            </a:solidFill>
            <a:prstDash val="solid"/>
            <a:headEnd type="none" len="sm" w="sm"/>
            <a:tailEnd type="none" len="sm" w="sm"/>
          </a:ln>
        </p:spPr>
      </p:sp>
      <p:sp>
        <p:nvSpPr>
          <p:cNvPr name="AutoShape 89" id="89"/>
          <p:cNvSpPr/>
          <p:nvPr/>
        </p:nvSpPr>
        <p:spPr>
          <a:xfrm>
            <a:off x="8814330" y="7984319"/>
            <a:ext cx="245778" cy="0"/>
          </a:xfrm>
          <a:prstGeom prst="line">
            <a:avLst/>
          </a:prstGeom>
          <a:ln cap="flat" w="28575">
            <a:solidFill>
              <a:srgbClr val="000000"/>
            </a:solidFill>
            <a:prstDash val="solid"/>
            <a:headEnd type="none" len="sm" w="sm"/>
            <a:tailEnd type="none" len="sm" w="sm"/>
          </a:ln>
        </p:spPr>
      </p:sp>
      <p:sp>
        <p:nvSpPr>
          <p:cNvPr name="AutoShape 90" id="90"/>
          <p:cNvSpPr/>
          <p:nvPr/>
        </p:nvSpPr>
        <p:spPr>
          <a:xfrm>
            <a:off x="5582612" y="2293690"/>
            <a:ext cx="437085" cy="0"/>
          </a:xfrm>
          <a:prstGeom prst="line">
            <a:avLst/>
          </a:prstGeom>
          <a:ln cap="flat" w="28575">
            <a:solidFill>
              <a:srgbClr val="000000"/>
            </a:solidFill>
            <a:prstDash val="solid"/>
            <a:headEnd type="none" len="sm" w="sm"/>
            <a:tailEnd type="none" len="sm" w="sm"/>
          </a:ln>
        </p:spPr>
      </p:sp>
      <p:sp>
        <p:nvSpPr>
          <p:cNvPr name="AutoShape 91" id="91"/>
          <p:cNvSpPr/>
          <p:nvPr/>
        </p:nvSpPr>
        <p:spPr>
          <a:xfrm>
            <a:off x="5606061" y="4386231"/>
            <a:ext cx="437085" cy="0"/>
          </a:xfrm>
          <a:prstGeom prst="line">
            <a:avLst/>
          </a:prstGeom>
          <a:ln cap="flat" w="28575">
            <a:solidFill>
              <a:srgbClr val="000000"/>
            </a:solidFill>
            <a:prstDash val="solid"/>
            <a:headEnd type="none" len="sm" w="sm"/>
            <a:tailEnd type="none" len="sm" w="sm"/>
          </a:ln>
        </p:spPr>
      </p:sp>
      <p:sp>
        <p:nvSpPr>
          <p:cNvPr name="AutoShape 92" id="92"/>
          <p:cNvSpPr/>
          <p:nvPr/>
        </p:nvSpPr>
        <p:spPr>
          <a:xfrm>
            <a:off x="5609803" y="6325158"/>
            <a:ext cx="437085" cy="0"/>
          </a:xfrm>
          <a:prstGeom prst="line">
            <a:avLst/>
          </a:prstGeom>
          <a:ln cap="flat" w="28575">
            <a:solidFill>
              <a:srgbClr val="000000"/>
            </a:solidFill>
            <a:prstDash val="solid"/>
            <a:headEnd type="none" len="sm" w="sm"/>
            <a:tailEnd type="none" len="sm" w="sm"/>
          </a:ln>
        </p:spPr>
      </p:sp>
      <p:sp>
        <p:nvSpPr>
          <p:cNvPr name="AutoShape 93" id="93"/>
          <p:cNvSpPr/>
          <p:nvPr/>
        </p:nvSpPr>
        <p:spPr>
          <a:xfrm>
            <a:off x="5582612" y="7942408"/>
            <a:ext cx="464276" cy="0"/>
          </a:xfrm>
          <a:prstGeom prst="line">
            <a:avLst/>
          </a:prstGeom>
          <a:ln cap="flat" w="28575">
            <a:solidFill>
              <a:srgbClr val="000000"/>
            </a:solidFill>
            <a:prstDash val="solid"/>
            <a:headEnd type="none" len="sm" w="sm"/>
            <a:tailEnd type="none" len="sm" w="sm"/>
          </a:ln>
        </p:spPr>
      </p:sp>
      <p:sp>
        <p:nvSpPr>
          <p:cNvPr name="AutoShape 94" id="94"/>
          <p:cNvSpPr/>
          <p:nvPr/>
        </p:nvSpPr>
        <p:spPr>
          <a:xfrm>
            <a:off x="5588657" y="9385007"/>
            <a:ext cx="464276" cy="0"/>
          </a:xfrm>
          <a:prstGeom prst="line">
            <a:avLst/>
          </a:prstGeom>
          <a:ln cap="flat" w="28575">
            <a:solidFill>
              <a:srgbClr val="000000"/>
            </a:solidFill>
            <a:prstDash val="solid"/>
            <a:headEnd type="none" len="sm" w="sm"/>
            <a:tailEnd type="none" len="sm" w="sm"/>
          </a:ln>
        </p:spPr>
      </p:sp>
      <p:sp>
        <p:nvSpPr>
          <p:cNvPr name="Freeform 95" id="95"/>
          <p:cNvSpPr/>
          <p:nvPr/>
        </p:nvSpPr>
        <p:spPr>
          <a:xfrm flipH="false" flipV="false" rot="0">
            <a:off x="-669914" y="3347955"/>
            <a:ext cx="10465695" cy="7565195"/>
          </a:xfrm>
          <a:custGeom>
            <a:avLst/>
            <a:gdLst/>
            <a:ahLst/>
            <a:cxnLst/>
            <a:rect r="r" b="b" t="t" l="l"/>
            <a:pathLst>
              <a:path h="7565195" w="10465695">
                <a:moveTo>
                  <a:pt x="0" y="0"/>
                </a:moveTo>
                <a:lnTo>
                  <a:pt x="10465695" y="0"/>
                </a:lnTo>
                <a:lnTo>
                  <a:pt x="10465695" y="7565195"/>
                </a:lnTo>
                <a:lnTo>
                  <a:pt x="0" y="7565195"/>
                </a:lnTo>
                <a:lnTo>
                  <a:pt x="0" y="0"/>
                </a:lnTo>
                <a:close/>
              </a:path>
            </a:pathLst>
          </a:custGeom>
          <a:blipFill>
            <a:blip r:embed="rId3"/>
            <a:stretch>
              <a:fillRect l="0" t="-14854" r="0" b="-10515"/>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0067559" y="-1260754"/>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sp>
        <p:nvSpPr>
          <p:cNvPr name="Freeform 3" id="3"/>
          <p:cNvSpPr/>
          <p:nvPr/>
        </p:nvSpPr>
        <p:spPr>
          <a:xfrm flipH="false" flipV="false" rot="0">
            <a:off x="15666340" y="0"/>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sp>
        <p:nvSpPr>
          <p:cNvPr name="Freeform 4" id="4"/>
          <p:cNvSpPr/>
          <p:nvPr/>
        </p:nvSpPr>
        <p:spPr>
          <a:xfrm flipH="false" flipV="false" rot="0">
            <a:off x="-669914" y="3347955"/>
            <a:ext cx="10465695" cy="7565195"/>
          </a:xfrm>
          <a:custGeom>
            <a:avLst/>
            <a:gdLst/>
            <a:ahLst/>
            <a:cxnLst/>
            <a:rect r="r" b="b" t="t" l="l"/>
            <a:pathLst>
              <a:path h="7565195" w="10465695">
                <a:moveTo>
                  <a:pt x="0" y="0"/>
                </a:moveTo>
                <a:lnTo>
                  <a:pt x="10465695" y="0"/>
                </a:lnTo>
                <a:lnTo>
                  <a:pt x="10465695" y="7565195"/>
                </a:lnTo>
                <a:lnTo>
                  <a:pt x="0" y="7565195"/>
                </a:lnTo>
                <a:lnTo>
                  <a:pt x="0" y="0"/>
                </a:lnTo>
                <a:close/>
              </a:path>
            </a:pathLst>
          </a:custGeom>
          <a:blipFill>
            <a:blip r:embed="rId3"/>
            <a:stretch>
              <a:fillRect l="0" t="-14854" r="0" b="-10515"/>
            </a:stretch>
          </a:blipFill>
        </p:spPr>
      </p:sp>
      <p:sp>
        <p:nvSpPr>
          <p:cNvPr name="Freeform 5" id="5"/>
          <p:cNvSpPr/>
          <p:nvPr/>
        </p:nvSpPr>
        <p:spPr>
          <a:xfrm flipH="false" flipV="false" rot="0">
            <a:off x="1180628" y="1416098"/>
            <a:ext cx="16160703" cy="8342963"/>
          </a:xfrm>
          <a:custGeom>
            <a:avLst/>
            <a:gdLst/>
            <a:ahLst/>
            <a:cxnLst/>
            <a:rect r="r" b="b" t="t" l="l"/>
            <a:pathLst>
              <a:path h="8342963" w="16160703">
                <a:moveTo>
                  <a:pt x="0" y="0"/>
                </a:moveTo>
                <a:lnTo>
                  <a:pt x="16160703" y="0"/>
                </a:lnTo>
                <a:lnTo>
                  <a:pt x="16160703" y="8342963"/>
                </a:lnTo>
                <a:lnTo>
                  <a:pt x="0" y="8342963"/>
                </a:lnTo>
                <a:lnTo>
                  <a:pt x="0" y="0"/>
                </a:lnTo>
                <a:close/>
              </a:path>
            </a:pathLst>
          </a:custGeom>
          <a:blipFill>
            <a:blip r:embed="rId5"/>
            <a:stretch>
              <a:fillRect l="0" t="0" r="0" b="0"/>
            </a:stretch>
          </a:blipFill>
        </p:spPr>
      </p:sp>
      <p:sp>
        <p:nvSpPr>
          <p:cNvPr name="TextBox 6" id="6"/>
          <p:cNvSpPr txBox="true"/>
          <p:nvPr/>
        </p:nvSpPr>
        <p:spPr>
          <a:xfrm rot="0">
            <a:off x="1262659" y="279762"/>
            <a:ext cx="15996641" cy="817194"/>
          </a:xfrm>
          <a:prstGeom prst="rect">
            <a:avLst/>
          </a:prstGeom>
        </p:spPr>
        <p:txBody>
          <a:bodyPr anchor="t" rtlCol="false" tIns="0" lIns="0" bIns="0" rIns="0">
            <a:spAutoFit/>
          </a:bodyPr>
          <a:lstStyle/>
          <a:p>
            <a:pPr algn="ctr">
              <a:lnSpc>
                <a:spcPts val="6407"/>
              </a:lnSpc>
              <a:spcBef>
                <a:spcPct val="0"/>
              </a:spcBef>
            </a:pPr>
            <a:r>
              <a:rPr lang="en-US" b="true" sz="4577">
                <a:solidFill>
                  <a:srgbClr val="28346D"/>
                </a:solidFill>
                <a:latin typeface="Poppins Bold"/>
                <a:ea typeface="Poppins Bold"/>
                <a:cs typeface="Poppins Bold"/>
                <a:sym typeface="Poppins Bold"/>
              </a:rPr>
              <a:t>DIAGRAMA DE CASO DE USO GENERAL</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0067559" y="-1260754"/>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sp>
        <p:nvSpPr>
          <p:cNvPr name="Freeform 3" id="3"/>
          <p:cNvSpPr/>
          <p:nvPr/>
        </p:nvSpPr>
        <p:spPr>
          <a:xfrm flipH="false" flipV="false" rot="0">
            <a:off x="15666340" y="0"/>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sp>
        <p:nvSpPr>
          <p:cNvPr name="Freeform 4" id="4"/>
          <p:cNvSpPr/>
          <p:nvPr/>
        </p:nvSpPr>
        <p:spPr>
          <a:xfrm flipH="false" flipV="false" rot="0">
            <a:off x="-669914" y="3347955"/>
            <a:ext cx="10465695" cy="7565195"/>
          </a:xfrm>
          <a:custGeom>
            <a:avLst/>
            <a:gdLst/>
            <a:ahLst/>
            <a:cxnLst/>
            <a:rect r="r" b="b" t="t" l="l"/>
            <a:pathLst>
              <a:path h="7565195" w="10465695">
                <a:moveTo>
                  <a:pt x="0" y="0"/>
                </a:moveTo>
                <a:lnTo>
                  <a:pt x="10465695" y="0"/>
                </a:lnTo>
                <a:lnTo>
                  <a:pt x="10465695" y="7565195"/>
                </a:lnTo>
                <a:lnTo>
                  <a:pt x="0" y="7565195"/>
                </a:lnTo>
                <a:lnTo>
                  <a:pt x="0" y="0"/>
                </a:lnTo>
                <a:close/>
              </a:path>
            </a:pathLst>
          </a:custGeom>
          <a:blipFill>
            <a:blip r:embed="rId3"/>
            <a:stretch>
              <a:fillRect l="0" t="-14854" r="0" b="-10515"/>
            </a:stretch>
          </a:blipFill>
        </p:spPr>
      </p:sp>
      <p:sp>
        <p:nvSpPr>
          <p:cNvPr name="Freeform 5" id="5"/>
          <p:cNvSpPr/>
          <p:nvPr/>
        </p:nvSpPr>
        <p:spPr>
          <a:xfrm flipH="false" flipV="false" rot="0">
            <a:off x="1028700" y="1877092"/>
            <a:ext cx="16230600" cy="6532816"/>
          </a:xfrm>
          <a:custGeom>
            <a:avLst/>
            <a:gdLst/>
            <a:ahLst/>
            <a:cxnLst/>
            <a:rect r="r" b="b" t="t" l="l"/>
            <a:pathLst>
              <a:path h="6532816" w="16230600">
                <a:moveTo>
                  <a:pt x="0" y="0"/>
                </a:moveTo>
                <a:lnTo>
                  <a:pt x="16230600" y="0"/>
                </a:lnTo>
                <a:lnTo>
                  <a:pt x="16230600" y="6532816"/>
                </a:lnTo>
                <a:lnTo>
                  <a:pt x="0" y="6532816"/>
                </a:lnTo>
                <a:lnTo>
                  <a:pt x="0" y="0"/>
                </a:lnTo>
                <a:close/>
              </a:path>
            </a:pathLst>
          </a:custGeom>
          <a:blipFill>
            <a:blip r:embed="rId5"/>
            <a:stretch>
              <a:fillRect l="0" t="0" r="0" b="0"/>
            </a:stretch>
          </a:blipFill>
        </p:spPr>
      </p:sp>
      <p:sp>
        <p:nvSpPr>
          <p:cNvPr name="TextBox 6" id="6"/>
          <p:cNvSpPr txBox="true"/>
          <p:nvPr/>
        </p:nvSpPr>
        <p:spPr>
          <a:xfrm rot="0">
            <a:off x="1262659" y="279762"/>
            <a:ext cx="15996641" cy="817194"/>
          </a:xfrm>
          <a:prstGeom prst="rect">
            <a:avLst/>
          </a:prstGeom>
        </p:spPr>
        <p:txBody>
          <a:bodyPr anchor="t" rtlCol="false" tIns="0" lIns="0" bIns="0" rIns="0">
            <a:spAutoFit/>
          </a:bodyPr>
          <a:lstStyle/>
          <a:p>
            <a:pPr algn="ctr">
              <a:lnSpc>
                <a:spcPts val="6407"/>
              </a:lnSpc>
              <a:spcBef>
                <a:spcPct val="0"/>
              </a:spcBef>
            </a:pPr>
            <a:r>
              <a:rPr lang="en-US" b="true" sz="4577">
                <a:solidFill>
                  <a:srgbClr val="28346D"/>
                </a:solidFill>
                <a:latin typeface="Poppins Bold"/>
                <a:ea typeface="Poppins Bold"/>
                <a:cs typeface="Poppins Bold"/>
                <a:sym typeface="Poppins Bold"/>
              </a:rPr>
              <a:t>MER SIMPLIFICADO</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9749573" y="-552118"/>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sp>
        <p:nvSpPr>
          <p:cNvPr name="Freeform 3" id="3"/>
          <p:cNvSpPr/>
          <p:nvPr/>
        </p:nvSpPr>
        <p:spPr>
          <a:xfrm flipH="false" flipV="false" rot="0">
            <a:off x="15666340" y="0"/>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sp>
        <p:nvSpPr>
          <p:cNvPr name="Freeform 4" id="4"/>
          <p:cNvSpPr/>
          <p:nvPr/>
        </p:nvSpPr>
        <p:spPr>
          <a:xfrm flipH="false" flipV="false" rot="0">
            <a:off x="426133" y="1476150"/>
            <a:ext cx="17379444" cy="8255236"/>
          </a:xfrm>
          <a:custGeom>
            <a:avLst/>
            <a:gdLst/>
            <a:ahLst/>
            <a:cxnLst/>
            <a:rect r="r" b="b" t="t" l="l"/>
            <a:pathLst>
              <a:path h="8255236" w="17379444">
                <a:moveTo>
                  <a:pt x="0" y="0"/>
                </a:moveTo>
                <a:lnTo>
                  <a:pt x="17379443" y="0"/>
                </a:lnTo>
                <a:lnTo>
                  <a:pt x="17379443" y="8255236"/>
                </a:lnTo>
                <a:lnTo>
                  <a:pt x="0" y="8255236"/>
                </a:lnTo>
                <a:lnTo>
                  <a:pt x="0" y="0"/>
                </a:lnTo>
                <a:close/>
              </a:path>
            </a:pathLst>
          </a:custGeom>
          <a:blipFill>
            <a:blip r:embed="rId5"/>
            <a:stretch>
              <a:fillRect l="0" t="0" r="0" b="0"/>
            </a:stretch>
          </a:blipFill>
        </p:spPr>
      </p:sp>
      <p:sp>
        <p:nvSpPr>
          <p:cNvPr name="TextBox 5" id="5"/>
          <p:cNvSpPr txBox="true"/>
          <p:nvPr/>
        </p:nvSpPr>
        <p:spPr>
          <a:xfrm rot="0">
            <a:off x="3649212" y="494806"/>
            <a:ext cx="9170742" cy="560018"/>
          </a:xfrm>
          <a:prstGeom prst="rect">
            <a:avLst/>
          </a:prstGeom>
        </p:spPr>
        <p:txBody>
          <a:bodyPr anchor="t" rtlCol="false" tIns="0" lIns="0" bIns="0" rIns="0">
            <a:spAutoFit/>
          </a:bodyPr>
          <a:lstStyle/>
          <a:p>
            <a:pPr algn="ctr">
              <a:lnSpc>
                <a:spcPts val="4307"/>
              </a:lnSpc>
              <a:spcBef>
                <a:spcPct val="0"/>
              </a:spcBef>
            </a:pPr>
            <a:r>
              <a:rPr lang="en-US" b="true" sz="3077">
                <a:solidFill>
                  <a:srgbClr val="28346D"/>
                </a:solidFill>
                <a:latin typeface="Poppins Bold"/>
                <a:ea typeface="Poppins Bold"/>
                <a:cs typeface="Poppins Bold"/>
                <a:sym typeface="Poppins Bold"/>
              </a:rPr>
              <a:t>BPMN TO-DO</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0244794" y="-822238"/>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sp>
        <p:nvSpPr>
          <p:cNvPr name="Freeform 3" id="3"/>
          <p:cNvSpPr/>
          <p:nvPr/>
        </p:nvSpPr>
        <p:spPr>
          <a:xfrm flipH="false" flipV="false" rot="0">
            <a:off x="15666340" y="0"/>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sp>
        <p:nvSpPr>
          <p:cNvPr name="Freeform 4" id="4"/>
          <p:cNvSpPr/>
          <p:nvPr/>
        </p:nvSpPr>
        <p:spPr>
          <a:xfrm flipH="false" flipV="false" rot="0">
            <a:off x="-1054364" y="3100790"/>
            <a:ext cx="10465695" cy="7565195"/>
          </a:xfrm>
          <a:custGeom>
            <a:avLst/>
            <a:gdLst/>
            <a:ahLst/>
            <a:cxnLst/>
            <a:rect r="r" b="b" t="t" l="l"/>
            <a:pathLst>
              <a:path h="7565195" w="10465695">
                <a:moveTo>
                  <a:pt x="0" y="0"/>
                </a:moveTo>
                <a:lnTo>
                  <a:pt x="10465696" y="0"/>
                </a:lnTo>
                <a:lnTo>
                  <a:pt x="10465696" y="7565195"/>
                </a:lnTo>
                <a:lnTo>
                  <a:pt x="0" y="7565195"/>
                </a:lnTo>
                <a:lnTo>
                  <a:pt x="0" y="0"/>
                </a:lnTo>
                <a:close/>
              </a:path>
            </a:pathLst>
          </a:custGeom>
          <a:blipFill>
            <a:blip r:embed="rId3"/>
            <a:stretch>
              <a:fillRect l="0" t="-14854" r="0" b="-10515"/>
            </a:stretch>
          </a:blipFill>
        </p:spPr>
      </p:sp>
      <p:sp>
        <p:nvSpPr>
          <p:cNvPr name="Freeform 5" id="5"/>
          <p:cNvSpPr/>
          <p:nvPr/>
        </p:nvSpPr>
        <p:spPr>
          <a:xfrm flipH="false" flipV="false" rot="0">
            <a:off x="3553908" y="2310215"/>
            <a:ext cx="5170009" cy="7057787"/>
          </a:xfrm>
          <a:custGeom>
            <a:avLst/>
            <a:gdLst/>
            <a:ahLst/>
            <a:cxnLst/>
            <a:rect r="r" b="b" t="t" l="l"/>
            <a:pathLst>
              <a:path h="7057787" w="5170009">
                <a:moveTo>
                  <a:pt x="0" y="0"/>
                </a:moveTo>
                <a:lnTo>
                  <a:pt x="5170009" y="0"/>
                </a:lnTo>
                <a:lnTo>
                  <a:pt x="5170009" y="7057788"/>
                </a:lnTo>
                <a:lnTo>
                  <a:pt x="0" y="7057788"/>
                </a:lnTo>
                <a:lnTo>
                  <a:pt x="0" y="0"/>
                </a:lnTo>
                <a:close/>
              </a:path>
            </a:pathLst>
          </a:custGeom>
          <a:blipFill>
            <a:blip r:embed="rId5"/>
            <a:stretch>
              <a:fillRect l="0" t="0" r="-7756" b="-5990"/>
            </a:stretch>
          </a:blipFill>
        </p:spPr>
      </p:sp>
      <p:sp>
        <p:nvSpPr>
          <p:cNvPr name="Freeform 6" id="6"/>
          <p:cNvSpPr/>
          <p:nvPr/>
        </p:nvSpPr>
        <p:spPr>
          <a:xfrm flipH="false" flipV="false" rot="0">
            <a:off x="9627238" y="2314953"/>
            <a:ext cx="4913468" cy="6969458"/>
          </a:xfrm>
          <a:custGeom>
            <a:avLst/>
            <a:gdLst/>
            <a:ahLst/>
            <a:cxnLst/>
            <a:rect r="r" b="b" t="t" l="l"/>
            <a:pathLst>
              <a:path h="6969458" w="4913468">
                <a:moveTo>
                  <a:pt x="0" y="0"/>
                </a:moveTo>
                <a:lnTo>
                  <a:pt x="4913468" y="0"/>
                </a:lnTo>
                <a:lnTo>
                  <a:pt x="4913468" y="6969458"/>
                </a:lnTo>
                <a:lnTo>
                  <a:pt x="0" y="6969458"/>
                </a:lnTo>
                <a:lnTo>
                  <a:pt x="0" y="0"/>
                </a:lnTo>
                <a:close/>
              </a:path>
            </a:pathLst>
          </a:custGeom>
          <a:blipFill>
            <a:blip r:embed="rId6"/>
            <a:stretch>
              <a:fillRect l="0" t="0" r="0" b="0"/>
            </a:stretch>
          </a:blipFill>
        </p:spPr>
      </p:sp>
      <p:sp>
        <p:nvSpPr>
          <p:cNvPr name="TextBox 7" id="7"/>
          <p:cNvSpPr txBox="true"/>
          <p:nvPr/>
        </p:nvSpPr>
        <p:spPr>
          <a:xfrm rot="0">
            <a:off x="4558629" y="494806"/>
            <a:ext cx="9170742" cy="560018"/>
          </a:xfrm>
          <a:prstGeom prst="rect">
            <a:avLst/>
          </a:prstGeom>
        </p:spPr>
        <p:txBody>
          <a:bodyPr anchor="t" rtlCol="false" tIns="0" lIns="0" bIns="0" rIns="0">
            <a:spAutoFit/>
          </a:bodyPr>
          <a:lstStyle/>
          <a:p>
            <a:pPr algn="ctr">
              <a:lnSpc>
                <a:spcPts val="4307"/>
              </a:lnSpc>
              <a:spcBef>
                <a:spcPct val="0"/>
              </a:spcBef>
            </a:pPr>
            <a:r>
              <a:rPr lang="en-US" b="true" sz="3077">
                <a:solidFill>
                  <a:srgbClr val="28346D"/>
                </a:solidFill>
                <a:latin typeface="Poppins Bold"/>
                <a:ea typeface="Poppins Bold"/>
                <a:cs typeface="Poppins Bold"/>
                <a:sym typeface="Poppins Bold"/>
              </a:rPr>
              <a:t>DISEÑO DE FRONT-END</a:t>
            </a:r>
          </a:p>
        </p:txBody>
      </p:sp>
      <p:sp>
        <p:nvSpPr>
          <p:cNvPr name="TextBox 8" id="8"/>
          <p:cNvSpPr txBox="true"/>
          <p:nvPr/>
        </p:nvSpPr>
        <p:spPr>
          <a:xfrm rot="0">
            <a:off x="3553908" y="1354885"/>
            <a:ext cx="5345280" cy="560018"/>
          </a:xfrm>
          <a:prstGeom prst="rect">
            <a:avLst/>
          </a:prstGeom>
        </p:spPr>
        <p:txBody>
          <a:bodyPr anchor="t" rtlCol="false" tIns="0" lIns="0" bIns="0" rIns="0">
            <a:spAutoFit/>
          </a:bodyPr>
          <a:lstStyle/>
          <a:p>
            <a:pPr algn="ctr">
              <a:lnSpc>
                <a:spcPts val="4307"/>
              </a:lnSpc>
              <a:spcBef>
                <a:spcPct val="0"/>
              </a:spcBef>
            </a:pPr>
            <a:r>
              <a:rPr lang="en-US" b="true" sz="3077">
                <a:solidFill>
                  <a:srgbClr val="28346D"/>
                </a:solidFill>
                <a:latin typeface="Poppins Bold"/>
                <a:ea typeface="Poppins Bold"/>
                <a:cs typeface="Poppins Bold"/>
                <a:sym typeface="Poppins Bold"/>
              </a:rPr>
              <a:t>PERFIL ADMINISTRADOR</a:t>
            </a:r>
          </a:p>
        </p:txBody>
      </p:sp>
      <p:sp>
        <p:nvSpPr>
          <p:cNvPr name="TextBox 9" id="9"/>
          <p:cNvSpPr txBox="true"/>
          <p:nvPr/>
        </p:nvSpPr>
        <p:spPr>
          <a:xfrm rot="0">
            <a:off x="9411332" y="1354885"/>
            <a:ext cx="5345280" cy="560018"/>
          </a:xfrm>
          <a:prstGeom prst="rect">
            <a:avLst/>
          </a:prstGeom>
        </p:spPr>
        <p:txBody>
          <a:bodyPr anchor="t" rtlCol="false" tIns="0" lIns="0" bIns="0" rIns="0">
            <a:spAutoFit/>
          </a:bodyPr>
          <a:lstStyle/>
          <a:p>
            <a:pPr algn="ctr">
              <a:lnSpc>
                <a:spcPts val="4307"/>
              </a:lnSpc>
              <a:spcBef>
                <a:spcPct val="0"/>
              </a:spcBef>
            </a:pPr>
            <a:r>
              <a:rPr lang="en-US" b="true" sz="3077">
                <a:solidFill>
                  <a:srgbClr val="28346D"/>
                </a:solidFill>
                <a:latin typeface="Poppins Bold"/>
                <a:ea typeface="Poppins Bold"/>
                <a:cs typeface="Poppins Bold"/>
                <a:sym typeface="Poppins Bold"/>
              </a:rPr>
              <a:t>PERFIL CLIENTE</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9927696" y="-552118"/>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sp>
        <p:nvSpPr>
          <p:cNvPr name="Freeform 3" id="3"/>
          <p:cNvSpPr/>
          <p:nvPr/>
        </p:nvSpPr>
        <p:spPr>
          <a:xfrm flipH="false" flipV="false" rot="0">
            <a:off x="15666340" y="0"/>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sp>
        <p:nvSpPr>
          <p:cNvPr name="Freeform 4" id="4"/>
          <p:cNvSpPr/>
          <p:nvPr/>
        </p:nvSpPr>
        <p:spPr>
          <a:xfrm flipH="false" flipV="false" rot="0">
            <a:off x="-2015020" y="3951612"/>
            <a:ext cx="10465695" cy="7565195"/>
          </a:xfrm>
          <a:custGeom>
            <a:avLst/>
            <a:gdLst/>
            <a:ahLst/>
            <a:cxnLst/>
            <a:rect r="r" b="b" t="t" l="l"/>
            <a:pathLst>
              <a:path h="7565195" w="10465695">
                <a:moveTo>
                  <a:pt x="0" y="0"/>
                </a:moveTo>
                <a:lnTo>
                  <a:pt x="10465696" y="0"/>
                </a:lnTo>
                <a:lnTo>
                  <a:pt x="10465696" y="7565195"/>
                </a:lnTo>
                <a:lnTo>
                  <a:pt x="0" y="7565195"/>
                </a:lnTo>
                <a:lnTo>
                  <a:pt x="0" y="0"/>
                </a:lnTo>
                <a:close/>
              </a:path>
            </a:pathLst>
          </a:custGeom>
          <a:blipFill>
            <a:blip r:embed="rId3"/>
            <a:stretch>
              <a:fillRect l="0" t="-14854" r="0" b="-10515"/>
            </a:stretch>
          </a:blipFill>
        </p:spPr>
      </p:sp>
      <p:sp>
        <p:nvSpPr>
          <p:cNvPr name="TextBox 5" id="5"/>
          <p:cNvSpPr txBox="true"/>
          <p:nvPr/>
        </p:nvSpPr>
        <p:spPr>
          <a:xfrm rot="0">
            <a:off x="3114444" y="672809"/>
            <a:ext cx="11392674" cy="616533"/>
          </a:xfrm>
          <a:prstGeom prst="rect">
            <a:avLst/>
          </a:prstGeom>
        </p:spPr>
        <p:txBody>
          <a:bodyPr anchor="t" rtlCol="false" tIns="0" lIns="0" bIns="0" rIns="0">
            <a:spAutoFit/>
          </a:bodyPr>
          <a:lstStyle/>
          <a:p>
            <a:pPr algn="ctr">
              <a:lnSpc>
                <a:spcPts val="4867"/>
              </a:lnSpc>
              <a:spcBef>
                <a:spcPct val="0"/>
              </a:spcBef>
            </a:pPr>
            <a:r>
              <a:rPr lang="en-US" b="true" sz="3477">
                <a:solidFill>
                  <a:srgbClr val="28346D"/>
                </a:solidFill>
                <a:latin typeface="Poppins Bold"/>
                <a:ea typeface="Poppins Bold"/>
                <a:cs typeface="Poppins Bold"/>
                <a:sym typeface="Poppins Bold"/>
              </a:rPr>
              <a:t>REPORTES Y DASHBOARD PERFIL ADMINISTRADOR</a:t>
            </a:r>
          </a:p>
        </p:txBody>
      </p:sp>
      <p:sp>
        <p:nvSpPr>
          <p:cNvPr name="Freeform 6" id="6"/>
          <p:cNvSpPr/>
          <p:nvPr/>
        </p:nvSpPr>
        <p:spPr>
          <a:xfrm flipH="false" flipV="false" rot="0">
            <a:off x="10429060" y="1830393"/>
            <a:ext cx="4811292" cy="6626214"/>
          </a:xfrm>
          <a:custGeom>
            <a:avLst/>
            <a:gdLst/>
            <a:ahLst/>
            <a:cxnLst/>
            <a:rect r="r" b="b" t="t" l="l"/>
            <a:pathLst>
              <a:path h="6626214" w="4811292">
                <a:moveTo>
                  <a:pt x="0" y="0"/>
                </a:moveTo>
                <a:lnTo>
                  <a:pt x="4811292" y="0"/>
                </a:lnTo>
                <a:lnTo>
                  <a:pt x="4811292" y="6626214"/>
                </a:lnTo>
                <a:lnTo>
                  <a:pt x="0" y="6626214"/>
                </a:lnTo>
                <a:lnTo>
                  <a:pt x="0" y="0"/>
                </a:lnTo>
                <a:close/>
              </a:path>
            </a:pathLst>
          </a:custGeom>
          <a:blipFill>
            <a:blip r:embed="rId5"/>
            <a:stretch>
              <a:fillRect l="0" t="-4639" r="-663" b="0"/>
            </a:stretch>
          </a:blipFill>
        </p:spPr>
      </p:sp>
      <p:sp>
        <p:nvSpPr>
          <p:cNvPr name="Freeform 7" id="7"/>
          <p:cNvSpPr/>
          <p:nvPr/>
        </p:nvSpPr>
        <p:spPr>
          <a:xfrm flipH="false" flipV="false" rot="0">
            <a:off x="3123969" y="1829128"/>
            <a:ext cx="5790196" cy="6626214"/>
          </a:xfrm>
          <a:custGeom>
            <a:avLst/>
            <a:gdLst/>
            <a:ahLst/>
            <a:cxnLst/>
            <a:rect r="r" b="b" t="t" l="l"/>
            <a:pathLst>
              <a:path h="6626214" w="5790196">
                <a:moveTo>
                  <a:pt x="0" y="0"/>
                </a:moveTo>
                <a:lnTo>
                  <a:pt x="5790196" y="0"/>
                </a:lnTo>
                <a:lnTo>
                  <a:pt x="5790196" y="6626214"/>
                </a:lnTo>
                <a:lnTo>
                  <a:pt x="0" y="6626214"/>
                </a:lnTo>
                <a:lnTo>
                  <a:pt x="0" y="0"/>
                </a:lnTo>
                <a:close/>
              </a:path>
            </a:pathLst>
          </a:custGeom>
          <a:blipFill>
            <a:blip r:embed="rId6"/>
            <a:stretch>
              <a:fillRect l="0" t="0" r="0" b="-815"/>
            </a:stretch>
          </a:blipFill>
        </p:spPr>
      </p:sp>
      <p:sp>
        <p:nvSpPr>
          <p:cNvPr name="TextBox 8" id="8"/>
          <p:cNvSpPr txBox="true"/>
          <p:nvPr/>
        </p:nvSpPr>
        <p:spPr>
          <a:xfrm rot="0">
            <a:off x="10429060" y="8665182"/>
            <a:ext cx="6061914" cy="1148136"/>
          </a:xfrm>
          <a:prstGeom prst="rect">
            <a:avLst/>
          </a:prstGeom>
        </p:spPr>
        <p:txBody>
          <a:bodyPr anchor="t" rtlCol="false" tIns="0" lIns="0" bIns="0" rIns="0">
            <a:spAutoFit/>
          </a:bodyPr>
          <a:lstStyle/>
          <a:p>
            <a:pPr algn="l" marL="280197" indent="-140098" lvl="1">
              <a:lnSpc>
                <a:spcPts val="1816"/>
              </a:lnSpc>
              <a:buFont typeface="Arial"/>
              <a:buChar char="•"/>
            </a:pPr>
            <a:r>
              <a:rPr lang="en-US" b="true" sz="1297">
                <a:solidFill>
                  <a:srgbClr val="28346D"/>
                </a:solidFill>
                <a:latin typeface="Poppins Bold"/>
                <a:ea typeface="Poppins Bold"/>
                <a:cs typeface="Poppins Bold"/>
                <a:sym typeface="Poppins Bold"/>
              </a:rPr>
              <a:t>REPORTE DE VENTAS</a:t>
            </a:r>
          </a:p>
          <a:p>
            <a:pPr algn="l" marL="280197" indent="-140098" lvl="1">
              <a:lnSpc>
                <a:spcPts val="1816"/>
              </a:lnSpc>
              <a:buFont typeface="Arial"/>
              <a:buChar char="•"/>
            </a:pPr>
            <a:r>
              <a:rPr lang="en-US" b="true" sz="1297">
                <a:solidFill>
                  <a:srgbClr val="28346D"/>
                </a:solidFill>
                <a:latin typeface="Poppins Bold"/>
                <a:ea typeface="Poppins Bold"/>
                <a:cs typeface="Poppins Bold"/>
                <a:sym typeface="Poppins Bold"/>
              </a:rPr>
              <a:t>VENTAS POR CATEGORIA</a:t>
            </a:r>
          </a:p>
          <a:p>
            <a:pPr algn="l" marL="280197" indent="-140098" lvl="1">
              <a:lnSpc>
                <a:spcPts val="1816"/>
              </a:lnSpc>
              <a:buFont typeface="Arial"/>
              <a:buChar char="•"/>
            </a:pPr>
            <a:r>
              <a:rPr lang="en-US" b="true" sz="1297">
                <a:solidFill>
                  <a:srgbClr val="28346D"/>
                </a:solidFill>
                <a:latin typeface="Poppins Bold"/>
                <a:ea typeface="Poppins Bold"/>
                <a:cs typeface="Poppins Bold"/>
                <a:sym typeface="Poppins Bold"/>
              </a:rPr>
              <a:t>EVOLUCIÓN DE LA VENTA POR EL PERIODO SELECCIONADO </a:t>
            </a:r>
          </a:p>
          <a:p>
            <a:pPr algn="l" marL="280197" indent="-140098" lvl="1">
              <a:lnSpc>
                <a:spcPts val="1816"/>
              </a:lnSpc>
              <a:buFont typeface="Arial"/>
              <a:buChar char="•"/>
            </a:pPr>
            <a:r>
              <a:rPr lang="en-US" b="true" sz="1297">
                <a:solidFill>
                  <a:srgbClr val="28346D"/>
                </a:solidFill>
                <a:latin typeface="Poppins Bold"/>
                <a:ea typeface="Poppins Bold"/>
                <a:cs typeface="Poppins Bold"/>
                <a:sym typeface="Poppins Bold"/>
              </a:rPr>
              <a:t>ESTADOS DE PEDIDOS</a:t>
            </a:r>
          </a:p>
          <a:p>
            <a:pPr algn="l" marL="280197" indent="-140098" lvl="1">
              <a:lnSpc>
                <a:spcPts val="1816"/>
              </a:lnSpc>
              <a:buFont typeface="Arial"/>
              <a:buChar char="•"/>
            </a:pPr>
            <a:r>
              <a:rPr lang="en-US" b="true" sz="1297">
                <a:solidFill>
                  <a:srgbClr val="28346D"/>
                </a:solidFill>
                <a:latin typeface="Poppins Bold"/>
                <a:ea typeface="Poppins Bold"/>
                <a:cs typeface="Poppins Bold"/>
                <a:sym typeface="Poppins Bold"/>
              </a:rPr>
              <a:t>TOP 10 PRODUCTOS MAS VENDIDOS</a:t>
            </a:r>
          </a:p>
        </p:txBody>
      </p:sp>
      <p:sp>
        <p:nvSpPr>
          <p:cNvPr name="TextBox 9" id="9"/>
          <p:cNvSpPr txBox="true"/>
          <p:nvPr/>
        </p:nvSpPr>
        <p:spPr>
          <a:xfrm rot="0">
            <a:off x="3217828" y="8665182"/>
            <a:ext cx="4252320" cy="462336"/>
          </a:xfrm>
          <a:prstGeom prst="rect">
            <a:avLst/>
          </a:prstGeom>
        </p:spPr>
        <p:txBody>
          <a:bodyPr anchor="t" rtlCol="false" tIns="0" lIns="0" bIns="0" rIns="0">
            <a:spAutoFit/>
          </a:bodyPr>
          <a:lstStyle/>
          <a:p>
            <a:pPr algn="l" marL="280197" indent="-140098" lvl="1">
              <a:lnSpc>
                <a:spcPts val="1816"/>
              </a:lnSpc>
              <a:buFont typeface="Arial"/>
              <a:buChar char="•"/>
            </a:pPr>
            <a:r>
              <a:rPr lang="en-US" b="true" sz="1297">
                <a:solidFill>
                  <a:srgbClr val="28346D"/>
                </a:solidFill>
                <a:latin typeface="Poppins Bold"/>
                <a:ea typeface="Poppins Bold"/>
                <a:cs typeface="Poppins Bold"/>
                <a:sym typeface="Poppins Bold"/>
              </a:rPr>
              <a:t>ESTADO INVENTARIO </a:t>
            </a:r>
          </a:p>
          <a:p>
            <a:pPr algn="l" marL="280197" indent="-140098" lvl="1">
              <a:lnSpc>
                <a:spcPts val="1816"/>
              </a:lnSpc>
              <a:buFont typeface="Arial"/>
              <a:buChar char="•"/>
            </a:pPr>
            <a:r>
              <a:rPr lang="en-US" b="true" sz="1297">
                <a:solidFill>
                  <a:srgbClr val="28346D"/>
                </a:solidFill>
                <a:latin typeface="Poppins Bold"/>
                <a:ea typeface="Poppins Bold"/>
                <a:cs typeface="Poppins Bold"/>
                <a:sym typeface="Poppins Bold"/>
              </a:rPr>
              <a:t>DISTRIBUCIÓN POR CATEGORIAS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9927696" y="-552118"/>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sp>
        <p:nvSpPr>
          <p:cNvPr name="Freeform 3" id="3"/>
          <p:cNvSpPr/>
          <p:nvPr/>
        </p:nvSpPr>
        <p:spPr>
          <a:xfrm flipH="false" flipV="false" rot="0">
            <a:off x="15666340" y="0"/>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sp>
        <p:nvSpPr>
          <p:cNvPr name="TextBox 4" id="4"/>
          <p:cNvSpPr txBox="true"/>
          <p:nvPr/>
        </p:nvSpPr>
        <p:spPr>
          <a:xfrm rot="0">
            <a:off x="3608032" y="435220"/>
            <a:ext cx="11071936" cy="875285"/>
          </a:xfrm>
          <a:prstGeom prst="rect">
            <a:avLst/>
          </a:prstGeom>
        </p:spPr>
        <p:txBody>
          <a:bodyPr anchor="t" rtlCol="false" tIns="0" lIns="0" bIns="0" rIns="0">
            <a:spAutoFit/>
          </a:bodyPr>
          <a:lstStyle/>
          <a:p>
            <a:pPr algn="ctr">
              <a:lnSpc>
                <a:spcPts val="6880"/>
              </a:lnSpc>
              <a:spcBef>
                <a:spcPct val="0"/>
              </a:spcBef>
            </a:pPr>
            <a:r>
              <a:rPr lang="en-US" b="true" sz="4914">
                <a:solidFill>
                  <a:srgbClr val="28346D"/>
                </a:solidFill>
                <a:latin typeface="Poppins Bold"/>
                <a:ea typeface="Poppins Bold"/>
                <a:cs typeface="Poppins Bold"/>
                <a:sym typeface="Poppins Bold"/>
              </a:rPr>
              <a:t>PRUEBAS DEL SISTEMA</a:t>
            </a:r>
          </a:p>
        </p:txBody>
      </p:sp>
      <p:sp>
        <p:nvSpPr>
          <p:cNvPr name="TextBox 5" id="5"/>
          <p:cNvSpPr txBox="true"/>
          <p:nvPr/>
        </p:nvSpPr>
        <p:spPr>
          <a:xfrm rot="0">
            <a:off x="10693699" y="2101080"/>
            <a:ext cx="4715845" cy="726231"/>
          </a:xfrm>
          <a:prstGeom prst="rect">
            <a:avLst/>
          </a:prstGeom>
        </p:spPr>
        <p:txBody>
          <a:bodyPr anchor="t" rtlCol="false" tIns="0" lIns="0" bIns="0" rIns="0">
            <a:spAutoFit/>
          </a:bodyPr>
          <a:lstStyle/>
          <a:p>
            <a:pPr algn="l">
              <a:lnSpc>
                <a:spcPts val="5646"/>
              </a:lnSpc>
            </a:pPr>
            <a:r>
              <a:rPr lang="en-US" b="true" sz="4033">
                <a:solidFill>
                  <a:srgbClr val="28346D"/>
                </a:solidFill>
                <a:latin typeface="Poppins Bold"/>
                <a:ea typeface="Poppins Bold"/>
                <a:cs typeface="Poppins Bold"/>
                <a:sym typeface="Poppins Bold"/>
              </a:rPr>
              <a:t>ESTÁNDARES:</a:t>
            </a:r>
          </a:p>
        </p:txBody>
      </p:sp>
      <p:sp>
        <p:nvSpPr>
          <p:cNvPr name="TextBox 6" id="6"/>
          <p:cNvSpPr txBox="true"/>
          <p:nvPr/>
        </p:nvSpPr>
        <p:spPr>
          <a:xfrm rot="0">
            <a:off x="10725193" y="6065274"/>
            <a:ext cx="6534107" cy="1289772"/>
          </a:xfrm>
          <a:prstGeom prst="rect">
            <a:avLst/>
          </a:prstGeom>
        </p:spPr>
        <p:txBody>
          <a:bodyPr anchor="t" rtlCol="false" tIns="0" lIns="0" bIns="0" rIns="0">
            <a:spAutoFit/>
          </a:bodyPr>
          <a:lstStyle/>
          <a:p>
            <a:pPr algn="l">
              <a:lnSpc>
                <a:spcPts val="5035"/>
              </a:lnSpc>
            </a:pPr>
            <a:r>
              <a:rPr lang="en-US" b="true" sz="3596">
                <a:solidFill>
                  <a:srgbClr val="28346D"/>
                </a:solidFill>
                <a:latin typeface="Poppins Bold"/>
                <a:ea typeface="Poppins Bold"/>
                <a:cs typeface="Poppins Bold"/>
                <a:sym typeface="Poppins Bold"/>
              </a:rPr>
              <a:t>CANTIDAD DE PRUEBAS EXITOSAS:</a:t>
            </a:r>
          </a:p>
        </p:txBody>
      </p:sp>
      <p:graphicFrame>
        <p:nvGraphicFramePr>
          <p:cNvPr name="Table 7" id="7"/>
          <p:cNvGraphicFramePr>
            <a:graphicFrameLocks noGrp="true"/>
          </p:cNvGraphicFramePr>
          <p:nvPr/>
        </p:nvGraphicFramePr>
        <p:xfrm>
          <a:off x="10676545" y="3083617"/>
          <a:ext cx="5633819" cy="1133632"/>
        </p:xfrm>
        <a:graphic>
          <a:graphicData uri="http://schemas.openxmlformats.org/drawingml/2006/table">
            <a:tbl>
              <a:tblPr/>
              <a:tblGrid>
                <a:gridCol w="5633819"/>
              </a:tblGrid>
              <a:tr h="1133632">
                <a:tc>
                  <a:txBody>
                    <a:bodyPr anchor="t" rtlCol="false"/>
                    <a:lstStyle/>
                    <a:p>
                      <a:pPr algn="ctr" marL="0" indent="0" lvl="0">
                        <a:lnSpc>
                          <a:spcPts val="4022"/>
                        </a:lnSpc>
                        <a:spcBef>
                          <a:spcPct val="0"/>
                        </a:spcBef>
                        <a:defRPr/>
                      </a:pPr>
                      <a:endParaRPr lang="en-US" sz="1100"/>
                    </a:p>
                  </a:txBody>
                  <a:tcPr marL="143658" marR="143658" marT="143658" marB="143658" anchor="ctr">
                    <a:lnL cmpd="sng" algn="ctr" cap="flat" w="28732">
                      <a:solidFill>
                        <a:srgbClr val="000000"/>
                      </a:solidFill>
                      <a:prstDash val="solid"/>
                      <a:round/>
                      <a:headEnd type="none" w="med" len="med"/>
                      <a:tailEnd type="none" w="med" len="med"/>
                    </a:lnL>
                    <a:lnR cmpd="sng" algn="ctr" cap="flat" w="28732">
                      <a:solidFill>
                        <a:srgbClr val="000000"/>
                      </a:solidFill>
                      <a:prstDash val="solid"/>
                      <a:round/>
                      <a:headEnd type="none" w="med" len="med"/>
                      <a:tailEnd type="none" w="med" len="med"/>
                    </a:lnR>
                    <a:lnT cmpd="sng" algn="ctr" cap="flat" w="28732">
                      <a:solidFill>
                        <a:srgbClr val="000000"/>
                      </a:solidFill>
                      <a:prstDash val="solid"/>
                      <a:round/>
                      <a:headEnd type="none" w="med" len="med"/>
                      <a:tailEnd type="none" w="med" len="med"/>
                    </a:lnT>
                    <a:lnB cmpd="sng" algn="ctr" cap="flat" w="28732">
                      <a:solidFill>
                        <a:srgbClr val="000000"/>
                      </a:solidFill>
                      <a:prstDash val="solid"/>
                      <a:round/>
                      <a:headEnd type="none" w="med" len="med"/>
                      <a:tailEnd type="none" w="med" len="med"/>
                    </a:lnB>
                    <a:solidFill>
                      <a:srgbClr val="F5F5EF"/>
                    </a:solidFill>
                  </a:tcPr>
                </a:tc>
              </a:tr>
            </a:tbl>
          </a:graphicData>
        </a:graphic>
      </p:graphicFrame>
      <p:sp>
        <p:nvSpPr>
          <p:cNvPr name="TextBox 8" id="8"/>
          <p:cNvSpPr txBox="true"/>
          <p:nvPr/>
        </p:nvSpPr>
        <p:spPr>
          <a:xfrm rot="0">
            <a:off x="12348575" y="3200518"/>
            <a:ext cx="2324068" cy="817968"/>
          </a:xfrm>
          <a:prstGeom prst="rect">
            <a:avLst/>
          </a:prstGeom>
        </p:spPr>
        <p:txBody>
          <a:bodyPr anchor="t" rtlCol="false" tIns="0" lIns="0" bIns="0" rIns="0">
            <a:spAutoFit/>
          </a:bodyPr>
          <a:lstStyle/>
          <a:p>
            <a:pPr algn="l">
              <a:lnSpc>
                <a:spcPts val="6365"/>
              </a:lnSpc>
            </a:pPr>
            <a:r>
              <a:rPr lang="en-US" b="true" sz="4546" spc="-90">
                <a:solidFill>
                  <a:srgbClr val="1A2756"/>
                </a:solidFill>
                <a:latin typeface="Poppins Bold"/>
                <a:ea typeface="Poppins Bold"/>
                <a:cs typeface="Poppins Bold"/>
                <a:sym typeface="Poppins Bold"/>
              </a:rPr>
              <a:t>ISO 9126</a:t>
            </a:r>
          </a:p>
        </p:txBody>
      </p:sp>
      <p:graphicFrame>
        <p:nvGraphicFramePr>
          <p:cNvPr name="Table 9" id="9"/>
          <p:cNvGraphicFramePr>
            <a:graphicFrameLocks noGrp="true"/>
          </p:cNvGraphicFramePr>
          <p:nvPr/>
        </p:nvGraphicFramePr>
        <p:xfrm>
          <a:off x="10693699" y="4415889"/>
          <a:ext cx="6461514" cy="1301790"/>
        </p:xfrm>
        <a:graphic>
          <a:graphicData uri="http://schemas.openxmlformats.org/drawingml/2006/table">
            <a:tbl>
              <a:tblPr/>
              <a:tblGrid>
                <a:gridCol w="6461514"/>
              </a:tblGrid>
              <a:tr h="1301790">
                <a:tc>
                  <a:txBody>
                    <a:bodyPr anchor="t" rtlCol="false"/>
                    <a:lstStyle/>
                    <a:p>
                      <a:pPr algn="ctr" marL="0" indent="0" lvl="0">
                        <a:lnSpc>
                          <a:spcPts val="4022"/>
                        </a:lnSpc>
                        <a:spcBef>
                          <a:spcPct val="0"/>
                        </a:spcBef>
                        <a:defRPr/>
                      </a:pPr>
                      <a:endParaRPr lang="en-US" sz="1100"/>
                    </a:p>
                  </a:txBody>
                  <a:tcPr marL="143658" marR="143658" marT="143658" marB="143658" anchor="ctr">
                    <a:lnL cmpd="sng" algn="ctr" cap="flat" w="32953">
                      <a:solidFill>
                        <a:srgbClr val="000000"/>
                      </a:solidFill>
                      <a:prstDash val="solid"/>
                      <a:round/>
                      <a:headEnd type="none" w="med" len="med"/>
                      <a:tailEnd type="none" w="med" len="med"/>
                    </a:lnL>
                    <a:lnR cmpd="sng" algn="ctr" cap="flat" w="32953">
                      <a:solidFill>
                        <a:srgbClr val="000000"/>
                      </a:solidFill>
                      <a:prstDash val="solid"/>
                      <a:round/>
                      <a:headEnd type="none" w="med" len="med"/>
                      <a:tailEnd type="none" w="med" len="med"/>
                    </a:lnR>
                    <a:lnT cmpd="sng" algn="ctr" cap="flat" w="32953">
                      <a:solidFill>
                        <a:srgbClr val="000000"/>
                      </a:solidFill>
                      <a:prstDash val="solid"/>
                      <a:round/>
                      <a:headEnd type="none" w="med" len="med"/>
                      <a:tailEnd type="none" w="med" len="med"/>
                    </a:lnT>
                    <a:lnB cmpd="sng" algn="ctr" cap="flat" w="32953">
                      <a:solidFill>
                        <a:srgbClr val="000000"/>
                      </a:solidFill>
                      <a:prstDash val="solid"/>
                      <a:round/>
                      <a:headEnd type="none" w="med" len="med"/>
                      <a:tailEnd type="none" w="med" len="med"/>
                    </a:lnB>
                    <a:solidFill>
                      <a:srgbClr val="F5F5EF"/>
                    </a:solidFill>
                  </a:tcPr>
                </a:tc>
              </a:tr>
            </a:tbl>
          </a:graphicData>
        </a:graphic>
      </p:graphicFrame>
      <p:sp>
        <p:nvSpPr>
          <p:cNvPr name="TextBox 10" id="10"/>
          <p:cNvSpPr txBox="true"/>
          <p:nvPr/>
        </p:nvSpPr>
        <p:spPr>
          <a:xfrm rot="0">
            <a:off x="11900831" y="4507747"/>
            <a:ext cx="3601417" cy="817968"/>
          </a:xfrm>
          <a:prstGeom prst="rect">
            <a:avLst/>
          </a:prstGeom>
        </p:spPr>
        <p:txBody>
          <a:bodyPr anchor="t" rtlCol="false" tIns="0" lIns="0" bIns="0" rIns="0">
            <a:spAutoFit/>
          </a:bodyPr>
          <a:lstStyle/>
          <a:p>
            <a:pPr algn="l">
              <a:lnSpc>
                <a:spcPts val="6365"/>
              </a:lnSpc>
            </a:pPr>
            <a:r>
              <a:rPr lang="en-US" b="true" sz="4546" spc="-90">
                <a:solidFill>
                  <a:srgbClr val="1A2756"/>
                </a:solidFill>
                <a:latin typeface="Poppins Bold"/>
                <a:ea typeface="Poppins Bold"/>
                <a:cs typeface="Poppins Bold"/>
                <a:sym typeface="Poppins Bold"/>
              </a:rPr>
              <a:t>ISO 250000</a:t>
            </a:r>
          </a:p>
        </p:txBody>
      </p:sp>
      <p:graphicFrame>
        <p:nvGraphicFramePr>
          <p:cNvPr name="Table 11" id="11"/>
          <p:cNvGraphicFramePr>
            <a:graphicFrameLocks noGrp="true"/>
          </p:cNvGraphicFramePr>
          <p:nvPr/>
        </p:nvGraphicFramePr>
        <p:xfrm>
          <a:off x="12130110" y="7755096"/>
          <a:ext cx="3338605" cy="1998927"/>
        </p:xfrm>
        <a:graphic>
          <a:graphicData uri="http://schemas.openxmlformats.org/drawingml/2006/table">
            <a:tbl>
              <a:tblPr/>
              <a:tblGrid>
                <a:gridCol w="1785689"/>
              </a:tblGrid>
              <a:tr h="1564343">
                <a:tc>
                  <a:txBody>
                    <a:bodyPr anchor="t" rtlCol="false"/>
                    <a:lstStyle/>
                    <a:p>
                      <a:pPr algn="ctr" marL="0" indent="0" lvl="0">
                        <a:lnSpc>
                          <a:spcPts val="4022"/>
                        </a:lnSpc>
                        <a:spcBef>
                          <a:spcPct val="0"/>
                        </a:spcBef>
                        <a:defRPr/>
                      </a:pPr>
                      <a:endParaRPr lang="en-US" sz="1100"/>
                    </a:p>
                  </a:txBody>
                  <a:tcPr marL="143658" marR="143658" marT="143658" marB="143658" anchor="ctr">
                    <a:lnL cmpd="sng" algn="ctr" cap="flat" w="32953">
                      <a:solidFill>
                        <a:srgbClr val="000000"/>
                      </a:solidFill>
                      <a:prstDash val="solid"/>
                      <a:round/>
                      <a:headEnd type="none" w="med" len="med"/>
                      <a:tailEnd type="none" w="med" len="med"/>
                    </a:lnL>
                    <a:lnR cmpd="sng" algn="ctr" cap="flat" w="32953">
                      <a:solidFill>
                        <a:srgbClr val="000000"/>
                      </a:solidFill>
                      <a:prstDash val="solid"/>
                      <a:round/>
                      <a:headEnd type="none" w="med" len="med"/>
                      <a:tailEnd type="none" w="med" len="med"/>
                    </a:lnR>
                    <a:lnT cmpd="sng" algn="ctr" cap="flat" w="32953">
                      <a:solidFill>
                        <a:srgbClr val="000000"/>
                      </a:solidFill>
                      <a:prstDash val="solid"/>
                      <a:round/>
                      <a:headEnd type="none" w="med" len="med"/>
                      <a:tailEnd type="none" w="med" len="med"/>
                    </a:lnT>
                    <a:lnB cmpd="sng" algn="ctr" cap="flat" w="32953">
                      <a:solidFill>
                        <a:srgbClr val="000000"/>
                      </a:solidFill>
                      <a:prstDash val="solid"/>
                      <a:round/>
                      <a:headEnd type="none" w="med" len="med"/>
                      <a:tailEnd type="none" w="med" len="med"/>
                    </a:lnB>
                    <a:solidFill>
                      <a:srgbClr val="F5F5EF"/>
                    </a:solidFill>
                  </a:tcPr>
                </a:tc>
              </a:tr>
            </a:tbl>
          </a:graphicData>
        </a:graphic>
      </p:graphicFrame>
      <p:sp>
        <p:nvSpPr>
          <p:cNvPr name="TextBox 12" id="12"/>
          <p:cNvSpPr txBox="true"/>
          <p:nvPr/>
        </p:nvSpPr>
        <p:spPr>
          <a:xfrm rot="0">
            <a:off x="12805411" y="7952651"/>
            <a:ext cx="2357923" cy="1143724"/>
          </a:xfrm>
          <a:prstGeom prst="rect">
            <a:avLst/>
          </a:prstGeom>
        </p:spPr>
        <p:txBody>
          <a:bodyPr anchor="t" rtlCol="false" tIns="0" lIns="0" bIns="0" rIns="0">
            <a:spAutoFit/>
          </a:bodyPr>
          <a:lstStyle/>
          <a:p>
            <a:pPr algn="l">
              <a:lnSpc>
                <a:spcPts val="8885"/>
              </a:lnSpc>
            </a:pPr>
            <a:r>
              <a:rPr lang="en-US" b="true" sz="6346" spc="-126">
                <a:solidFill>
                  <a:srgbClr val="1A2756"/>
                </a:solidFill>
                <a:latin typeface="Poppins Bold"/>
                <a:ea typeface="Poppins Bold"/>
                <a:cs typeface="Poppins Bold"/>
                <a:sym typeface="Poppins Bold"/>
              </a:rPr>
              <a:t>96%</a:t>
            </a:r>
          </a:p>
        </p:txBody>
      </p:sp>
      <p:sp>
        <p:nvSpPr>
          <p:cNvPr name="Freeform 13" id="13"/>
          <p:cNvSpPr/>
          <p:nvPr/>
        </p:nvSpPr>
        <p:spPr>
          <a:xfrm flipH="false" flipV="false" rot="0">
            <a:off x="-2326949" y="2827311"/>
            <a:ext cx="10465695" cy="7565195"/>
          </a:xfrm>
          <a:custGeom>
            <a:avLst/>
            <a:gdLst/>
            <a:ahLst/>
            <a:cxnLst/>
            <a:rect r="r" b="b" t="t" l="l"/>
            <a:pathLst>
              <a:path h="7565195" w="10465695">
                <a:moveTo>
                  <a:pt x="0" y="0"/>
                </a:moveTo>
                <a:lnTo>
                  <a:pt x="10465695" y="0"/>
                </a:lnTo>
                <a:lnTo>
                  <a:pt x="10465695" y="7565195"/>
                </a:lnTo>
                <a:lnTo>
                  <a:pt x="0" y="7565195"/>
                </a:lnTo>
                <a:lnTo>
                  <a:pt x="0" y="0"/>
                </a:lnTo>
                <a:close/>
              </a:path>
            </a:pathLst>
          </a:custGeom>
          <a:blipFill>
            <a:blip r:embed="rId3"/>
            <a:stretch>
              <a:fillRect l="0" t="-14854" r="0" b="-10515"/>
            </a:stretch>
          </a:blipFill>
        </p:spPr>
      </p:sp>
      <p:graphicFrame>
        <p:nvGraphicFramePr>
          <p:cNvPr name="Table 14" id="14"/>
          <p:cNvGraphicFramePr>
            <a:graphicFrameLocks noGrp="true"/>
          </p:cNvGraphicFramePr>
          <p:nvPr/>
        </p:nvGraphicFramePr>
        <p:xfrm>
          <a:off x="1358829" y="3046386"/>
          <a:ext cx="8063264" cy="1265821"/>
        </p:xfrm>
        <a:graphic>
          <a:graphicData uri="http://schemas.openxmlformats.org/drawingml/2006/table">
            <a:tbl>
              <a:tblPr/>
              <a:tblGrid>
                <a:gridCol w="8063264"/>
              </a:tblGrid>
              <a:tr h="1265821">
                <a:tc>
                  <a:txBody>
                    <a:bodyPr anchor="t" rtlCol="false"/>
                    <a:lstStyle/>
                    <a:p>
                      <a:pPr algn="ctr" marL="0" indent="0" lvl="0">
                        <a:lnSpc>
                          <a:spcPts val="4022"/>
                        </a:lnSpc>
                        <a:spcBef>
                          <a:spcPct val="0"/>
                        </a:spcBef>
                        <a:defRPr/>
                      </a:pPr>
                      <a:endParaRPr lang="en-US" sz="1100"/>
                    </a:p>
                  </a:txBody>
                  <a:tcPr marL="143658" marR="143658" marT="143658" marB="143658" anchor="ctr">
                    <a:lnL cmpd="sng" algn="ctr" cap="flat" w="31062">
                      <a:solidFill>
                        <a:srgbClr val="000000"/>
                      </a:solidFill>
                      <a:prstDash val="solid"/>
                      <a:round/>
                      <a:headEnd type="none" w="med" len="med"/>
                      <a:tailEnd type="none" w="med" len="med"/>
                    </a:lnL>
                    <a:lnR cmpd="sng" algn="ctr" cap="flat" w="31062">
                      <a:solidFill>
                        <a:srgbClr val="000000"/>
                      </a:solidFill>
                      <a:prstDash val="solid"/>
                      <a:round/>
                      <a:headEnd type="none" w="med" len="med"/>
                      <a:tailEnd type="none" w="med" len="med"/>
                    </a:lnR>
                    <a:lnT cmpd="sng" algn="ctr" cap="flat" w="31062">
                      <a:solidFill>
                        <a:srgbClr val="000000"/>
                      </a:solidFill>
                      <a:prstDash val="solid"/>
                      <a:round/>
                      <a:headEnd type="none" w="med" len="med"/>
                      <a:tailEnd type="none" w="med" len="med"/>
                    </a:lnT>
                    <a:lnB cmpd="sng" algn="ctr" cap="flat" w="31062">
                      <a:solidFill>
                        <a:srgbClr val="000000"/>
                      </a:solidFill>
                      <a:prstDash val="solid"/>
                      <a:round/>
                      <a:headEnd type="none" w="med" len="med"/>
                      <a:tailEnd type="none" w="med" len="med"/>
                    </a:lnB>
                    <a:solidFill>
                      <a:srgbClr val="F5F5EF"/>
                    </a:solidFill>
                  </a:tcPr>
                </a:tc>
              </a:tr>
            </a:tbl>
          </a:graphicData>
        </a:graphic>
      </p:graphicFrame>
      <p:sp>
        <p:nvSpPr>
          <p:cNvPr name="TextBox 15" id="15"/>
          <p:cNvSpPr txBox="true"/>
          <p:nvPr/>
        </p:nvSpPr>
        <p:spPr>
          <a:xfrm rot="0">
            <a:off x="1824093" y="3238618"/>
            <a:ext cx="7800915" cy="633818"/>
          </a:xfrm>
          <a:prstGeom prst="rect">
            <a:avLst/>
          </a:prstGeom>
        </p:spPr>
        <p:txBody>
          <a:bodyPr anchor="t" rtlCol="false" tIns="0" lIns="0" bIns="0" rIns="0">
            <a:spAutoFit/>
          </a:bodyPr>
          <a:lstStyle/>
          <a:p>
            <a:pPr algn="l">
              <a:lnSpc>
                <a:spcPts val="4965"/>
              </a:lnSpc>
            </a:pPr>
            <a:r>
              <a:rPr lang="en-US" b="true" sz="3546" spc="-70">
                <a:solidFill>
                  <a:srgbClr val="1A2756"/>
                </a:solidFill>
                <a:latin typeface="Poppins Bold"/>
                <a:ea typeface="Poppins Bold"/>
                <a:cs typeface="Poppins Bold"/>
                <a:sym typeface="Poppins Bold"/>
              </a:rPr>
              <a:t>PRUEBAS MANUALES </a:t>
            </a:r>
          </a:p>
        </p:txBody>
      </p:sp>
      <p:sp>
        <p:nvSpPr>
          <p:cNvPr name="TextBox 16" id="16"/>
          <p:cNvSpPr txBox="true"/>
          <p:nvPr/>
        </p:nvSpPr>
        <p:spPr>
          <a:xfrm rot="0">
            <a:off x="1358829" y="2101080"/>
            <a:ext cx="6779917" cy="726231"/>
          </a:xfrm>
          <a:prstGeom prst="rect">
            <a:avLst/>
          </a:prstGeom>
        </p:spPr>
        <p:txBody>
          <a:bodyPr anchor="t" rtlCol="false" tIns="0" lIns="0" bIns="0" rIns="0">
            <a:spAutoFit/>
          </a:bodyPr>
          <a:lstStyle/>
          <a:p>
            <a:pPr algn="l">
              <a:lnSpc>
                <a:spcPts val="5646"/>
              </a:lnSpc>
            </a:pPr>
            <a:r>
              <a:rPr lang="en-US" b="true" sz="4033">
                <a:solidFill>
                  <a:srgbClr val="28346D"/>
                </a:solidFill>
                <a:latin typeface="Poppins Bold"/>
                <a:ea typeface="Poppins Bold"/>
                <a:cs typeface="Poppins Bold"/>
                <a:sym typeface="Poppins Bold"/>
              </a:rPr>
              <a:t>TÉCNICA DE PRUEBAS</a:t>
            </a:r>
          </a:p>
        </p:txBody>
      </p:sp>
      <p:sp>
        <p:nvSpPr>
          <p:cNvPr name="TextBox 17" id="17"/>
          <p:cNvSpPr txBox="true"/>
          <p:nvPr/>
        </p:nvSpPr>
        <p:spPr>
          <a:xfrm rot="0">
            <a:off x="1358829" y="4607774"/>
            <a:ext cx="6779917" cy="726231"/>
          </a:xfrm>
          <a:prstGeom prst="rect">
            <a:avLst/>
          </a:prstGeom>
        </p:spPr>
        <p:txBody>
          <a:bodyPr anchor="t" rtlCol="false" tIns="0" lIns="0" bIns="0" rIns="0">
            <a:spAutoFit/>
          </a:bodyPr>
          <a:lstStyle/>
          <a:p>
            <a:pPr algn="l">
              <a:lnSpc>
                <a:spcPts val="5646"/>
              </a:lnSpc>
            </a:pPr>
            <a:r>
              <a:rPr lang="en-US" b="true" sz="4033">
                <a:solidFill>
                  <a:srgbClr val="28346D"/>
                </a:solidFill>
                <a:latin typeface="Poppins Bold"/>
                <a:ea typeface="Poppins Bold"/>
                <a:cs typeface="Poppins Bold"/>
                <a:sym typeface="Poppins Bold"/>
              </a:rPr>
              <a:t>TIPO DE PRUEBAS</a:t>
            </a:r>
          </a:p>
        </p:txBody>
      </p:sp>
      <p:graphicFrame>
        <p:nvGraphicFramePr>
          <p:cNvPr name="Table 18" id="18"/>
          <p:cNvGraphicFramePr>
            <a:graphicFrameLocks noGrp="true"/>
          </p:cNvGraphicFramePr>
          <p:nvPr/>
        </p:nvGraphicFramePr>
        <p:xfrm>
          <a:off x="1358829" y="5550924"/>
          <a:ext cx="8063264" cy="1265821"/>
        </p:xfrm>
        <a:graphic>
          <a:graphicData uri="http://schemas.openxmlformats.org/drawingml/2006/table">
            <a:tbl>
              <a:tblPr/>
              <a:tblGrid>
                <a:gridCol w="8063264"/>
              </a:tblGrid>
              <a:tr h="1265821">
                <a:tc>
                  <a:txBody>
                    <a:bodyPr anchor="t" rtlCol="false"/>
                    <a:lstStyle/>
                    <a:p>
                      <a:pPr algn="ctr" marL="0" indent="0" lvl="0">
                        <a:lnSpc>
                          <a:spcPts val="4022"/>
                        </a:lnSpc>
                        <a:spcBef>
                          <a:spcPct val="0"/>
                        </a:spcBef>
                        <a:defRPr/>
                      </a:pPr>
                      <a:endParaRPr lang="en-US" sz="1100"/>
                    </a:p>
                  </a:txBody>
                  <a:tcPr marL="143658" marR="143658" marT="143658" marB="143658" anchor="ctr">
                    <a:lnL cmpd="sng" algn="ctr" cap="flat" w="31062">
                      <a:solidFill>
                        <a:srgbClr val="000000"/>
                      </a:solidFill>
                      <a:prstDash val="solid"/>
                      <a:round/>
                      <a:headEnd type="none" w="med" len="med"/>
                      <a:tailEnd type="none" w="med" len="med"/>
                    </a:lnL>
                    <a:lnR cmpd="sng" algn="ctr" cap="flat" w="31062">
                      <a:solidFill>
                        <a:srgbClr val="000000"/>
                      </a:solidFill>
                      <a:prstDash val="solid"/>
                      <a:round/>
                      <a:headEnd type="none" w="med" len="med"/>
                      <a:tailEnd type="none" w="med" len="med"/>
                    </a:lnR>
                    <a:lnT cmpd="sng" algn="ctr" cap="flat" w="31062">
                      <a:solidFill>
                        <a:srgbClr val="000000"/>
                      </a:solidFill>
                      <a:prstDash val="solid"/>
                      <a:round/>
                      <a:headEnd type="none" w="med" len="med"/>
                      <a:tailEnd type="none" w="med" len="med"/>
                    </a:lnT>
                    <a:lnB cmpd="sng" algn="ctr" cap="flat" w="31062">
                      <a:solidFill>
                        <a:srgbClr val="000000"/>
                      </a:solidFill>
                      <a:prstDash val="solid"/>
                      <a:round/>
                      <a:headEnd type="none" w="med" len="med"/>
                      <a:tailEnd type="none" w="med" len="med"/>
                    </a:lnB>
                    <a:solidFill>
                      <a:srgbClr val="F5F5EF"/>
                    </a:solidFill>
                  </a:tcPr>
                </a:tc>
              </a:tr>
            </a:tbl>
          </a:graphicData>
        </a:graphic>
      </p:graphicFrame>
      <p:graphicFrame>
        <p:nvGraphicFramePr>
          <p:cNvPr name="Table 19" id="19"/>
          <p:cNvGraphicFramePr>
            <a:graphicFrameLocks noGrp="true"/>
          </p:cNvGraphicFramePr>
          <p:nvPr/>
        </p:nvGraphicFramePr>
        <p:xfrm>
          <a:off x="1358829" y="6937167"/>
          <a:ext cx="8063264" cy="1265821"/>
        </p:xfrm>
        <a:graphic>
          <a:graphicData uri="http://schemas.openxmlformats.org/drawingml/2006/table">
            <a:tbl>
              <a:tblPr/>
              <a:tblGrid>
                <a:gridCol w="8063264"/>
              </a:tblGrid>
              <a:tr h="1265821">
                <a:tc>
                  <a:txBody>
                    <a:bodyPr anchor="t" rtlCol="false"/>
                    <a:lstStyle/>
                    <a:p>
                      <a:pPr algn="ctr" marL="0" indent="0" lvl="0">
                        <a:lnSpc>
                          <a:spcPts val="4022"/>
                        </a:lnSpc>
                        <a:spcBef>
                          <a:spcPct val="0"/>
                        </a:spcBef>
                        <a:defRPr/>
                      </a:pPr>
                      <a:endParaRPr lang="en-US" sz="1100"/>
                    </a:p>
                  </a:txBody>
                  <a:tcPr marL="143658" marR="143658" marT="143658" marB="143658" anchor="ctr">
                    <a:lnL cmpd="sng" algn="ctr" cap="flat" w="31062">
                      <a:solidFill>
                        <a:srgbClr val="000000"/>
                      </a:solidFill>
                      <a:prstDash val="solid"/>
                      <a:round/>
                      <a:headEnd type="none" w="med" len="med"/>
                      <a:tailEnd type="none" w="med" len="med"/>
                    </a:lnL>
                    <a:lnR cmpd="sng" algn="ctr" cap="flat" w="31062">
                      <a:solidFill>
                        <a:srgbClr val="000000"/>
                      </a:solidFill>
                      <a:prstDash val="solid"/>
                      <a:round/>
                      <a:headEnd type="none" w="med" len="med"/>
                      <a:tailEnd type="none" w="med" len="med"/>
                    </a:lnR>
                    <a:lnT cmpd="sng" algn="ctr" cap="flat" w="31062">
                      <a:solidFill>
                        <a:srgbClr val="000000"/>
                      </a:solidFill>
                      <a:prstDash val="solid"/>
                      <a:round/>
                      <a:headEnd type="none" w="med" len="med"/>
                      <a:tailEnd type="none" w="med" len="med"/>
                    </a:lnT>
                    <a:lnB cmpd="sng" algn="ctr" cap="flat" w="31062">
                      <a:solidFill>
                        <a:srgbClr val="000000"/>
                      </a:solidFill>
                      <a:prstDash val="solid"/>
                      <a:round/>
                      <a:headEnd type="none" w="med" len="med"/>
                      <a:tailEnd type="none" w="med" len="med"/>
                    </a:lnB>
                    <a:solidFill>
                      <a:srgbClr val="F5F5EF"/>
                    </a:solidFill>
                  </a:tcPr>
                </a:tc>
              </a:tr>
            </a:tbl>
          </a:graphicData>
        </a:graphic>
      </p:graphicFrame>
      <p:sp>
        <p:nvSpPr>
          <p:cNvPr name="TextBox 20" id="20"/>
          <p:cNvSpPr txBox="true"/>
          <p:nvPr/>
        </p:nvSpPr>
        <p:spPr>
          <a:xfrm rot="0">
            <a:off x="1824093" y="5771822"/>
            <a:ext cx="6761520" cy="633818"/>
          </a:xfrm>
          <a:prstGeom prst="rect">
            <a:avLst/>
          </a:prstGeom>
        </p:spPr>
        <p:txBody>
          <a:bodyPr anchor="t" rtlCol="false" tIns="0" lIns="0" bIns="0" rIns="0">
            <a:spAutoFit/>
          </a:bodyPr>
          <a:lstStyle/>
          <a:p>
            <a:pPr algn="l">
              <a:lnSpc>
                <a:spcPts val="4965"/>
              </a:lnSpc>
            </a:pPr>
            <a:r>
              <a:rPr lang="en-US" b="true" sz="3546" spc="-70">
                <a:solidFill>
                  <a:srgbClr val="1A2756"/>
                </a:solidFill>
                <a:latin typeface="Poppins Bold"/>
                <a:ea typeface="Poppins Bold"/>
                <a:cs typeface="Poppins Bold"/>
                <a:sym typeface="Poppins Bold"/>
              </a:rPr>
              <a:t>PRUEBAS FUNCIONALES</a:t>
            </a:r>
          </a:p>
        </p:txBody>
      </p:sp>
      <p:graphicFrame>
        <p:nvGraphicFramePr>
          <p:cNvPr name="Table 21" id="21"/>
          <p:cNvGraphicFramePr>
            <a:graphicFrameLocks noGrp="true"/>
          </p:cNvGraphicFramePr>
          <p:nvPr/>
        </p:nvGraphicFramePr>
        <p:xfrm>
          <a:off x="1358829" y="8327105"/>
          <a:ext cx="8063264" cy="1265821"/>
        </p:xfrm>
        <a:graphic>
          <a:graphicData uri="http://schemas.openxmlformats.org/drawingml/2006/table">
            <a:tbl>
              <a:tblPr/>
              <a:tblGrid>
                <a:gridCol w="8063264"/>
              </a:tblGrid>
              <a:tr h="1265821">
                <a:tc>
                  <a:txBody>
                    <a:bodyPr anchor="t" rtlCol="false"/>
                    <a:lstStyle/>
                    <a:p>
                      <a:pPr algn="ctr" marL="0" indent="0" lvl="0">
                        <a:lnSpc>
                          <a:spcPts val="4022"/>
                        </a:lnSpc>
                        <a:spcBef>
                          <a:spcPct val="0"/>
                        </a:spcBef>
                        <a:defRPr/>
                      </a:pPr>
                      <a:endParaRPr lang="en-US" sz="1100"/>
                    </a:p>
                  </a:txBody>
                  <a:tcPr marL="143658" marR="143658" marT="143658" marB="143658" anchor="ctr">
                    <a:lnL cmpd="sng" algn="ctr" cap="flat" w="31062">
                      <a:solidFill>
                        <a:srgbClr val="000000"/>
                      </a:solidFill>
                      <a:prstDash val="solid"/>
                      <a:round/>
                      <a:headEnd type="none" w="med" len="med"/>
                      <a:tailEnd type="none" w="med" len="med"/>
                    </a:lnL>
                    <a:lnR cmpd="sng" algn="ctr" cap="flat" w="31062">
                      <a:solidFill>
                        <a:srgbClr val="000000"/>
                      </a:solidFill>
                      <a:prstDash val="solid"/>
                      <a:round/>
                      <a:headEnd type="none" w="med" len="med"/>
                      <a:tailEnd type="none" w="med" len="med"/>
                    </a:lnR>
                    <a:lnT cmpd="sng" algn="ctr" cap="flat" w="31062">
                      <a:solidFill>
                        <a:srgbClr val="000000"/>
                      </a:solidFill>
                      <a:prstDash val="solid"/>
                      <a:round/>
                      <a:headEnd type="none" w="med" len="med"/>
                      <a:tailEnd type="none" w="med" len="med"/>
                    </a:lnT>
                    <a:lnB cmpd="sng" algn="ctr" cap="flat" w="31062">
                      <a:solidFill>
                        <a:srgbClr val="000000"/>
                      </a:solidFill>
                      <a:prstDash val="solid"/>
                      <a:round/>
                      <a:headEnd type="none" w="med" len="med"/>
                      <a:tailEnd type="none" w="med" len="med"/>
                    </a:lnB>
                    <a:solidFill>
                      <a:srgbClr val="F5F5EF"/>
                    </a:solidFill>
                  </a:tcPr>
                </a:tc>
              </a:tr>
            </a:tbl>
          </a:graphicData>
        </a:graphic>
      </p:graphicFrame>
      <p:sp>
        <p:nvSpPr>
          <p:cNvPr name="TextBox 22" id="22"/>
          <p:cNvSpPr txBox="true"/>
          <p:nvPr/>
        </p:nvSpPr>
        <p:spPr>
          <a:xfrm rot="0">
            <a:off x="1776042" y="7159937"/>
            <a:ext cx="6623953" cy="633818"/>
          </a:xfrm>
          <a:prstGeom prst="rect">
            <a:avLst/>
          </a:prstGeom>
        </p:spPr>
        <p:txBody>
          <a:bodyPr anchor="t" rtlCol="false" tIns="0" lIns="0" bIns="0" rIns="0">
            <a:spAutoFit/>
          </a:bodyPr>
          <a:lstStyle/>
          <a:p>
            <a:pPr algn="l">
              <a:lnSpc>
                <a:spcPts val="4965"/>
              </a:lnSpc>
            </a:pPr>
            <a:r>
              <a:rPr lang="en-US" b="true" sz="3546" spc="-70">
                <a:solidFill>
                  <a:srgbClr val="1A2756"/>
                </a:solidFill>
                <a:latin typeface="Poppins Bold"/>
                <a:ea typeface="Poppins Bold"/>
                <a:cs typeface="Poppins Bold"/>
                <a:sym typeface="Poppins Bold"/>
              </a:rPr>
              <a:t>PRUEBAS INTEGRACIÓN</a:t>
            </a:r>
          </a:p>
        </p:txBody>
      </p:sp>
      <p:sp>
        <p:nvSpPr>
          <p:cNvPr name="TextBox 23" id="23"/>
          <p:cNvSpPr txBox="true"/>
          <p:nvPr/>
        </p:nvSpPr>
        <p:spPr>
          <a:xfrm rot="0">
            <a:off x="1776042" y="8548003"/>
            <a:ext cx="6623953" cy="633818"/>
          </a:xfrm>
          <a:prstGeom prst="rect">
            <a:avLst/>
          </a:prstGeom>
        </p:spPr>
        <p:txBody>
          <a:bodyPr anchor="t" rtlCol="false" tIns="0" lIns="0" bIns="0" rIns="0">
            <a:spAutoFit/>
          </a:bodyPr>
          <a:lstStyle/>
          <a:p>
            <a:pPr algn="l">
              <a:lnSpc>
                <a:spcPts val="4965"/>
              </a:lnSpc>
            </a:pPr>
            <a:r>
              <a:rPr lang="en-US" b="true" sz="3546" spc="-70">
                <a:solidFill>
                  <a:srgbClr val="1A2756"/>
                </a:solidFill>
                <a:latin typeface="Poppins Bold"/>
                <a:ea typeface="Poppins Bold"/>
                <a:cs typeface="Poppins Bold"/>
                <a:sym typeface="Poppins Bold"/>
              </a:rPr>
              <a:t>PRUEBAS DE API</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49435" y="2721805"/>
            <a:ext cx="10465695" cy="7565195"/>
          </a:xfrm>
          <a:custGeom>
            <a:avLst/>
            <a:gdLst/>
            <a:ahLst/>
            <a:cxnLst/>
            <a:rect r="r" b="b" t="t" l="l"/>
            <a:pathLst>
              <a:path h="7565195" w="10465695">
                <a:moveTo>
                  <a:pt x="0" y="0"/>
                </a:moveTo>
                <a:lnTo>
                  <a:pt x="10465695" y="0"/>
                </a:lnTo>
                <a:lnTo>
                  <a:pt x="10465695" y="7565195"/>
                </a:lnTo>
                <a:lnTo>
                  <a:pt x="0" y="7565195"/>
                </a:lnTo>
                <a:lnTo>
                  <a:pt x="0" y="0"/>
                </a:lnTo>
                <a:close/>
              </a:path>
            </a:pathLst>
          </a:custGeom>
          <a:blipFill>
            <a:blip r:embed="rId3"/>
            <a:stretch>
              <a:fillRect l="0" t="-14854" r="0" b="-10515"/>
            </a:stretch>
          </a:blipFill>
        </p:spPr>
      </p:sp>
      <p:graphicFrame>
        <p:nvGraphicFramePr>
          <p:cNvPr name="Table 3" id="3"/>
          <p:cNvGraphicFramePr>
            <a:graphicFrameLocks noGrp="true"/>
          </p:cNvGraphicFramePr>
          <p:nvPr/>
        </p:nvGraphicFramePr>
        <p:xfrm>
          <a:off x="1275998" y="2028308"/>
          <a:ext cx="7315200" cy="7629525"/>
        </p:xfrm>
        <a:graphic>
          <a:graphicData uri="http://schemas.openxmlformats.org/drawingml/2006/table">
            <a:tbl>
              <a:tblPr/>
              <a:tblGrid>
                <a:gridCol w="2438400"/>
                <a:gridCol w="2438400"/>
                <a:gridCol w="2438400"/>
              </a:tblGrid>
              <a:tr h="1041918">
                <a:tc>
                  <a:txBody>
                    <a:bodyPr anchor="t" rtlCol="false"/>
                    <a:lstStyle/>
                    <a:p>
                      <a:pPr algn="ctr">
                        <a:lnSpc>
                          <a:spcPts val="2100"/>
                        </a:lnSpc>
                        <a:defRPr/>
                      </a:pPr>
                      <a:r>
                        <a:rPr lang="en-US" sz="1500" b="true">
                          <a:solidFill>
                            <a:srgbClr val="000000"/>
                          </a:solidFill>
                          <a:latin typeface="Poppins Bold"/>
                          <a:ea typeface="Poppins Bold"/>
                          <a:cs typeface="Poppins Bold"/>
                          <a:sym typeface="Poppins Bold"/>
                        </a:rPr>
                        <a:t>Tecnología</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100"/>
                        </a:lnSpc>
                        <a:defRPr/>
                      </a:pPr>
                      <a:r>
                        <a:rPr lang="en-US" sz="1500" b="true">
                          <a:solidFill>
                            <a:srgbClr val="000000"/>
                          </a:solidFill>
                          <a:latin typeface="Poppins Bold"/>
                          <a:ea typeface="Poppins Bold"/>
                          <a:cs typeface="Poppins Bold"/>
                          <a:sym typeface="Poppins Bold"/>
                        </a:rPr>
                        <a:t>Tipo</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100"/>
                        </a:lnSpc>
                        <a:defRPr/>
                      </a:pPr>
                      <a:r>
                        <a:rPr lang="en-US" sz="1500" b="true">
                          <a:solidFill>
                            <a:srgbClr val="000000"/>
                          </a:solidFill>
                          <a:latin typeface="Poppins Bold"/>
                          <a:ea typeface="Poppins Bold"/>
                          <a:cs typeface="Poppins Bold"/>
                          <a:sym typeface="Poppins Bold"/>
                        </a:rPr>
                        <a:t>Versión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r>
              <a:tr h="1041918">
                <a:tc>
                  <a:txBody>
                    <a:bodyPr anchor="t" rtlCol="false"/>
                    <a:lstStyle/>
                    <a:p>
                      <a:pPr algn="ctr">
                        <a:lnSpc>
                          <a:spcPts val="2100"/>
                        </a:lnSpc>
                        <a:defRPr/>
                      </a:pPr>
                      <a:r>
                        <a:rPr lang="en-US" sz="1500">
                          <a:solidFill>
                            <a:srgbClr val="000000"/>
                          </a:solidFill>
                          <a:latin typeface="Poppins"/>
                          <a:ea typeface="Poppins"/>
                          <a:cs typeface="Poppins"/>
                          <a:sym typeface="Poppins"/>
                        </a:rPr>
                        <a:t>Django</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Framework</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v5.2</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r h="1209969">
                <a:tc>
                  <a:txBody>
                    <a:bodyPr anchor="t" rtlCol="false"/>
                    <a:lstStyle/>
                    <a:p>
                      <a:pPr algn="ctr">
                        <a:lnSpc>
                          <a:spcPts val="2100"/>
                        </a:lnSpc>
                        <a:defRPr/>
                      </a:pPr>
                      <a:r>
                        <a:rPr lang="en-US" sz="1500">
                          <a:solidFill>
                            <a:srgbClr val="000000"/>
                          </a:solidFill>
                          <a:latin typeface="Poppins"/>
                          <a:ea typeface="Poppins"/>
                          <a:cs typeface="Poppins"/>
                          <a:sym typeface="Poppins"/>
                        </a:rPr>
                        <a:t>PostgreSQL</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Motor de base de datos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v17</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r h="1041918">
                <a:tc>
                  <a:txBody>
                    <a:bodyPr anchor="t" rtlCol="false"/>
                    <a:lstStyle/>
                    <a:p>
                      <a:pPr algn="ctr">
                        <a:lnSpc>
                          <a:spcPts val="2100"/>
                        </a:lnSpc>
                        <a:defRPr/>
                      </a:pPr>
                      <a:r>
                        <a:rPr lang="en-US" sz="1500">
                          <a:solidFill>
                            <a:srgbClr val="000000"/>
                          </a:solidFill>
                          <a:latin typeface="Poppins"/>
                          <a:ea typeface="Poppins"/>
                          <a:cs typeface="Poppins"/>
                          <a:sym typeface="Poppins"/>
                        </a:rPr>
                        <a:t>Bootstrap</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Librería responsive</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v5</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r h="1041918">
                <a:tc>
                  <a:txBody>
                    <a:bodyPr anchor="t" rtlCol="false"/>
                    <a:lstStyle/>
                    <a:p>
                      <a:pPr algn="ctr">
                        <a:lnSpc>
                          <a:spcPts val="2100"/>
                        </a:lnSpc>
                        <a:defRPr/>
                      </a:pPr>
                      <a:r>
                        <a:rPr lang="en-US" sz="1500">
                          <a:solidFill>
                            <a:srgbClr val="000000"/>
                          </a:solidFill>
                          <a:latin typeface="Poppins"/>
                          <a:ea typeface="Poppins"/>
                          <a:cs typeface="Poppins"/>
                          <a:sym typeface="Poppins"/>
                        </a:rPr>
                        <a:t>Transbank</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Pasarela de pago</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v6.1.0</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r h="1209969">
                <a:tc>
                  <a:txBody>
                    <a:bodyPr anchor="t" rtlCol="false"/>
                    <a:lstStyle/>
                    <a:p>
                      <a:pPr algn="ctr">
                        <a:lnSpc>
                          <a:spcPts val="2100"/>
                        </a:lnSpc>
                        <a:defRPr/>
                      </a:pPr>
                      <a:r>
                        <a:rPr lang="en-US" sz="1500">
                          <a:solidFill>
                            <a:srgbClr val="000000"/>
                          </a:solidFill>
                          <a:latin typeface="Poppins"/>
                          <a:ea typeface="Poppins"/>
                          <a:cs typeface="Poppins"/>
                          <a:sym typeface="Poppins"/>
                        </a:rPr>
                        <a:t>Psycopg</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Conector base de datos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v2.9.21</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r h="1041918">
                <a:tc>
                  <a:txBody>
                    <a:bodyPr anchor="t" rtlCol="false"/>
                    <a:lstStyle/>
                    <a:p>
                      <a:pPr algn="ctr">
                        <a:lnSpc>
                          <a:spcPts val="2100"/>
                        </a:lnSpc>
                        <a:defRPr/>
                      </a:pPr>
                      <a:r>
                        <a:rPr lang="en-US" sz="1500">
                          <a:solidFill>
                            <a:srgbClr val="000000"/>
                          </a:solidFill>
                          <a:latin typeface="Poppins"/>
                          <a:ea typeface="Poppins"/>
                          <a:cs typeface="Poppins"/>
                          <a:sym typeface="Poppins"/>
                        </a:rPr>
                        <a:t>DigitalOcean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Proveedor cloud</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No aplica</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bl>
          </a:graphicData>
        </a:graphic>
      </p:graphicFrame>
      <p:sp>
        <p:nvSpPr>
          <p:cNvPr name="TextBox 4" id="4"/>
          <p:cNvSpPr txBox="true"/>
          <p:nvPr/>
        </p:nvSpPr>
        <p:spPr>
          <a:xfrm rot="0">
            <a:off x="1069967" y="882942"/>
            <a:ext cx="7727264" cy="883234"/>
          </a:xfrm>
          <a:prstGeom prst="rect">
            <a:avLst/>
          </a:prstGeom>
        </p:spPr>
        <p:txBody>
          <a:bodyPr anchor="t" rtlCol="false" tIns="0" lIns="0" bIns="0" rIns="0">
            <a:spAutoFit/>
          </a:bodyPr>
          <a:lstStyle/>
          <a:p>
            <a:pPr algn="ctr">
              <a:lnSpc>
                <a:spcPts val="6967"/>
              </a:lnSpc>
              <a:spcBef>
                <a:spcPct val="0"/>
              </a:spcBef>
            </a:pPr>
            <a:r>
              <a:rPr lang="en-US" b="true" sz="4977">
                <a:solidFill>
                  <a:srgbClr val="28346D"/>
                </a:solidFill>
                <a:latin typeface="Poppins Bold"/>
                <a:ea typeface="Poppins Bold"/>
                <a:cs typeface="Poppins Bold"/>
                <a:sym typeface="Poppins Bold"/>
              </a:rPr>
              <a:t>FACTIBILIDAD TECNICA</a:t>
            </a:r>
          </a:p>
        </p:txBody>
      </p:sp>
      <p:sp>
        <p:nvSpPr>
          <p:cNvPr name="Freeform 5" id="5"/>
          <p:cNvSpPr/>
          <p:nvPr/>
        </p:nvSpPr>
        <p:spPr>
          <a:xfrm flipH="true" flipV="true" rot="0">
            <a:off x="10804385" y="-987927"/>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sp>
        <p:nvSpPr>
          <p:cNvPr name="TextBox 6" id="6"/>
          <p:cNvSpPr txBox="true"/>
          <p:nvPr/>
        </p:nvSpPr>
        <p:spPr>
          <a:xfrm rot="0">
            <a:off x="9377948" y="922947"/>
            <a:ext cx="8910052" cy="843229"/>
          </a:xfrm>
          <a:prstGeom prst="rect">
            <a:avLst/>
          </a:prstGeom>
        </p:spPr>
        <p:txBody>
          <a:bodyPr anchor="t" rtlCol="false" tIns="0" lIns="0" bIns="0" rIns="0">
            <a:spAutoFit/>
          </a:bodyPr>
          <a:lstStyle/>
          <a:p>
            <a:pPr algn="ctr">
              <a:lnSpc>
                <a:spcPts val="6547"/>
              </a:lnSpc>
              <a:spcBef>
                <a:spcPct val="0"/>
              </a:spcBef>
            </a:pPr>
            <a:r>
              <a:rPr lang="en-US" b="true" sz="4677">
                <a:solidFill>
                  <a:srgbClr val="28346D"/>
                </a:solidFill>
                <a:latin typeface="Poppins Bold"/>
                <a:ea typeface="Poppins Bold"/>
                <a:cs typeface="Poppins Bold"/>
                <a:sym typeface="Poppins Bold"/>
              </a:rPr>
              <a:t>FACTIBILIDAD OPERACIONAL</a:t>
            </a:r>
          </a:p>
        </p:txBody>
      </p:sp>
      <p:sp>
        <p:nvSpPr>
          <p:cNvPr name="TextBox 7" id="7"/>
          <p:cNvSpPr txBox="true"/>
          <p:nvPr/>
        </p:nvSpPr>
        <p:spPr>
          <a:xfrm rot="0">
            <a:off x="9944100" y="8680620"/>
            <a:ext cx="7639973" cy="977212"/>
          </a:xfrm>
          <a:prstGeom prst="rect">
            <a:avLst/>
          </a:prstGeom>
        </p:spPr>
        <p:txBody>
          <a:bodyPr anchor="t" rtlCol="false" tIns="0" lIns="0" bIns="0" rIns="0">
            <a:spAutoFit/>
          </a:bodyPr>
          <a:lstStyle/>
          <a:p>
            <a:pPr algn="l" marL="599569" indent="-299785" lvl="1">
              <a:lnSpc>
                <a:spcPts val="3887"/>
              </a:lnSpc>
              <a:buFont typeface="Arial"/>
              <a:buChar char="•"/>
            </a:pPr>
            <a:r>
              <a:rPr lang="en-US" b="true" sz="2777">
                <a:solidFill>
                  <a:srgbClr val="28346D"/>
                </a:solidFill>
                <a:latin typeface="Poppins Bold"/>
                <a:ea typeface="Poppins Bold"/>
                <a:cs typeface="Poppins Bold"/>
                <a:sym typeface="Poppins Bold"/>
              </a:rPr>
              <a:t>CAPACITACIÓN DEL PERSONAL</a:t>
            </a:r>
          </a:p>
          <a:p>
            <a:pPr algn="l" marL="599569" indent="-299785" lvl="1">
              <a:lnSpc>
                <a:spcPts val="3887"/>
              </a:lnSpc>
              <a:buFont typeface="Arial"/>
              <a:buChar char="•"/>
            </a:pPr>
            <a:r>
              <a:rPr lang="en-US" b="true" sz="2777">
                <a:solidFill>
                  <a:srgbClr val="28346D"/>
                </a:solidFill>
                <a:latin typeface="Poppins Bold"/>
                <a:ea typeface="Poppins Bold"/>
                <a:cs typeface="Poppins Bold"/>
                <a:sym typeface="Poppins Bold"/>
              </a:rPr>
              <a:t>REDUCCIÓN DE CARGA OPERATIVA</a:t>
            </a:r>
          </a:p>
        </p:txBody>
      </p:sp>
      <p:graphicFrame>
        <p:nvGraphicFramePr>
          <p:cNvPr name="Table 8" id="8"/>
          <p:cNvGraphicFramePr>
            <a:graphicFrameLocks noGrp="true"/>
          </p:cNvGraphicFramePr>
          <p:nvPr/>
        </p:nvGraphicFramePr>
        <p:xfrm>
          <a:off x="9944100" y="2028308"/>
          <a:ext cx="7315200" cy="5991225"/>
        </p:xfrm>
        <a:graphic>
          <a:graphicData uri="http://schemas.openxmlformats.org/drawingml/2006/table">
            <a:tbl>
              <a:tblPr/>
              <a:tblGrid>
                <a:gridCol w="2438400"/>
                <a:gridCol w="2438400"/>
                <a:gridCol w="2438400"/>
              </a:tblGrid>
              <a:tr h="945983">
                <a:tc>
                  <a:txBody>
                    <a:bodyPr anchor="t" rtlCol="false"/>
                    <a:lstStyle/>
                    <a:p>
                      <a:pPr algn="ctr">
                        <a:lnSpc>
                          <a:spcPts val="2100"/>
                        </a:lnSpc>
                        <a:defRPr/>
                      </a:pPr>
                      <a:r>
                        <a:rPr lang="en-US" sz="1500" b="true">
                          <a:solidFill>
                            <a:srgbClr val="000000"/>
                          </a:solidFill>
                          <a:latin typeface="Poppins Bold"/>
                          <a:ea typeface="Poppins Bold"/>
                          <a:cs typeface="Poppins Bold"/>
                          <a:sym typeface="Poppins Bold"/>
                        </a:rPr>
                        <a:t>Cargo</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100"/>
                        </a:lnSpc>
                        <a:defRPr/>
                      </a:pPr>
                      <a:r>
                        <a:rPr lang="en-US" sz="1500" b="true">
                          <a:solidFill>
                            <a:srgbClr val="000000"/>
                          </a:solidFill>
                          <a:latin typeface="Poppins Bold"/>
                          <a:ea typeface="Poppins Bold"/>
                          <a:cs typeface="Poppins Bold"/>
                          <a:sym typeface="Poppins Bold"/>
                        </a:rPr>
                        <a:t>Tipo</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100"/>
                        </a:lnSpc>
                        <a:defRPr/>
                      </a:pPr>
                      <a:r>
                        <a:rPr lang="en-US" sz="1500" b="true">
                          <a:solidFill>
                            <a:srgbClr val="000000"/>
                          </a:solidFill>
                          <a:latin typeface="Poppins Bold"/>
                          <a:ea typeface="Poppins Bold"/>
                          <a:cs typeface="Poppins Bold"/>
                          <a:sym typeface="Poppins Bold"/>
                        </a:rPr>
                        <a:t>Capacidades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r>
              <a:tr h="2807433">
                <a:tc>
                  <a:txBody>
                    <a:bodyPr anchor="t" rtlCol="false"/>
                    <a:lstStyle/>
                    <a:p>
                      <a:pPr algn="ctr">
                        <a:lnSpc>
                          <a:spcPts val="2100"/>
                        </a:lnSpc>
                        <a:defRPr/>
                      </a:pPr>
                      <a:r>
                        <a:rPr lang="en-US" sz="1500">
                          <a:solidFill>
                            <a:srgbClr val="000000"/>
                          </a:solidFill>
                          <a:latin typeface="Poppins"/>
                          <a:ea typeface="Poppins"/>
                          <a:cs typeface="Poppins"/>
                          <a:sym typeface="Poppins"/>
                        </a:rPr>
                        <a:t>Dueño del negocio</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Gestionar inventario digital, confirmar pedidos, coordinar despachos, actualizar precios/productos, resolver incidencias básicas.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Manejo básico de tecnología y disposición para aprender.</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r h="2237809">
                <a:tc>
                  <a:txBody>
                    <a:bodyPr anchor="t" rtlCol="false"/>
                    <a:lstStyle/>
                    <a:p>
                      <a:pPr algn="ctr">
                        <a:lnSpc>
                          <a:spcPts val="2100"/>
                        </a:lnSpc>
                        <a:defRPr/>
                      </a:pPr>
                      <a:r>
                        <a:rPr lang="en-US" sz="1500">
                          <a:solidFill>
                            <a:srgbClr val="000000"/>
                          </a:solidFill>
                          <a:latin typeface="Poppins"/>
                          <a:ea typeface="Poppins"/>
                          <a:cs typeface="Poppins"/>
                          <a:sym typeface="Poppins"/>
                        </a:rPr>
                        <a:t>Vendedora</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CDD6FF"/>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Preparar pedidos, verificar stock físico vs digital, mantener fotos y descripciones actualizadas.</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100"/>
                        </a:lnSpc>
                        <a:defRPr/>
                      </a:pPr>
                      <a:r>
                        <a:rPr lang="en-US" sz="1500">
                          <a:solidFill>
                            <a:srgbClr val="000000"/>
                          </a:solidFill>
                          <a:latin typeface="Poppins"/>
                          <a:ea typeface="Poppins"/>
                          <a:cs typeface="Poppins"/>
                          <a:sym typeface="Poppins"/>
                        </a:rPr>
                        <a:t>Experiencia operativa, atención al cliente, familiaridad con tecnología.</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bl>
          </a:graphicData>
        </a:graphic>
      </p:graphicFrame>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0115682" y="-653077"/>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sp>
        <p:nvSpPr>
          <p:cNvPr name="Freeform 3" id="3"/>
          <p:cNvSpPr/>
          <p:nvPr/>
        </p:nvSpPr>
        <p:spPr>
          <a:xfrm flipH="false" flipV="false" rot="0">
            <a:off x="-3357235" y="1866286"/>
            <a:ext cx="10429472" cy="9451709"/>
          </a:xfrm>
          <a:custGeom>
            <a:avLst/>
            <a:gdLst/>
            <a:ahLst/>
            <a:cxnLst/>
            <a:rect r="r" b="b" t="t" l="l"/>
            <a:pathLst>
              <a:path h="9451709" w="10429472">
                <a:moveTo>
                  <a:pt x="0" y="0"/>
                </a:moveTo>
                <a:lnTo>
                  <a:pt x="10429472" y="0"/>
                </a:lnTo>
                <a:lnTo>
                  <a:pt x="10429472" y="9451709"/>
                </a:lnTo>
                <a:lnTo>
                  <a:pt x="0" y="9451709"/>
                </a:lnTo>
                <a:lnTo>
                  <a:pt x="0" y="0"/>
                </a:lnTo>
                <a:close/>
              </a:path>
            </a:pathLst>
          </a:custGeom>
          <a:blipFill>
            <a:blip r:embed="rId3"/>
            <a:stretch>
              <a:fillRect l="0" t="0" r="0" b="0"/>
            </a:stretch>
          </a:blipFill>
        </p:spPr>
      </p:sp>
      <p:sp>
        <p:nvSpPr>
          <p:cNvPr name="Freeform 4" id="4"/>
          <p:cNvSpPr/>
          <p:nvPr/>
        </p:nvSpPr>
        <p:spPr>
          <a:xfrm flipH="false" flipV="false" rot="0">
            <a:off x="15666340" y="-26123"/>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graphicFrame>
        <p:nvGraphicFramePr>
          <p:cNvPr name="Object 5" id="5"/>
          <p:cNvGraphicFramePr/>
          <p:nvPr/>
        </p:nvGraphicFramePr>
        <p:xfrm>
          <a:off x="-182371" y="2199244"/>
          <a:ext cx="12084979" cy="3781264"/>
        </p:xfrm>
        <a:graphic>
          <a:graphicData uri="http://schemas.openxmlformats.org/presentationml/2006/ole">
            <p:oleObj imgW="14503400" imgH="61976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graphicFrame>
        <p:nvGraphicFramePr>
          <p:cNvPr name="Object 6" id="6"/>
          <p:cNvGraphicFramePr/>
          <p:nvPr/>
        </p:nvGraphicFramePr>
        <p:xfrm>
          <a:off x="-346584" y="5885461"/>
          <a:ext cx="9682772" cy="3771900"/>
        </p:xfrm>
        <a:graphic>
          <a:graphicData uri="http://schemas.openxmlformats.org/presentationml/2006/ole">
            <p:oleObj imgW="11620500" imgH="57023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graphicFrame>
        <p:nvGraphicFramePr>
          <p:cNvPr name="Object 7" id="7"/>
          <p:cNvGraphicFramePr/>
          <p:nvPr/>
        </p:nvGraphicFramePr>
        <p:xfrm>
          <a:off x="9682772" y="2199244"/>
          <a:ext cx="9682772" cy="2628900"/>
        </p:xfrm>
        <a:graphic>
          <a:graphicData uri="http://schemas.openxmlformats.org/presentationml/2006/ole">
            <p:oleObj imgW="11620500" imgH="4559300" r:id="rId10" progId="Excel.Sheet.12" name="Worksheet">
              <p:embed/>
              <p:pic>
                <p:nvPicPr>
                  <p:cNvPr name="" id="0"/>
                  <p:cNvPicPr/>
                  <p:nvPr/>
                </p:nvPicPr>
                <p:blipFill>
                  <a:blip r:embed="rId9"/>
                  <a:stretch>
                    <a:fillRect/>
                  </a:stretch>
                </p:blipFill>
                <p:spPr>
                  <a:xfrm>
                    <a:off x="1270000" y="1270000"/>
                    <a:ext cx="1270000" cy="1270000"/>
                  </a:xfrm>
                  <a:prstGeom prst="rect"/>
                </p:spPr>
              </p:pic>
            </p:oleObj>
          </a:graphicData>
        </a:graphic>
      </p:graphicFrame>
      <p:graphicFrame>
        <p:nvGraphicFramePr>
          <p:cNvPr name="Object 8" id="8"/>
          <p:cNvGraphicFramePr/>
          <p:nvPr/>
        </p:nvGraphicFramePr>
        <p:xfrm>
          <a:off x="10310387" y="6521236"/>
          <a:ext cx="11313492" cy="3286125"/>
        </p:xfrm>
        <a:graphic>
          <a:graphicData uri="http://schemas.openxmlformats.org/presentationml/2006/ole">
            <p:oleObj imgW="13563600" imgH="5549900" r:id="rId12" progId="Excel.Sheet.12" name="Worksheet">
              <p:embed/>
              <p:pic>
                <p:nvPicPr>
                  <p:cNvPr name="" id="0"/>
                  <p:cNvPicPr/>
                  <p:nvPr/>
                </p:nvPicPr>
                <p:blipFill>
                  <a:blip r:embed="rId11"/>
                  <a:stretch>
                    <a:fillRect/>
                  </a:stretch>
                </p:blipFill>
                <p:spPr>
                  <a:xfrm>
                    <a:off x="1270000" y="1270000"/>
                    <a:ext cx="1270000" cy="1270000"/>
                  </a:xfrm>
                  <a:prstGeom prst="rect"/>
                </p:spPr>
              </p:pic>
            </p:oleObj>
          </a:graphicData>
        </a:graphic>
      </p:graphicFrame>
      <p:sp>
        <p:nvSpPr>
          <p:cNvPr name="TextBox 9" id="9"/>
          <p:cNvSpPr txBox="true"/>
          <p:nvPr/>
        </p:nvSpPr>
        <p:spPr>
          <a:xfrm rot="0">
            <a:off x="5191843" y="377463"/>
            <a:ext cx="7904314" cy="800684"/>
          </a:xfrm>
          <a:prstGeom prst="rect">
            <a:avLst/>
          </a:prstGeom>
        </p:spPr>
        <p:txBody>
          <a:bodyPr anchor="t" rtlCol="false" tIns="0" lIns="0" bIns="0" rIns="0">
            <a:spAutoFit/>
          </a:bodyPr>
          <a:lstStyle/>
          <a:p>
            <a:pPr algn="l">
              <a:lnSpc>
                <a:spcPts val="6267"/>
              </a:lnSpc>
              <a:spcBef>
                <a:spcPct val="0"/>
              </a:spcBef>
            </a:pPr>
            <a:r>
              <a:rPr lang="en-US" b="true" sz="4477">
                <a:solidFill>
                  <a:srgbClr val="28346D"/>
                </a:solidFill>
                <a:latin typeface="Poppins Bold"/>
                <a:ea typeface="Poppins Bold"/>
                <a:cs typeface="Poppins Bold"/>
                <a:sym typeface="Poppins Bold"/>
              </a:rPr>
              <a:t>FACTIBILIDAD ECONOMICA</a:t>
            </a:r>
          </a:p>
        </p:txBody>
      </p:sp>
      <p:sp>
        <p:nvSpPr>
          <p:cNvPr name="TextBox 10" id="10"/>
          <p:cNvSpPr txBox="true"/>
          <p:nvPr/>
        </p:nvSpPr>
        <p:spPr>
          <a:xfrm rot="0">
            <a:off x="654303" y="1598386"/>
            <a:ext cx="3891820" cy="459599"/>
          </a:xfrm>
          <a:prstGeom prst="rect">
            <a:avLst/>
          </a:prstGeom>
        </p:spPr>
        <p:txBody>
          <a:bodyPr anchor="t" rtlCol="false" tIns="0" lIns="0" bIns="0" rIns="0">
            <a:spAutoFit/>
          </a:bodyPr>
          <a:lstStyle/>
          <a:p>
            <a:pPr algn="l">
              <a:lnSpc>
                <a:spcPts val="3542"/>
              </a:lnSpc>
              <a:spcBef>
                <a:spcPct val="0"/>
              </a:spcBef>
            </a:pPr>
            <a:r>
              <a:rPr lang="en-US" b="true" sz="2530">
                <a:solidFill>
                  <a:srgbClr val="28346D"/>
                </a:solidFill>
                <a:latin typeface="Poppins Bold"/>
                <a:ea typeface="Poppins Bold"/>
                <a:cs typeface="Poppins Bold"/>
                <a:sym typeface="Poppins Bold"/>
              </a:rPr>
              <a:t> Costos de Desarrollo </a:t>
            </a:r>
          </a:p>
        </p:txBody>
      </p:sp>
      <p:sp>
        <p:nvSpPr>
          <p:cNvPr name="TextBox 11" id="11"/>
          <p:cNvSpPr txBox="true"/>
          <p:nvPr/>
        </p:nvSpPr>
        <p:spPr>
          <a:xfrm rot="0">
            <a:off x="654303" y="5809261"/>
            <a:ext cx="6197157" cy="459599"/>
          </a:xfrm>
          <a:prstGeom prst="rect">
            <a:avLst/>
          </a:prstGeom>
        </p:spPr>
        <p:txBody>
          <a:bodyPr anchor="t" rtlCol="false" tIns="0" lIns="0" bIns="0" rIns="0">
            <a:spAutoFit/>
          </a:bodyPr>
          <a:lstStyle/>
          <a:p>
            <a:pPr algn="l">
              <a:lnSpc>
                <a:spcPts val="3542"/>
              </a:lnSpc>
              <a:spcBef>
                <a:spcPct val="0"/>
              </a:spcBef>
            </a:pPr>
            <a:r>
              <a:rPr lang="en-US" b="true" sz="2530">
                <a:solidFill>
                  <a:srgbClr val="28346D"/>
                </a:solidFill>
                <a:latin typeface="Poppins Bold"/>
                <a:ea typeface="Poppins Bold"/>
                <a:cs typeface="Poppins Bold"/>
                <a:sym typeface="Poppins Bold"/>
              </a:rPr>
              <a:t> Costos de Mantención Mensual </a:t>
            </a:r>
          </a:p>
        </p:txBody>
      </p:sp>
      <p:sp>
        <p:nvSpPr>
          <p:cNvPr name="TextBox 12" id="12"/>
          <p:cNvSpPr txBox="true"/>
          <p:nvPr/>
        </p:nvSpPr>
        <p:spPr>
          <a:xfrm rot="0">
            <a:off x="10310387" y="1598386"/>
            <a:ext cx="7110459" cy="459599"/>
          </a:xfrm>
          <a:prstGeom prst="rect">
            <a:avLst/>
          </a:prstGeom>
        </p:spPr>
        <p:txBody>
          <a:bodyPr anchor="t" rtlCol="false" tIns="0" lIns="0" bIns="0" rIns="0">
            <a:spAutoFit/>
          </a:bodyPr>
          <a:lstStyle/>
          <a:p>
            <a:pPr algn="l">
              <a:lnSpc>
                <a:spcPts val="3542"/>
              </a:lnSpc>
              <a:spcBef>
                <a:spcPct val="0"/>
              </a:spcBef>
            </a:pPr>
            <a:r>
              <a:rPr lang="en-US" b="true" sz="2530">
                <a:solidFill>
                  <a:srgbClr val="28346D"/>
                </a:solidFill>
                <a:latin typeface="Poppins Bold"/>
                <a:ea typeface="Poppins Bold"/>
                <a:cs typeface="Poppins Bold"/>
                <a:sym typeface="Poppins Bold"/>
              </a:rPr>
              <a:t> Ingresos Arriendo del Software</a:t>
            </a:r>
          </a:p>
        </p:txBody>
      </p:sp>
      <p:sp>
        <p:nvSpPr>
          <p:cNvPr name="TextBox 13" id="13"/>
          <p:cNvSpPr txBox="true"/>
          <p:nvPr/>
        </p:nvSpPr>
        <p:spPr>
          <a:xfrm rot="0">
            <a:off x="10310387" y="5809261"/>
            <a:ext cx="3891820" cy="459599"/>
          </a:xfrm>
          <a:prstGeom prst="rect">
            <a:avLst/>
          </a:prstGeom>
        </p:spPr>
        <p:txBody>
          <a:bodyPr anchor="t" rtlCol="false" tIns="0" lIns="0" bIns="0" rIns="0">
            <a:spAutoFit/>
          </a:bodyPr>
          <a:lstStyle/>
          <a:p>
            <a:pPr algn="l">
              <a:lnSpc>
                <a:spcPts val="3542"/>
              </a:lnSpc>
              <a:spcBef>
                <a:spcPct val="0"/>
              </a:spcBef>
            </a:pPr>
            <a:r>
              <a:rPr lang="en-US" b="true" sz="2530">
                <a:solidFill>
                  <a:srgbClr val="28346D"/>
                </a:solidFill>
                <a:latin typeface="Poppins Bold"/>
                <a:ea typeface="Poppins Bold"/>
                <a:cs typeface="Poppins Bold"/>
                <a:sym typeface="Poppins Bold"/>
              </a:rPr>
              <a:t>Punto de Equilibrio</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0332832" y="-888077"/>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sp>
        <p:nvSpPr>
          <p:cNvPr name="TextBox 3" id="3"/>
          <p:cNvSpPr txBox="true"/>
          <p:nvPr/>
        </p:nvSpPr>
        <p:spPr>
          <a:xfrm rot="0">
            <a:off x="2388855" y="460083"/>
            <a:ext cx="13510289" cy="984834"/>
          </a:xfrm>
          <a:prstGeom prst="rect">
            <a:avLst/>
          </a:prstGeom>
        </p:spPr>
        <p:txBody>
          <a:bodyPr anchor="t" rtlCol="false" tIns="0" lIns="0" bIns="0" rIns="0">
            <a:spAutoFit/>
          </a:bodyPr>
          <a:lstStyle/>
          <a:p>
            <a:pPr algn="ctr">
              <a:lnSpc>
                <a:spcPts val="7667"/>
              </a:lnSpc>
              <a:spcBef>
                <a:spcPct val="0"/>
              </a:spcBef>
            </a:pPr>
            <a:r>
              <a:rPr lang="en-US" b="true" sz="5477">
                <a:solidFill>
                  <a:srgbClr val="28346D"/>
                </a:solidFill>
                <a:latin typeface="Poppins Bold"/>
                <a:ea typeface="Poppins Bold"/>
                <a:cs typeface="Poppins Bold"/>
                <a:sym typeface="Poppins Bold"/>
              </a:rPr>
              <a:t>FACTIBILIDAD LEGAL</a:t>
            </a:r>
          </a:p>
        </p:txBody>
      </p:sp>
      <p:sp>
        <p:nvSpPr>
          <p:cNvPr name="Freeform 4" id="4"/>
          <p:cNvSpPr/>
          <p:nvPr/>
        </p:nvSpPr>
        <p:spPr>
          <a:xfrm flipH="false" flipV="false" rot="0">
            <a:off x="15666340" y="-26123"/>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graphicFrame>
        <p:nvGraphicFramePr>
          <p:cNvPr name="Table 5" id="5"/>
          <p:cNvGraphicFramePr>
            <a:graphicFrameLocks noGrp="true"/>
          </p:cNvGraphicFramePr>
          <p:nvPr/>
        </p:nvGraphicFramePr>
        <p:xfrm>
          <a:off x="3403593" y="1764827"/>
          <a:ext cx="13136186" cy="1677800"/>
        </p:xfrm>
        <a:graphic>
          <a:graphicData uri="http://schemas.openxmlformats.org/drawingml/2006/table">
            <a:tbl>
              <a:tblPr/>
              <a:tblGrid>
                <a:gridCol w="3241242"/>
                <a:gridCol w="9894944"/>
              </a:tblGrid>
              <a:tr h="1677800">
                <a:tc>
                  <a:txBody>
                    <a:bodyPr anchor="t" rtlCol="false"/>
                    <a:lstStyle/>
                    <a:p>
                      <a:pPr algn="ctr" marL="0" indent="0" lvl="0">
                        <a:lnSpc>
                          <a:spcPts val="5243"/>
                        </a:lnSpc>
                        <a:spcBef>
                          <a:spcPct val="0"/>
                        </a:spcBef>
                        <a:defRPr/>
                      </a:pPr>
                      <a:endParaRPr lang="en-US" sz="1100"/>
                    </a:p>
                  </a:txBody>
                  <a:tcPr marL="143658" marR="143658" marT="143658" marB="143658" anchor="ctr">
                    <a:lnL cmpd="sng" algn="ctr" cap="flat" w="32953">
                      <a:solidFill>
                        <a:srgbClr val="000000"/>
                      </a:solidFill>
                      <a:prstDash val="solid"/>
                      <a:round/>
                      <a:headEnd type="none" w="med" len="med"/>
                      <a:tailEnd type="none" w="med" len="med"/>
                    </a:lnL>
                    <a:lnR cmpd="sng" algn="ctr" cap="flat" w="32953">
                      <a:solidFill>
                        <a:srgbClr val="000000"/>
                      </a:solidFill>
                      <a:prstDash val="solid"/>
                      <a:round/>
                      <a:headEnd type="none" w="med" len="med"/>
                      <a:tailEnd type="none" w="med" len="med"/>
                    </a:lnR>
                    <a:lnT cmpd="sng" algn="ctr" cap="flat" w="32953">
                      <a:solidFill>
                        <a:srgbClr val="000000"/>
                      </a:solidFill>
                      <a:prstDash val="solid"/>
                      <a:round/>
                      <a:headEnd type="none" w="med" len="med"/>
                      <a:tailEnd type="none" w="med" len="med"/>
                    </a:lnT>
                    <a:lnB cmpd="sng" algn="ctr" cap="flat" w="32953">
                      <a:solidFill>
                        <a:srgbClr val="000000"/>
                      </a:solidFill>
                      <a:prstDash val="solid"/>
                      <a:round/>
                      <a:headEnd type="none" w="med" len="med"/>
                      <a:tailEnd type="none" w="med" len="med"/>
                    </a:lnB>
                  </a:tcPr>
                </a:tc>
                <a:tc>
                  <a:txBody>
                    <a:bodyPr anchor="t" rtlCol="false"/>
                    <a:lstStyle/>
                    <a:p>
                      <a:pPr algn="ctr" marL="0" indent="0" lvl="0">
                        <a:lnSpc>
                          <a:spcPts val="4022"/>
                        </a:lnSpc>
                        <a:spcBef>
                          <a:spcPct val="0"/>
                        </a:spcBef>
                        <a:defRPr/>
                      </a:pPr>
                      <a:endParaRPr lang="en-US" sz="1100"/>
                    </a:p>
                  </a:txBody>
                  <a:tcPr marL="143658" marR="143658" marT="143658" marB="143658" anchor="ctr">
                    <a:lnL cmpd="sng" algn="ctr" cap="flat" w="32953">
                      <a:solidFill>
                        <a:srgbClr val="000000"/>
                      </a:solidFill>
                      <a:prstDash val="solid"/>
                      <a:round/>
                      <a:headEnd type="none" w="med" len="med"/>
                      <a:tailEnd type="none" w="med" len="med"/>
                    </a:lnL>
                    <a:lnR cmpd="sng" algn="ctr" cap="flat" w="32953">
                      <a:solidFill>
                        <a:srgbClr val="000000"/>
                      </a:solidFill>
                      <a:prstDash val="solid"/>
                      <a:round/>
                      <a:headEnd type="none" w="med" len="med"/>
                      <a:tailEnd type="none" w="med" len="med"/>
                    </a:lnR>
                    <a:lnT cmpd="sng" algn="ctr" cap="flat" w="32953">
                      <a:solidFill>
                        <a:srgbClr val="000000"/>
                      </a:solidFill>
                      <a:prstDash val="solid"/>
                      <a:round/>
                      <a:headEnd type="none" w="med" len="med"/>
                      <a:tailEnd type="none" w="med" len="med"/>
                    </a:lnT>
                    <a:lnB cmpd="sng" algn="ctr" cap="flat" w="32953">
                      <a:solidFill>
                        <a:srgbClr val="000000"/>
                      </a:solidFill>
                      <a:prstDash val="solid"/>
                      <a:round/>
                      <a:headEnd type="none" w="med" len="med"/>
                      <a:tailEnd type="none" w="med" len="med"/>
                    </a:lnB>
                    <a:solidFill>
                      <a:srgbClr val="F5F5EF"/>
                    </a:solidFill>
                  </a:tcPr>
                </a:tc>
              </a:tr>
            </a:tbl>
          </a:graphicData>
        </a:graphic>
      </p:graphicFrame>
      <p:graphicFrame>
        <p:nvGraphicFramePr>
          <p:cNvPr name="Table 6" id="6"/>
          <p:cNvGraphicFramePr>
            <a:graphicFrameLocks noGrp="true"/>
          </p:cNvGraphicFramePr>
          <p:nvPr/>
        </p:nvGraphicFramePr>
        <p:xfrm>
          <a:off x="3403593" y="3406072"/>
          <a:ext cx="12382385" cy="1571265"/>
        </p:xfrm>
        <a:graphic>
          <a:graphicData uri="http://schemas.openxmlformats.org/drawingml/2006/table">
            <a:tbl>
              <a:tblPr/>
              <a:tblGrid>
                <a:gridCol w="3055248"/>
                <a:gridCol w="9327137"/>
              </a:tblGrid>
              <a:tr h="1571265">
                <a:tc>
                  <a:txBody>
                    <a:bodyPr anchor="t" rtlCol="false"/>
                    <a:lstStyle/>
                    <a:p>
                      <a:pPr algn="ctr" marL="0" indent="0" lvl="0">
                        <a:lnSpc>
                          <a:spcPts val="5243"/>
                        </a:lnSpc>
                        <a:spcBef>
                          <a:spcPct val="0"/>
                        </a:spcBef>
                        <a:defRPr/>
                      </a:pPr>
                      <a:endParaRPr lang="en-US" sz="1100"/>
                    </a:p>
                  </a:txBody>
                  <a:tcPr marL="143658" marR="143658" marT="143658" marB="143658" anchor="ctr">
                    <a:lnL cmpd="sng" algn="ctr" cap="flat" w="31062">
                      <a:solidFill>
                        <a:srgbClr val="000000"/>
                      </a:solidFill>
                      <a:prstDash val="solid"/>
                      <a:round/>
                      <a:headEnd type="none" w="med" len="med"/>
                      <a:tailEnd type="none" w="med" len="med"/>
                    </a:lnL>
                    <a:lnR cmpd="sng" algn="ctr" cap="flat" w="31062">
                      <a:solidFill>
                        <a:srgbClr val="000000"/>
                      </a:solidFill>
                      <a:prstDash val="solid"/>
                      <a:round/>
                      <a:headEnd type="none" w="med" len="med"/>
                      <a:tailEnd type="none" w="med" len="med"/>
                    </a:lnR>
                    <a:lnT cmpd="sng" algn="ctr" cap="flat" w="31062">
                      <a:solidFill>
                        <a:srgbClr val="000000"/>
                      </a:solidFill>
                      <a:prstDash val="solid"/>
                      <a:round/>
                      <a:headEnd type="none" w="med" len="med"/>
                      <a:tailEnd type="none" w="med" len="med"/>
                    </a:lnT>
                    <a:lnB cmpd="sng" algn="ctr" cap="flat" w="31062">
                      <a:solidFill>
                        <a:srgbClr val="000000"/>
                      </a:solidFill>
                      <a:prstDash val="solid"/>
                      <a:round/>
                      <a:headEnd type="none" w="med" len="med"/>
                      <a:tailEnd type="none" w="med" len="med"/>
                    </a:lnB>
                  </a:tcPr>
                </a:tc>
                <a:tc>
                  <a:txBody>
                    <a:bodyPr anchor="t" rtlCol="false"/>
                    <a:lstStyle/>
                    <a:p>
                      <a:pPr algn="ctr" marL="0" indent="0" lvl="0">
                        <a:lnSpc>
                          <a:spcPts val="4022"/>
                        </a:lnSpc>
                        <a:spcBef>
                          <a:spcPct val="0"/>
                        </a:spcBef>
                        <a:defRPr/>
                      </a:pPr>
                      <a:endParaRPr lang="en-US" sz="1100"/>
                    </a:p>
                  </a:txBody>
                  <a:tcPr marL="143658" marR="143658" marT="143658" marB="143658" anchor="ctr">
                    <a:lnL cmpd="sng" algn="ctr" cap="flat" w="31062">
                      <a:solidFill>
                        <a:srgbClr val="000000"/>
                      </a:solidFill>
                      <a:prstDash val="solid"/>
                      <a:round/>
                      <a:headEnd type="none" w="med" len="med"/>
                      <a:tailEnd type="none" w="med" len="med"/>
                    </a:lnL>
                    <a:lnR cmpd="sng" algn="ctr" cap="flat" w="31062">
                      <a:solidFill>
                        <a:srgbClr val="000000"/>
                      </a:solidFill>
                      <a:prstDash val="solid"/>
                      <a:round/>
                      <a:headEnd type="none" w="med" len="med"/>
                      <a:tailEnd type="none" w="med" len="med"/>
                    </a:lnR>
                    <a:lnT cmpd="sng" algn="ctr" cap="flat" w="31062">
                      <a:solidFill>
                        <a:srgbClr val="000000"/>
                      </a:solidFill>
                      <a:prstDash val="solid"/>
                      <a:round/>
                      <a:headEnd type="none" w="med" len="med"/>
                      <a:tailEnd type="none" w="med" len="med"/>
                    </a:lnT>
                    <a:lnB cmpd="sng" algn="ctr" cap="flat" w="31062">
                      <a:solidFill>
                        <a:srgbClr val="000000"/>
                      </a:solidFill>
                      <a:prstDash val="solid"/>
                      <a:round/>
                      <a:headEnd type="none" w="med" len="med"/>
                      <a:tailEnd type="none" w="med" len="med"/>
                    </a:lnB>
                    <a:solidFill>
                      <a:srgbClr val="F5F5EF"/>
                    </a:solidFill>
                  </a:tcPr>
                </a:tc>
              </a:tr>
            </a:tbl>
          </a:graphicData>
        </a:graphic>
      </p:graphicFrame>
      <p:sp>
        <p:nvSpPr>
          <p:cNvPr name="Freeform 7" id="7"/>
          <p:cNvSpPr/>
          <p:nvPr/>
        </p:nvSpPr>
        <p:spPr>
          <a:xfrm flipH="false" flipV="false" rot="0">
            <a:off x="3979373" y="1764827"/>
            <a:ext cx="1535694" cy="1396911"/>
          </a:xfrm>
          <a:custGeom>
            <a:avLst/>
            <a:gdLst/>
            <a:ahLst/>
            <a:cxnLst/>
            <a:rect r="r" b="b" t="t" l="l"/>
            <a:pathLst>
              <a:path h="1396911" w="1535694">
                <a:moveTo>
                  <a:pt x="0" y="0"/>
                </a:moveTo>
                <a:lnTo>
                  <a:pt x="1535693" y="0"/>
                </a:lnTo>
                <a:lnTo>
                  <a:pt x="1535693" y="1396910"/>
                </a:lnTo>
                <a:lnTo>
                  <a:pt x="0" y="1396910"/>
                </a:lnTo>
                <a:lnTo>
                  <a:pt x="0" y="0"/>
                </a:lnTo>
                <a:close/>
              </a:path>
            </a:pathLst>
          </a:custGeom>
          <a:blipFill>
            <a:blip r:embed="rId5"/>
            <a:stretch>
              <a:fillRect l="0" t="-5476" r="0" b="-4458"/>
            </a:stretch>
          </a:blipFill>
        </p:spPr>
      </p:sp>
      <p:sp>
        <p:nvSpPr>
          <p:cNvPr name="TextBox 8" id="8"/>
          <p:cNvSpPr txBox="true"/>
          <p:nvPr/>
        </p:nvSpPr>
        <p:spPr>
          <a:xfrm rot="0">
            <a:off x="6428587" y="2170448"/>
            <a:ext cx="8873878" cy="499944"/>
          </a:xfrm>
          <a:prstGeom prst="rect">
            <a:avLst/>
          </a:prstGeom>
        </p:spPr>
        <p:txBody>
          <a:bodyPr anchor="t" rtlCol="false" tIns="0" lIns="0" bIns="0" rIns="0">
            <a:spAutoFit/>
          </a:bodyPr>
          <a:lstStyle/>
          <a:p>
            <a:pPr algn="l">
              <a:lnSpc>
                <a:spcPts val="3845"/>
              </a:lnSpc>
            </a:pPr>
            <a:r>
              <a:rPr lang="en-US" b="true" sz="2746" spc="-54">
                <a:solidFill>
                  <a:srgbClr val="1A2756"/>
                </a:solidFill>
                <a:latin typeface="Poppins Bold"/>
                <a:ea typeface="Poppins Bold"/>
                <a:cs typeface="Poppins Bold"/>
                <a:sym typeface="Poppins Bold"/>
              </a:rPr>
              <a:t>LEY 19.496: PROTECIÓN DEL CONSUMIDOR</a:t>
            </a:r>
          </a:p>
        </p:txBody>
      </p:sp>
      <p:sp>
        <p:nvSpPr>
          <p:cNvPr name="TextBox 9" id="9"/>
          <p:cNvSpPr txBox="true"/>
          <p:nvPr/>
        </p:nvSpPr>
        <p:spPr>
          <a:xfrm rot="0">
            <a:off x="6428587" y="3772342"/>
            <a:ext cx="7800915" cy="499944"/>
          </a:xfrm>
          <a:prstGeom prst="rect">
            <a:avLst/>
          </a:prstGeom>
        </p:spPr>
        <p:txBody>
          <a:bodyPr anchor="t" rtlCol="false" tIns="0" lIns="0" bIns="0" rIns="0">
            <a:spAutoFit/>
          </a:bodyPr>
          <a:lstStyle/>
          <a:p>
            <a:pPr algn="l">
              <a:lnSpc>
                <a:spcPts val="3845"/>
              </a:lnSpc>
            </a:pPr>
            <a:r>
              <a:rPr lang="en-US" b="true" sz="2746" spc="-54">
                <a:solidFill>
                  <a:srgbClr val="1A2756"/>
                </a:solidFill>
                <a:latin typeface="Poppins Bold"/>
                <a:ea typeface="Poppins Bold"/>
                <a:cs typeface="Poppins Bold"/>
                <a:sym typeface="Poppins Bold"/>
              </a:rPr>
              <a:t>LEY 21.719: PROTECIÓN DE DATOS</a:t>
            </a:r>
          </a:p>
        </p:txBody>
      </p:sp>
      <p:sp>
        <p:nvSpPr>
          <p:cNvPr name="Freeform 10" id="10"/>
          <p:cNvSpPr/>
          <p:nvPr/>
        </p:nvSpPr>
        <p:spPr>
          <a:xfrm flipH="false" flipV="false" rot="0">
            <a:off x="4048489" y="3383750"/>
            <a:ext cx="1544271" cy="1498036"/>
          </a:xfrm>
          <a:custGeom>
            <a:avLst/>
            <a:gdLst/>
            <a:ahLst/>
            <a:cxnLst/>
            <a:rect r="r" b="b" t="t" l="l"/>
            <a:pathLst>
              <a:path h="1498036" w="1544271">
                <a:moveTo>
                  <a:pt x="0" y="0"/>
                </a:moveTo>
                <a:lnTo>
                  <a:pt x="1544271" y="0"/>
                </a:lnTo>
                <a:lnTo>
                  <a:pt x="1544271" y="1498036"/>
                </a:lnTo>
                <a:lnTo>
                  <a:pt x="0" y="1498036"/>
                </a:lnTo>
                <a:lnTo>
                  <a:pt x="0" y="0"/>
                </a:lnTo>
                <a:close/>
              </a:path>
            </a:pathLst>
          </a:custGeom>
          <a:blipFill>
            <a:blip r:embed="rId6"/>
            <a:stretch>
              <a:fillRect l="0" t="-584" r="0" b="-2502"/>
            </a:stretch>
          </a:blipFill>
        </p:spPr>
      </p:sp>
      <p:graphicFrame>
        <p:nvGraphicFramePr>
          <p:cNvPr name="Table 11" id="11"/>
          <p:cNvGraphicFramePr>
            <a:graphicFrameLocks noGrp="true"/>
          </p:cNvGraphicFramePr>
          <p:nvPr/>
        </p:nvGraphicFramePr>
        <p:xfrm>
          <a:off x="3403593" y="5030915"/>
          <a:ext cx="12382385" cy="1483008"/>
        </p:xfrm>
        <a:graphic>
          <a:graphicData uri="http://schemas.openxmlformats.org/drawingml/2006/table">
            <a:tbl>
              <a:tblPr/>
              <a:tblGrid>
                <a:gridCol w="3055248"/>
                <a:gridCol w="9327137"/>
              </a:tblGrid>
              <a:tr h="1483008">
                <a:tc>
                  <a:txBody>
                    <a:bodyPr anchor="t" rtlCol="false"/>
                    <a:lstStyle/>
                    <a:p>
                      <a:pPr algn="ctr" marL="0" indent="0" lvl="0">
                        <a:lnSpc>
                          <a:spcPts val="5243"/>
                        </a:lnSpc>
                        <a:spcBef>
                          <a:spcPct val="0"/>
                        </a:spcBef>
                        <a:defRPr/>
                      </a:pPr>
                      <a:endParaRPr lang="en-US" sz="1100"/>
                    </a:p>
                  </a:txBody>
                  <a:tcPr marL="143658" marR="143658" marT="143658" marB="143658" anchor="ctr">
                    <a:lnL cmpd="sng" algn="ctr" cap="flat" w="31062">
                      <a:solidFill>
                        <a:srgbClr val="000000"/>
                      </a:solidFill>
                      <a:prstDash val="solid"/>
                      <a:round/>
                      <a:headEnd type="none" w="med" len="med"/>
                      <a:tailEnd type="none" w="med" len="med"/>
                    </a:lnL>
                    <a:lnR cmpd="sng" algn="ctr" cap="flat" w="31062">
                      <a:solidFill>
                        <a:srgbClr val="000000"/>
                      </a:solidFill>
                      <a:prstDash val="solid"/>
                      <a:round/>
                      <a:headEnd type="none" w="med" len="med"/>
                      <a:tailEnd type="none" w="med" len="med"/>
                    </a:lnR>
                    <a:lnT cmpd="sng" algn="ctr" cap="flat" w="31062">
                      <a:solidFill>
                        <a:srgbClr val="000000"/>
                      </a:solidFill>
                      <a:prstDash val="solid"/>
                      <a:round/>
                      <a:headEnd type="none" w="med" len="med"/>
                      <a:tailEnd type="none" w="med" len="med"/>
                    </a:lnT>
                    <a:lnB cmpd="sng" algn="ctr" cap="flat" w="31062">
                      <a:solidFill>
                        <a:srgbClr val="000000"/>
                      </a:solidFill>
                      <a:prstDash val="solid"/>
                      <a:round/>
                      <a:headEnd type="none" w="med" len="med"/>
                      <a:tailEnd type="none" w="med" len="med"/>
                    </a:lnB>
                  </a:tcPr>
                </a:tc>
                <a:tc>
                  <a:txBody>
                    <a:bodyPr anchor="t" rtlCol="false"/>
                    <a:lstStyle/>
                    <a:p>
                      <a:pPr algn="ctr" marL="0" indent="0" lvl="0">
                        <a:lnSpc>
                          <a:spcPts val="4022"/>
                        </a:lnSpc>
                        <a:spcBef>
                          <a:spcPct val="0"/>
                        </a:spcBef>
                        <a:defRPr/>
                      </a:pPr>
                      <a:endParaRPr lang="en-US" sz="1100"/>
                    </a:p>
                  </a:txBody>
                  <a:tcPr marL="143658" marR="143658" marT="143658" marB="143658" anchor="ctr">
                    <a:lnL cmpd="sng" algn="ctr" cap="flat" w="31062">
                      <a:solidFill>
                        <a:srgbClr val="000000"/>
                      </a:solidFill>
                      <a:prstDash val="solid"/>
                      <a:round/>
                      <a:headEnd type="none" w="med" len="med"/>
                      <a:tailEnd type="none" w="med" len="med"/>
                    </a:lnL>
                    <a:lnR cmpd="sng" algn="ctr" cap="flat" w="31062">
                      <a:solidFill>
                        <a:srgbClr val="000000"/>
                      </a:solidFill>
                      <a:prstDash val="solid"/>
                      <a:round/>
                      <a:headEnd type="none" w="med" len="med"/>
                      <a:tailEnd type="none" w="med" len="med"/>
                    </a:lnR>
                    <a:lnT cmpd="sng" algn="ctr" cap="flat" w="31062">
                      <a:solidFill>
                        <a:srgbClr val="000000"/>
                      </a:solidFill>
                      <a:prstDash val="solid"/>
                      <a:round/>
                      <a:headEnd type="none" w="med" len="med"/>
                      <a:tailEnd type="none" w="med" len="med"/>
                    </a:lnT>
                    <a:lnB cmpd="sng" algn="ctr" cap="flat" w="31062">
                      <a:solidFill>
                        <a:srgbClr val="000000"/>
                      </a:solidFill>
                      <a:prstDash val="solid"/>
                      <a:round/>
                      <a:headEnd type="none" w="med" len="med"/>
                      <a:tailEnd type="none" w="med" len="med"/>
                    </a:lnB>
                    <a:solidFill>
                      <a:srgbClr val="F5F5EF"/>
                    </a:solidFill>
                  </a:tcPr>
                </a:tc>
              </a:tr>
            </a:tbl>
          </a:graphicData>
        </a:graphic>
      </p:graphicFrame>
      <p:sp>
        <p:nvSpPr>
          <p:cNvPr name="TextBox 12" id="12"/>
          <p:cNvSpPr txBox="true"/>
          <p:nvPr/>
        </p:nvSpPr>
        <p:spPr>
          <a:xfrm rot="0">
            <a:off x="6428587" y="5397185"/>
            <a:ext cx="7800915" cy="499944"/>
          </a:xfrm>
          <a:prstGeom prst="rect">
            <a:avLst/>
          </a:prstGeom>
        </p:spPr>
        <p:txBody>
          <a:bodyPr anchor="t" rtlCol="false" tIns="0" lIns="0" bIns="0" rIns="0">
            <a:spAutoFit/>
          </a:bodyPr>
          <a:lstStyle/>
          <a:p>
            <a:pPr algn="l">
              <a:lnSpc>
                <a:spcPts val="3845"/>
              </a:lnSpc>
            </a:pPr>
            <a:r>
              <a:rPr lang="en-US" b="true" sz="2746" spc="-54">
                <a:solidFill>
                  <a:srgbClr val="1A2756"/>
                </a:solidFill>
                <a:latin typeface="Poppins Bold"/>
                <a:ea typeface="Poppins Bold"/>
                <a:cs typeface="Poppins Bold"/>
                <a:sym typeface="Poppins Bold"/>
              </a:rPr>
              <a:t>LEY 21.663: CIBERSEGURIDAD</a:t>
            </a:r>
          </a:p>
        </p:txBody>
      </p:sp>
      <p:sp>
        <p:nvSpPr>
          <p:cNvPr name="Freeform 13" id="13"/>
          <p:cNvSpPr/>
          <p:nvPr/>
        </p:nvSpPr>
        <p:spPr>
          <a:xfrm flipH="false" flipV="false" rot="0">
            <a:off x="3403593" y="5186381"/>
            <a:ext cx="2834063" cy="1060824"/>
          </a:xfrm>
          <a:custGeom>
            <a:avLst/>
            <a:gdLst/>
            <a:ahLst/>
            <a:cxnLst/>
            <a:rect r="r" b="b" t="t" l="l"/>
            <a:pathLst>
              <a:path h="1060824" w="2834063">
                <a:moveTo>
                  <a:pt x="0" y="0"/>
                </a:moveTo>
                <a:lnTo>
                  <a:pt x="2834063" y="0"/>
                </a:lnTo>
                <a:lnTo>
                  <a:pt x="2834063" y="1060824"/>
                </a:lnTo>
                <a:lnTo>
                  <a:pt x="0" y="1060824"/>
                </a:lnTo>
                <a:lnTo>
                  <a:pt x="0" y="0"/>
                </a:lnTo>
                <a:close/>
              </a:path>
            </a:pathLst>
          </a:custGeom>
          <a:blipFill>
            <a:blip r:embed="rId7"/>
            <a:stretch>
              <a:fillRect l="0" t="-9553" r="0" b="-9553"/>
            </a:stretch>
          </a:blipFill>
        </p:spPr>
      </p:sp>
      <p:graphicFrame>
        <p:nvGraphicFramePr>
          <p:cNvPr name="Table 14" id="14"/>
          <p:cNvGraphicFramePr>
            <a:graphicFrameLocks noGrp="true"/>
          </p:cNvGraphicFramePr>
          <p:nvPr/>
        </p:nvGraphicFramePr>
        <p:xfrm>
          <a:off x="3403593" y="6583675"/>
          <a:ext cx="12382385" cy="1483008"/>
        </p:xfrm>
        <a:graphic>
          <a:graphicData uri="http://schemas.openxmlformats.org/drawingml/2006/table">
            <a:tbl>
              <a:tblPr/>
              <a:tblGrid>
                <a:gridCol w="3055248"/>
                <a:gridCol w="9327137"/>
              </a:tblGrid>
              <a:tr h="1483008">
                <a:tc>
                  <a:txBody>
                    <a:bodyPr anchor="t" rtlCol="false"/>
                    <a:lstStyle/>
                    <a:p>
                      <a:pPr algn="ctr" marL="0" indent="0" lvl="0">
                        <a:lnSpc>
                          <a:spcPts val="5243"/>
                        </a:lnSpc>
                        <a:spcBef>
                          <a:spcPct val="0"/>
                        </a:spcBef>
                        <a:defRPr/>
                      </a:pPr>
                      <a:endParaRPr lang="en-US" sz="1100"/>
                    </a:p>
                  </a:txBody>
                  <a:tcPr marL="143658" marR="143658" marT="143658" marB="143658" anchor="ctr">
                    <a:lnL cmpd="sng" algn="ctr" cap="flat" w="31062">
                      <a:solidFill>
                        <a:srgbClr val="000000"/>
                      </a:solidFill>
                      <a:prstDash val="solid"/>
                      <a:round/>
                      <a:headEnd type="none" w="med" len="med"/>
                      <a:tailEnd type="none" w="med" len="med"/>
                    </a:lnL>
                    <a:lnR cmpd="sng" algn="ctr" cap="flat" w="31062">
                      <a:solidFill>
                        <a:srgbClr val="000000"/>
                      </a:solidFill>
                      <a:prstDash val="solid"/>
                      <a:round/>
                      <a:headEnd type="none" w="med" len="med"/>
                      <a:tailEnd type="none" w="med" len="med"/>
                    </a:lnR>
                    <a:lnT cmpd="sng" algn="ctr" cap="flat" w="31062">
                      <a:solidFill>
                        <a:srgbClr val="000000"/>
                      </a:solidFill>
                      <a:prstDash val="solid"/>
                      <a:round/>
                      <a:headEnd type="none" w="med" len="med"/>
                      <a:tailEnd type="none" w="med" len="med"/>
                    </a:lnT>
                    <a:lnB cmpd="sng" algn="ctr" cap="flat" w="31062">
                      <a:solidFill>
                        <a:srgbClr val="000000"/>
                      </a:solidFill>
                      <a:prstDash val="solid"/>
                      <a:round/>
                      <a:headEnd type="none" w="med" len="med"/>
                      <a:tailEnd type="none" w="med" len="med"/>
                    </a:lnB>
                  </a:tcPr>
                </a:tc>
                <a:tc>
                  <a:txBody>
                    <a:bodyPr anchor="t" rtlCol="false"/>
                    <a:lstStyle/>
                    <a:p>
                      <a:pPr algn="ctr" marL="0" indent="0" lvl="0">
                        <a:lnSpc>
                          <a:spcPts val="4022"/>
                        </a:lnSpc>
                        <a:spcBef>
                          <a:spcPct val="0"/>
                        </a:spcBef>
                        <a:defRPr/>
                      </a:pPr>
                      <a:endParaRPr lang="en-US" sz="1100"/>
                    </a:p>
                  </a:txBody>
                  <a:tcPr marL="143658" marR="143658" marT="143658" marB="143658" anchor="ctr">
                    <a:lnL cmpd="sng" algn="ctr" cap="flat" w="31062">
                      <a:solidFill>
                        <a:srgbClr val="000000"/>
                      </a:solidFill>
                      <a:prstDash val="solid"/>
                      <a:round/>
                      <a:headEnd type="none" w="med" len="med"/>
                      <a:tailEnd type="none" w="med" len="med"/>
                    </a:lnL>
                    <a:lnR cmpd="sng" algn="ctr" cap="flat" w="31062">
                      <a:solidFill>
                        <a:srgbClr val="000000"/>
                      </a:solidFill>
                      <a:prstDash val="solid"/>
                      <a:round/>
                      <a:headEnd type="none" w="med" len="med"/>
                      <a:tailEnd type="none" w="med" len="med"/>
                    </a:lnR>
                    <a:lnT cmpd="sng" algn="ctr" cap="flat" w="31062">
                      <a:solidFill>
                        <a:srgbClr val="000000"/>
                      </a:solidFill>
                      <a:prstDash val="solid"/>
                      <a:round/>
                      <a:headEnd type="none" w="med" len="med"/>
                      <a:tailEnd type="none" w="med" len="med"/>
                    </a:lnT>
                    <a:lnB cmpd="sng" algn="ctr" cap="flat" w="31062">
                      <a:solidFill>
                        <a:srgbClr val="000000"/>
                      </a:solidFill>
                      <a:prstDash val="solid"/>
                      <a:round/>
                      <a:headEnd type="none" w="med" len="med"/>
                      <a:tailEnd type="none" w="med" len="med"/>
                    </a:lnB>
                    <a:solidFill>
                      <a:srgbClr val="F5F5EF"/>
                    </a:solidFill>
                  </a:tcPr>
                </a:tc>
              </a:tr>
            </a:tbl>
          </a:graphicData>
        </a:graphic>
      </p:graphicFrame>
      <p:sp>
        <p:nvSpPr>
          <p:cNvPr name="TextBox 15" id="15"/>
          <p:cNvSpPr txBox="true"/>
          <p:nvPr/>
        </p:nvSpPr>
        <p:spPr>
          <a:xfrm rot="0">
            <a:off x="6428587" y="6949945"/>
            <a:ext cx="7800915" cy="499944"/>
          </a:xfrm>
          <a:prstGeom prst="rect">
            <a:avLst/>
          </a:prstGeom>
        </p:spPr>
        <p:txBody>
          <a:bodyPr anchor="t" rtlCol="false" tIns="0" lIns="0" bIns="0" rIns="0">
            <a:spAutoFit/>
          </a:bodyPr>
          <a:lstStyle/>
          <a:p>
            <a:pPr algn="l">
              <a:lnSpc>
                <a:spcPts val="3845"/>
              </a:lnSpc>
            </a:pPr>
            <a:r>
              <a:rPr lang="en-US" b="true" sz="2746" spc="-54">
                <a:solidFill>
                  <a:srgbClr val="1A2756"/>
                </a:solidFill>
                <a:latin typeface="Poppins Bold"/>
                <a:ea typeface="Poppins Bold"/>
                <a:cs typeface="Poppins Bold"/>
                <a:sym typeface="Poppins Bold"/>
              </a:rPr>
              <a:t>LEY 17.336: PROPIEDAD INTELECTUAL</a:t>
            </a:r>
          </a:p>
        </p:txBody>
      </p:sp>
      <p:sp>
        <p:nvSpPr>
          <p:cNvPr name="Freeform 16" id="16"/>
          <p:cNvSpPr/>
          <p:nvPr/>
        </p:nvSpPr>
        <p:spPr>
          <a:xfrm flipH="false" flipV="false" rot="0">
            <a:off x="3992223" y="6573229"/>
            <a:ext cx="1612757" cy="1392647"/>
          </a:xfrm>
          <a:custGeom>
            <a:avLst/>
            <a:gdLst/>
            <a:ahLst/>
            <a:cxnLst/>
            <a:rect r="r" b="b" t="t" l="l"/>
            <a:pathLst>
              <a:path h="1392647" w="1612757">
                <a:moveTo>
                  <a:pt x="0" y="0"/>
                </a:moveTo>
                <a:lnTo>
                  <a:pt x="1612757" y="0"/>
                </a:lnTo>
                <a:lnTo>
                  <a:pt x="1612757" y="1392648"/>
                </a:lnTo>
                <a:lnTo>
                  <a:pt x="0" y="1392648"/>
                </a:lnTo>
                <a:lnTo>
                  <a:pt x="0" y="0"/>
                </a:lnTo>
                <a:close/>
              </a:path>
            </a:pathLst>
          </a:custGeom>
          <a:blipFill>
            <a:blip r:embed="rId8"/>
            <a:stretch>
              <a:fillRect l="0" t="-9553" r="-2851" b="-9553"/>
            </a:stretch>
          </a:blipFill>
        </p:spPr>
      </p:sp>
      <p:graphicFrame>
        <p:nvGraphicFramePr>
          <p:cNvPr name="Table 17" id="17"/>
          <p:cNvGraphicFramePr>
            <a:graphicFrameLocks noGrp="true"/>
          </p:cNvGraphicFramePr>
          <p:nvPr/>
        </p:nvGraphicFramePr>
        <p:xfrm>
          <a:off x="3403593" y="8151380"/>
          <a:ext cx="12382385" cy="1483008"/>
        </p:xfrm>
        <a:graphic>
          <a:graphicData uri="http://schemas.openxmlformats.org/drawingml/2006/table">
            <a:tbl>
              <a:tblPr/>
              <a:tblGrid>
                <a:gridCol w="3055248"/>
                <a:gridCol w="9327137"/>
              </a:tblGrid>
              <a:tr h="1483008">
                <a:tc>
                  <a:txBody>
                    <a:bodyPr anchor="t" rtlCol="false"/>
                    <a:lstStyle/>
                    <a:p>
                      <a:pPr algn="ctr" marL="0" indent="0" lvl="0">
                        <a:lnSpc>
                          <a:spcPts val="5243"/>
                        </a:lnSpc>
                        <a:spcBef>
                          <a:spcPct val="0"/>
                        </a:spcBef>
                        <a:defRPr/>
                      </a:pPr>
                      <a:endParaRPr lang="en-US" sz="1100"/>
                    </a:p>
                  </a:txBody>
                  <a:tcPr marL="143658" marR="143658" marT="143658" marB="143658" anchor="ctr">
                    <a:lnL cmpd="sng" algn="ctr" cap="flat" w="31062">
                      <a:solidFill>
                        <a:srgbClr val="000000"/>
                      </a:solidFill>
                      <a:prstDash val="solid"/>
                      <a:round/>
                      <a:headEnd type="none" w="med" len="med"/>
                      <a:tailEnd type="none" w="med" len="med"/>
                    </a:lnL>
                    <a:lnR cmpd="sng" algn="ctr" cap="flat" w="31062">
                      <a:solidFill>
                        <a:srgbClr val="000000"/>
                      </a:solidFill>
                      <a:prstDash val="solid"/>
                      <a:round/>
                      <a:headEnd type="none" w="med" len="med"/>
                      <a:tailEnd type="none" w="med" len="med"/>
                    </a:lnR>
                    <a:lnT cmpd="sng" algn="ctr" cap="flat" w="31062">
                      <a:solidFill>
                        <a:srgbClr val="000000"/>
                      </a:solidFill>
                      <a:prstDash val="solid"/>
                      <a:round/>
                      <a:headEnd type="none" w="med" len="med"/>
                      <a:tailEnd type="none" w="med" len="med"/>
                    </a:lnT>
                    <a:lnB cmpd="sng" algn="ctr" cap="flat" w="31062">
                      <a:solidFill>
                        <a:srgbClr val="000000"/>
                      </a:solidFill>
                      <a:prstDash val="solid"/>
                      <a:round/>
                      <a:headEnd type="none" w="med" len="med"/>
                      <a:tailEnd type="none" w="med" len="med"/>
                    </a:lnB>
                  </a:tcPr>
                </a:tc>
                <a:tc>
                  <a:txBody>
                    <a:bodyPr anchor="t" rtlCol="false"/>
                    <a:lstStyle/>
                    <a:p>
                      <a:pPr algn="ctr" marL="0" indent="0" lvl="0">
                        <a:lnSpc>
                          <a:spcPts val="4022"/>
                        </a:lnSpc>
                        <a:spcBef>
                          <a:spcPct val="0"/>
                        </a:spcBef>
                        <a:defRPr/>
                      </a:pPr>
                      <a:endParaRPr lang="en-US" sz="1100"/>
                    </a:p>
                  </a:txBody>
                  <a:tcPr marL="143658" marR="143658" marT="143658" marB="143658" anchor="ctr">
                    <a:lnL cmpd="sng" algn="ctr" cap="flat" w="31062">
                      <a:solidFill>
                        <a:srgbClr val="000000"/>
                      </a:solidFill>
                      <a:prstDash val="solid"/>
                      <a:round/>
                      <a:headEnd type="none" w="med" len="med"/>
                      <a:tailEnd type="none" w="med" len="med"/>
                    </a:lnL>
                    <a:lnR cmpd="sng" algn="ctr" cap="flat" w="31062">
                      <a:solidFill>
                        <a:srgbClr val="000000"/>
                      </a:solidFill>
                      <a:prstDash val="solid"/>
                      <a:round/>
                      <a:headEnd type="none" w="med" len="med"/>
                      <a:tailEnd type="none" w="med" len="med"/>
                    </a:lnR>
                    <a:lnT cmpd="sng" algn="ctr" cap="flat" w="31062">
                      <a:solidFill>
                        <a:srgbClr val="000000"/>
                      </a:solidFill>
                      <a:prstDash val="solid"/>
                      <a:round/>
                      <a:headEnd type="none" w="med" len="med"/>
                      <a:tailEnd type="none" w="med" len="med"/>
                    </a:lnT>
                    <a:lnB cmpd="sng" algn="ctr" cap="flat" w="31062">
                      <a:solidFill>
                        <a:srgbClr val="000000"/>
                      </a:solidFill>
                      <a:prstDash val="solid"/>
                      <a:round/>
                      <a:headEnd type="none" w="med" len="med"/>
                      <a:tailEnd type="none" w="med" len="med"/>
                    </a:lnB>
                    <a:solidFill>
                      <a:srgbClr val="F5F5EF"/>
                    </a:solidFill>
                  </a:tcPr>
                </a:tc>
              </a:tr>
            </a:tbl>
          </a:graphicData>
        </a:graphic>
      </p:graphicFrame>
      <p:sp>
        <p:nvSpPr>
          <p:cNvPr name="TextBox 18" id="18"/>
          <p:cNvSpPr txBox="true"/>
          <p:nvPr/>
        </p:nvSpPr>
        <p:spPr>
          <a:xfrm rot="0">
            <a:off x="6428587" y="8443233"/>
            <a:ext cx="7800915" cy="499944"/>
          </a:xfrm>
          <a:prstGeom prst="rect">
            <a:avLst/>
          </a:prstGeom>
        </p:spPr>
        <p:txBody>
          <a:bodyPr anchor="t" rtlCol="false" tIns="0" lIns="0" bIns="0" rIns="0">
            <a:spAutoFit/>
          </a:bodyPr>
          <a:lstStyle/>
          <a:p>
            <a:pPr algn="l">
              <a:lnSpc>
                <a:spcPts val="3845"/>
              </a:lnSpc>
            </a:pPr>
            <a:r>
              <a:rPr lang="en-US" b="true" sz="2746" spc="-54">
                <a:solidFill>
                  <a:srgbClr val="1A2756"/>
                </a:solidFill>
                <a:latin typeface="Poppins Bold"/>
                <a:ea typeface="Poppins Bold"/>
                <a:cs typeface="Poppins Bold"/>
                <a:sym typeface="Poppins Bold"/>
              </a:rPr>
              <a:t>REGLAMENTO DE COMERCIO ELECTRONICO</a:t>
            </a:r>
          </a:p>
        </p:txBody>
      </p:sp>
      <p:sp>
        <p:nvSpPr>
          <p:cNvPr name="Freeform 19" id="19"/>
          <p:cNvSpPr/>
          <p:nvPr/>
        </p:nvSpPr>
        <p:spPr>
          <a:xfrm flipH="false" flipV="false" rot="0">
            <a:off x="3403593" y="8283457"/>
            <a:ext cx="2813074" cy="1101382"/>
          </a:xfrm>
          <a:custGeom>
            <a:avLst/>
            <a:gdLst/>
            <a:ahLst/>
            <a:cxnLst/>
            <a:rect r="r" b="b" t="t" l="l"/>
            <a:pathLst>
              <a:path h="1101382" w="2813074">
                <a:moveTo>
                  <a:pt x="0" y="0"/>
                </a:moveTo>
                <a:lnTo>
                  <a:pt x="2813074" y="0"/>
                </a:lnTo>
                <a:lnTo>
                  <a:pt x="2813074" y="1101382"/>
                </a:lnTo>
                <a:lnTo>
                  <a:pt x="0" y="1101382"/>
                </a:lnTo>
                <a:lnTo>
                  <a:pt x="0" y="0"/>
                </a:lnTo>
                <a:close/>
              </a:path>
            </a:pathLst>
          </a:custGeom>
          <a:blipFill>
            <a:blip r:embed="rId9"/>
            <a:stretch>
              <a:fillRect l="0" t="-564" r="-419" b="-564"/>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8887673" y="1625872"/>
            <a:ext cx="11149203" cy="10528588"/>
          </a:xfrm>
          <a:custGeom>
            <a:avLst/>
            <a:gdLst/>
            <a:ahLst/>
            <a:cxnLst/>
            <a:rect r="r" b="b" t="t" l="l"/>
            <a:pathLst>
              <a:path h="10528588" w="11149203">
                <a:moveTo>
                  <a:pt x="11149203" y="0"/>
                </a:moveTo>
                <a:lnTo>
                  <a:pt x="0" y="0"/>
                </a:lnTo>
                <a:lnTo>
                  <a:pt x="0" y="10528588"/>
                </a:lnTo>
                <a:lnTo>
                  <a:pt x="11149203" y="10528588"/>
                </a:lnTo>
                <a:lnTo>
                  <a:pt x="11149203" y="0"/>
                </a:lnTo>
                <a:close/>
              </a:path>
            </a:pathLst>
          </a:custGeom>
          <a:blipFill>
            <a:blip r:embed="rId3"/>
            <a:stretch>
              <a:fillRect l="0" t="-3549" r="0" b="-3549"/>
            </a:stretch>
          </a:blipFill>
        </p:spPr>
      </p:sp>
      <p:sp>
        <p:nvSpPr>
          <p:cNvPr name="Freeform 3" id="3"/>
          <p:cNvSpPr/>
          <p:nvPr/>
        </p:nvSpPr>
        <p:spPr>
          <a:xfrm flipH="false" flipV="true" rot="0">
            <a:off x="-3102780" y="-671059"/>
            <a:ext cx="11217616" cy="11345250"/>
          </a:xfrm>
          <a:custGeom>
            <a:avLst/>
            <a:gdLst/>
            <a:ahLst/>
            <a:cxnLst/>
            <a:rect r="r" b="b" t="t" l="l"/>
            <a:pathLst>
              <a:path h="11345250" w="11217616">
                <a:moveTo>
                  <a:pt x="0" y="11345250"/>
                </a:moveTo>
                <a:lnTo>
                  <a:pt x="11217615" y="11345250"/>
                </a:lnTo>
                <a:lnTo>
                  <a:pt x="11217615" y="0"/>
                </a:lnTo>
                <a:lnTo>
                  <a:pt x="0" y="0"/>
                </a:lnTo>
                <a:lnTo>
                  <a:pt x="0" y="11345250"/>
                </a:lnTo>
                <a:close/>
              </a:path>
            </a:pathLst>
          </a:custGeom>
          <a:blipFill>
            <a:blip r:embed="rId3"/>
            <a:stretch>
              <a:fillRect l="0" t="0" r="0" b="0"/>
            </a:stretch>
          </a:blipFill>
        </p:spPr>
      </p:sp>
      <p:sp>
        <p:nvSpPr>
          <p:cNvPr name="Freeform 4" id="4"/>
          <p:cNvSpPr/>
          <p:nvPr/>
        </p:nvSpPr>
        <p:spPr>
          <a:xfrm flipH="false" flipV="false" rot="0">
            <a:off x="15666340" y="119533"/>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pic>
        <p:nvPicPr>
          <p:cNvPr name="Picture 5" id="5">
            <a:hlinkClick action="ppaction://media"/>
          </p:cNvPr>
          <p:cNvPicPr>
            <a:picLocks noChangeAspect="true"/>
          </p:cNvPicPr>
          <p:nvPr>
            <a:videoFile r:link="rId6"/>
            <p:extLst>
              <p:ext uri="{DAA4B4D4-6D71-4841-9C94-3DE7FCFB9230}">
                <p14:media xmlns:p14="http://schemas.microsoft.com/office/powerpoint/2010/main" r:embed="rId7"/>
              </p:ext>
            </p:extLst>
          </p:nvPr>
        </p:nvPicPr>
        <p:blipFill>
          <a:blip r:embed="rId5"/>
          <a:srcRect l="0" t="0" r="0" b="0"/>
          <a:stretch>
            <a:fillRect/>
          </a:stretch>
        </p:blipFill>
        <p:spPr>
          <a:xfrm flipH="false" flipV="false" rot="0">
            <a:off x="1828800" y="1028700"/>
            <a:ext cx="14630400" cy="8229600"/>
          </a:xfrm>
          <a:prstGeom prst="rect">
            <a:avLst/>
          </a:prstGeom>
        </p:spPr>
      </p:pic>
      <p:sp>
        <p:nvSpPr>
          <p:cNvPr name="TextBox 6" id="6"/>
          <p:cNvSpPr txBox="true"/>
          <p:nvPr/>
        </p:nvSpPr>
        <p:spPr>
          <a:xfrm rot="0">
            <a:off x="4946573" y="-51917"/>
            <a:ext cx="8394853" cy="1027379"/>
          </a:xfrm>
          <a:prstGeom prst="rect">
            <a:avLst/>
          </a:prstGeom>
        </p:spPr>
        <p:txBody>
          <a:bodyPr anchor="t" rtlCol="false" tIns="0" lIns="0" bIns="0" rIns="0">
            <a:spAutoFit/>
          </a:bodyPr>
          <a:lstStyle/>
          <a:p>
            <a:pPr algn="l">
              <a:lnSpc>
                <a:spcPts val="7947"/>
              </a:lnSpc>
              <a:spcBef>
                <a:spcPct val="0"/>
              </a:spcBef>
            </a:pPr>
            <a:r>
              <a:rPr lang="en-US" b="true" sz="5676">
                <a:solidFill>
                  <a:srgbClr val="28346D"/>
                </a:solidFill>
                <a:latin typeface="Poppins Bold"/>
                <a:ea typeface="Poppins Bold"/>
                <a:cs typeface="Poppins Bold"/>
                <a:sym typeface="Poppins Bold"/>
              </a:rPr>
              <a:t>VIDEO DEMOSTRACION</a:t>
            </a:r>
          </a:p>
        </p:txBody>
      </p:sp>
    </p:spTree>
  </p:cSld>
  <p:clrMapOvr>
    <a:masterClrMapping/>
  </p:clrMapOvr>
  <p:timing>
    <p:tnLst>
      <p:par>
        <p:cTn dur="indefinite" restart="never" nodeType="tmRoot">
          <p:childTnLst>
            <p:video>
              <p:cMediaNode vol="100000">
                <p:cTn fill="hold" display="false">
                  <p:stCondLst>
                    <p:cond delay="indefinite"/>
                  </p:stCondLst>
                </p:cTn>
                <p:tgtEl>
                  <p:spTgt spid="5"/>
                </p:tgtEl>
              </p:cMediaNode>
            </p:video>
          </p:childTnLst>
        </p:cTn>
      </p:par>
    </p:tnLst>
  </p:timing>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9362292" y="-506555"/>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sp>
        <p:nvSpPr>
          <p:cNvPr name="Freeform 3" id="3"/>
          <p:cNvSpPr/>
          <p:nvPr/>
        </p:nvSpPr>
        <p:spPr>
          <a:xfrm flipH="false" flipV="false" rot="0">
            <a:off x="15666340" y="-26123"/>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sp>
        <p:nvSpPr>
          <p:cNvPr name="Freeform 4" id="4"/>
          <p:cNvSpPr/>
          <p:nvPr/>
        </p:nvSpPr>
        <p:spPr>
          <a:xfrm flipH="false" flipV="false" rot="0">
            <a:off x="-1812041" y="1837711"/>
            <a:ext cx="10429472" cy="9451709"/>
          </a:xfrm>
          <a:custGeom>
            <a:avLst/>
            <a:gdLst/>
            <a:ahLst/>
            <a:cxnLst/>
            <a:rect r="r" b="b" t="t" l="l"/>
            <a:pathLst>
              <a:path h="9451709" w="10429472">
                <a:moveTo>
                  <a:pt x="0" y="0"/>
                </a:moveTo>
                <a:lnTo>
                  <a:pt x="10429472" y="0"/>
                </a:lnTo>
                <a:lnTo>
                  <a:pt x="10429472" y="9451709"/>
                </a:lnTo>
                <a:lnTo>
                  <a:pt x="0" y="9451709"/>
                </a:lnTo>
                <a:lnTo>
                  <a:pt x="0" y="0"/>
                </a:lnTo>
                <a:close/>
              </a:path>
            </a:pathLst>
          </a:custGeom>
          <a:blipFill>
            <a:blip r:embed="rId3"/>
            <a:stretch>
              <a:fillRect l="0" t="0" r="0" b="0"/>
            </a:stretch>
          </a:blipFill>
        </p:spPr>
      </p:sp>
      <p:pic>
        <p:nvPicPr>
          <p:cNvPr name="Picture 5" id="5"/>
          <p:cNvPicPr>
            <a:picLocks noChangeAspect="true"/>
          </p:cNvPicPr>
          <p:nvPr/>
        </p:nvPicPr>
        <p:blipFill>
          <a:blip r:embed="rId5"/>
          <a:stretch>
            <a:fillRect/>
          </a:stretch>
        </p:blipFill>
        <p:spPr>
          <a:xfrm rot="0">
            <a:off x="1046336" y="-32260"/>
            <a:ext cx="2143314" cy="2143314"/>
          </a:xfrm>
          <a:prstGeom prst="rect">
            <a:avLst/>
          </a:prstGeom>
        </p:spPr>
      </p:pic>
      <p:sp>
        <p:nvSpPr>
          <p:cNvPr name="Freeform 6" id="6"/>
          <p:cNvSpPr/>
          <p:nvPr/>
        </p:nvSpPr>
        <p:spPr>
          <a:xfrm flipH="false" flipV="false" rot="0">
            <a:off x="1028700" y="2302114"/>
            <a:ext cx="16703446" cy="7267543"/>
          </a:xfrm>
          <a:custGeom>
            <a:avLst/>
            <a:gdLst/>
            <a:ahLst/>
            <a:cxnLst/>
            <a:rect r="r" b="b" t="t" l="l"/>
            <a:pathLst>
              <a:path h="7267543" w="16703446">
                <a:moveTo>
                  <a:pt x="0" y="0"/>
                </a:moveTo>
                <a:lnTo>
                  <a:pt x="16703446" y="0"/>
                </a:lnTo>
                <a:lnTo>
                  <a:pt x="16703446" y="7267543"/>
                </a:lnTo>
                <a:lnTo>
                  <a:pt x="0" y="7267543"/>
                </a:lnTo>
                <a:lnTo>
                  <a:pt x="0" y="0"/>
                </a:lnTo>
                <a:close/>
              </a:path>
            </a:pathLst>
          </a:custGeom>
          <a:blipFill>
            <a:blip r:embed="rId6"/>
            <a:stretch>
              <a:fillRect l="0" t="-2149" r="0" b="0"/>
            </a:stretch>
          </a:blipFill>
        </p:spPr>
      </p:sp>
      <p:sp>
        <p:nvSpPr>
          <p:cNvPr name="TextBox 7" id="7"/>
          <p:cNvSpPr txBox="true"/>
          <p:nvPr/>
        </p:nvSpPr>
        <p:spPr>
          <a:xfrm rot="0">
            <a:off x="1898195" y="551107"/>
            <a:ext cx="12700864" cy="843229"/>
          </a:xfrm>
          <a:prstGeom prst="rect">
            <a:avLst/>
          </a:prstGeom>
        </p:spPr>
        <p:txBody>
          <a:bodyPr anchor="t" rtlCol="false" tIns="0" lIns="0" bIns="0" rIns="0">
            <a:spAutoFit/>
          </a:bodyPr>
          <a:lstStyle/>
          <a:p>
            <a:pPr algn="ctr">
              <a:lnSpc>
                <a:spcPts val="6547"/>
              </a:lnSpc>
              <a:spcBef>
                <a:spcPct val="0"/>
              </a:spcBef>
            </a:pPr>
            <a:r>
              <a:rPr lang="en-US" b="true" sz="4677">
                <a:solidFill>
                  <a:srgbClr val="28346D"/>
                </a:solidFill>
                <a:latin typeface="Poppins Bold"/>
                <a:ea typeface="Poppins Bold"/>
                <a:cs typeface="Poppins Bold"/>
                <a:sym typeface="Poppins Bold"/>
              </a:rPr>
              <a:t>ROADMAP</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9935752" y="-506555"/>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2"/>
            <a:stretch>
              <a:fillRect l="0" t="0" r="0" b="0"/>
            </a:stretch>
          </a:blipFill>
        </p:spPr>
      </p:sp>
      <p:sp>
        <p:nvSpPr>
          <p:cNvPr name="Freeform 3" id="3"/>
          <p:cNvSpPr/>
          <p:nvPr/>
        </p:nvSpPr>
        <p:spPr>
          <a:xfrm flipH="false" flipV="false" rot="0">
            <a:off x="15666340" y="-26123"/>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3"/>
            <a:stretch>
              <a:fillRect l="-2024" t="-67794" r="0" b="-46912"/>
            </a:stretch>
          </a:blipFill>
        </p:spPr>
      </p:sp>
      <p:sp>
        <p:nvSpPr>
          <p:cNvPr name="Freeform 4" id="4"/>
          <p:cNvSpPr/>
          <p:nvPr/>
        </p:nvSpPr>
        <p:spPr>
          <a:xfrm flipH="false" flipV="false" rot="0">
            <a:off x="-1812041" y="1837711"/>
            <a:ext cx="10429472" cy="9451709"/>
          </a:xfrm>
          <a:custGeom>
            <a:avLst/>
            <a:gdLst/>
            <a:ahLst/>
            <a:cxnLst/>
            <a:rect r="r" b="b" t="t" l="l"/>
            <a:pathLst>
              <a:path h="9451709" w="10429472">
                <a:moveTo>
                  <a:pt x="0" y="0"/>
                </a:moveTo>
                <a:lnTo>
                  <a:pt x="10429472" y="0"/>
                </a:lnTo>
                <a:lnTo>
                  <a:pt x="10429472" y="9451709"/>
                </a:lnTo>
                <a:lnTo>
                  <a:pt x="0" y="9451709"/>
                </a:lnTo>
                <a:lnTo>
                  <a:pt x="0" y="0"/>
                </a:lnTo>
                <a:close/>
              </a:path>
            </a:pathLst>
          </a:custGeom>
          <a:blipFill>
            <a:blip r:embed="rId2"/>
            <a:stretch>
              <a:fillRect l="0" t="0" r="0" b="0"/>
            </a:stretch>
          </a:blipFill>
        </p:spPr>
      </p:sp>
      <p:sp>
        <p:nvSpPr>
          <p:cNvPr name="TextBox 5" id="5"/>
          <p:cNvSpPr txBox="true"/>
          <p:nvPr/>
        </p:nvSpPr>
        <p:spPr>
          <a:xfrm rot="0">
            <a:off x="2033126" y="1883132"/>
            <a:ext cx="14221748" cy="843229"/>
          </a:xfrm>
          <a:prstGeom prst="rect">
            <a:avLst/>
          </a:prstGeom>
        </p:spPr>
        <p:txBody>
          <a:bodyPr anchor="t" rtlCol="false" tIns="0" lIns="0" bIns="0" rIns="0">
            <a:spAutoFit/>
          </a:bodyPr>
          <a:lstStyle/>
          <a:p>
            <a:pPr algn="ctr">
              <a:lnSpc>
                <a:spcPts val="6547"/>
              </a:lnSpc>
              <a:spcBef>
                <a:spcPct val="0"/>
              </a:spcBef>
            </a:pPr>
            <a:r>
              <a:rPr lang="en-US" b="true" sz="4677">
                <a:solidFill>
                  <a:srgbClr val="28346D"/>
                </a:solidFill>
                <a:latin typeface="Poppins Bold"/>
                <a:ea typeface="Poppins Bold"/>
                <a:cs typeface="Poppins Bold"/>
                <a:sym typeface="Poppins Bold"/>
              </a:rPr>
              <a:t>EVIDENCIA REPOSITORIO Y DOCUMENTACIÓN</a:t>
            </a:r>
          </a:p>
        </p:txBody>
      </p:sp>
      <p:sp>
        <p:nvSpPr>
          <p:cNvPr name="TextBox 6" id="6"/>
          <p:cNvSpPr txBox="true"/>
          <p:nvPr/>
        </p:nvSpPr>
        <p:spPr>
          <a:xfrm rot="0">
            <a:off x="1028700" y="3283890"/>
            <a:ext cx="8115300" cy="695959"/>
          </a:xfrm>
          <a:prstGeom prst="rect">
            <a:avLst/>
          </a:prstGeom>
        </p:spPr>
        <p:txBody>
          <a:bodyPr anchor="t" rtlCol="false" tIns="0" lIns="0" bIns="0" rIns="0">
            <a:spAutoFit/>
          </a:bodyPr>
          <a:lstStyle/>
          <a:p>
            <a:pPr algn="ctr">
              <a:lnSpc>
                <a:spcPts val="5740"/>
              </a:lnSpc>
            </a:pPr>
            <a:r>
              <a:rPr lang="en-US" sz="4100" b="true">
                <a:solidFill>
                  <a:srgbClr val="28346D"/>
                </a:solidFill>
                <a:latin typeface="Canva Sans Bold"/>
                <a:ea typeface="Canva Sans Bold"/>
                <a:cs typeface="Canva Sans Bold"/>
                <a:sym typeface="Canva Sans Bold"/>
              </a:rPr>
              <a:t>Repositorio GitHub</a:t>
            </a:r>
          </a:p>
        </p:txBody>
      </p:sp>
      <p:sp>
        <p:nvSpPr>
          <p:cNvPr name="TextBox 7" id="7"/>
          <p:cNvSpPr txBox="true"/>
          <p:nvPr/>
        </p:nvSpPr>
        <p:spPr>
          <a:xfrm rot="0">
            <a:off x="9144000" y="3283890"/>
            <a:ext cx="8115300" cy="695959"/>
          </a:xfrm>
          <a:prstGeom prst="rect">
            <a:avLst/>
          </a:prstGeom>
        </p:spPr>
        <p:txBody>
          <a:bodyPr anchor="t" rtlCol="false" tIns="0" lIns="0" bIns="0" rIns="0">
            <a:spAutoFit/>
          </a:bodyPr>
          <a:lstStyle/>
          <a:p>
            <a:pPr algn="ctr">
              <a:lnSpc>
                <a:spcPts val="5740"/>
              </a:lnSpc>
            </a:pPr>
            <a:r>
              <a:rPr lang="en-US" sz="4100" b="true">
                <a:solidFill>
                  <a:srgbClr val="28346D"/>
                </a:solidFill>
                <a:latin typeface="Canva Sans Bold"/>
                <a:ea typeface="Canva Sans Bold"/>
                <a:cs typeface="Canva Sans Bold"/>
                <a:sym typeface="Canva Sans Bold"/>
              </a:rPr>
              <a:t>Documentación</a:t>
            </a:r>
          </a:p>
        </p:txBody>
      </p:sp>
      <p:pic>
        <p:nvPicPr>
          <p:cNvPr name="Picture 8" id="8"/>
          <p:cNvPicPr>
            <a:picLocks noChangeAspect="true"/>
          </p:cNvPicPr>
          <p:nvPr/>
        </p:nvPicPr>
        <p:blipFill>
          <a:blip r:embed="rId4"/>
          <a:stretch>
            <a:fillRect/>
          </a:stretch>
        </p:blipFill>
        <p:spPr>
          <a:xfrm rot="0">
            <a:off x="10732770" y="3585695"/>
            <a:ext cx="4937760" cy="4937760"/>
          </a:xfrm>
          <a:prstGeom prst="rect">
            <a:avLst/>
          </a:prstGeom>
        </p:spPr>
      </p:pic>
      <p:pic>
        <p:nvPicPr>
          <p:cNvPr name="Picture 9" id="9"/>
          <p:cNvPicPr>
            <a:picLocks noChangeAspect="true"/>
          </p:cNvPicPr>
          <p:nvPr/>
        </p:nvPicPr>
        <p:blipFill>
          <a:blip r:embed="rId5"/>
          <a:stretch>
            <a:fillRect/>
          </a:stretch>
        </p:blipFill>
        <p:spPr>
          <a:xfrm rot="0">
            <a:off x="2617470" y="3585695"/>
            <a:ext cx="4937760" cy="4937760"/>
          </a:xfrm>
          <a:prstGeom prst="rect">
            <a:avLst/>
          </a:prstGeom>
        </p:spPr>
      </p:pic>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290320" y="3212998"/>
            <a:ext cx="14304178" cy="1220646"/>
          </a:xfrm>
          <a:prstGeom prst="rect">
            <a:avLst/>
          </a:prstGeom>
        </p:spPr>
        <p:txBody>
          <a:bodyPr anchor="t" rtlCol="false" tIns="0" lIns="0" bIns="0" rIns="0">
            <a:spAutoFit/>
          </a:bodyPr>
          <a:lstStyle/>
          <a:p>
            <a:pPr algn="l">
              <a:lnSpc>
                <a:spcPts val="9488"/>
              </a:lnSpc>
              <a:spcBef>
                <a:spcPct val="0"/>
              </a:spcBef>
            </a:pPr>
            <a:r>
              <a:rPr lang="en-US" b="true" sz="6777">
                <a:solidFill>
                  <a:srgbClr val="28346D"/>
                </a:solidFill>
                <a:latin typeface="Poppins Bold"/>
                <a:ea typeface="Poppins Bold"/>
                <a:cs typeface="Poppins Bold"/>
                <a:sym typeface="Poppins Bold"/>
              </a:rPr>
              <a:t>RETROSPECTIVA DEL PROYECTO</a:t>
            </a:r>
          </a:p>
        </p:txBody>
      </p:sp>
      <p:grpSp>
        <p:nvGrpSpPr>
          <p:cNvPr name="Group 3" id="3"/>
          <p:cNvGrpSpPr/>
          <p:nvPr/>
        </p:nvGrpSpPr>
        <p:grpSpPr>
          <a:xfrm rot="0">
            <a:off x="6180347" y="5143500"/>
            <a:ext cx="5927305" cy="592730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0" r="0" b="0"/>
              </a:stretch>
            </a:blipFill>
            <a:ln cap="sq">
              <a:noFill/>
              <a:prstDash val="solid"/>
              <a:miter/>
            </a:ln>
          </p:spPr>
        </p:sp>
      </p:grpSp>
      <p:sp>
        <p:nvSpPr>
          <p:cNvPr name="Freeform 5" id="5"/>
          <p:cNvSpPr/>
          <p:nvPr/>
        </p:nvSpPr>
        <p:spPr>
          <a:xfrm flipH="false" flipV="false" rot="0">
            <a:off x="-1484305" y="2511484"/>
            <a:ext cx="8673006" cy="8004071"/>
          </a:xfrm>
          <a:custGeom>
            <a:avLst/>
            <a:gdLst/>
            <a:ahLst/>
            <a:cxnLst/>
            <a:rect r="r" b="b" t="t" l="l"/>
            <a:pathLst>
              <a:path h="8004071" w="8673006">
                <a:moveTo>
                  <a:pt x="0" y="0"/>
                </a:moveTo>
                <a:lnTo>
                  <a:pt x="8673006" y="0"/>
                </a:lnTo>
                <a:lnTo>
                  <a:pt x="8673006" y="8004071"/>
                </a:lnTo>
                <a:lnTo>
                  <a:pt x="0" y="8004071"/>
                </a:lnTo>
                <a:lnTo>
                  <a:pt x="0" y="0"/>
                </a:lnTo>
                <a:close/>
              </a:path>
            </a:pathLst>
          </a:custGeom>
          <a:blipFill>
            <a:blip r:embed="rId3"/>
            <a:stretch>
              <a:fillRect l="0" t="-14854" r="-27670" b="-10515"/>
            </a:stretch>
          </a:blipFill>
        </p:spPr>
      </p:sp>
      <p:sp>
        <p:nvSpPr>
          <p:cNvPr name="Freeform 6" id="6"/>
          <p:cNvSpPr/>
          <p:nvPr/>
        </p:nvSpPr>
        <p:spPr>
          <a:xfrm flipH="true" flipV="true" rot="0">
            <a:off x="9781392" y="-506555"/>
            <a:ext cx="9939266" cy="9007460"/>
          </a:xfrm>
          <a:custGeom>
            <a:avLst/>
            <a:gdLst/>
            <a:ahLst/>
            <a:cxnLst/>
            <a:rect r="r" b="b" t="t" l="l"/>
            <a:pathLst>
              <a:path h="9007460" w="9939266">
                <a:moveTo>
                  <a:pt x="9939266" y="9007460"/>
                </a:moveTo>
                <a:lnTo>
                  <a:pt x="0" y="9007460"/>
                </a:lnTo>
                <a:lnTo>
                  <a:pt x="0" y="0"/>
                </a:lnTo>
                <a:lnTo>
                  <a:pt x="9939266" y="0"/>
                </a:lnTo>
                <a:lnTo>
                  <a:pt x="9939266" y="9007460"/>
                </a:lnTo>
                <a:close/>
              </a:path>
            </a:pathLst>
          </a:custGeom>
          <a:blipFill>
            <a:blip r:embed="rId3"/>
            <a:stretch>
              <a:fillRect l="0" t="0" r="0" b="0"/>
            </a:stretch>
          </a:blipFill>
        </p:spPr>
      </p:sp>
      <p:sp>
        <p:nvSpPr>
          <p:cNvPr name="Freeform 7" id="7"/>
          <p:cNvSpPr/>
          <p:nvPr/>
        </p:nvSpPr>
        <p:spPr>
          <a:xfrm flipH="false" flipV="false" rot="0">
            <a:off x="15666340" y="-26123"/>
            <a:ext cx="2621660" cy="1054823"/>
          </a:xfrm>
          <a:custGeom>
            <a:avLst/>
            <a:gdLst/>
            <a:ahLst/>
            <a:cxnLst/>
            <a:rect r="r" b="b" t="t" l="l"/>
            <a:pathLst>
              <a:path h="1054823" w="2621660">
                <a:moveTo>
                  <a:pt x="0" y="0"/>
                </a:moveTo>
                <a:lnTo>
                  <a:pt x="2621660" y="0"/>
                </a:lnTo>
                <a:lnTo>
                  <a:pt x="2621660" y="1054823"/>
                </a:lnTo>
                <a:lnTo>
                  <a:pt x="0" y="1054823"/>
                </a:lnTo>
                <a:lnTo>
                  <a:pt x="0" y="0"/>
                </a:lnTo>
                <a:close/>
              </a:path>
            </a:pathLst>
          </a:custGeom>
          <a:blipFill>
            <a:blip r:embed="rId4"/>
            <a:stretch>
              <a:fillRect l="-2024" t="-67794" r="0" b="-46912"/>
            </a:stretch>
          </a:blipFill>
        </p:spPr>
      </p:sp>
      <p:sp>
        <p:nvSpPr>
          <p:cNvPr name="TextBox 8" id="8"/>
          <p:cNvSpPr txBox="true"/>
          <p:nvPr/>
        </p:nvSpPr>
        <p:spPr>
          <a:xfrm rot="0">
            <a:off x="2290320" y="4300294"/>
            <a:ext cx="14304178" cy="843206"/>
          </a:xfrm>
          <a:prstGeom prst="rect">
            <a:avLst/>
          </a:prstGeom>
        </p:spPr>
        <p:txBody>
          <a:bodyPr anchor="t" rtlCol="false" tIns="0" lIns="0" bIns="0" rIns="0">
            <a:spAutoFit/>
          </a:bodyPr>
          <a:lstStyle/>
          <a:p>
            <a:pPr algn="ctr">
              <a:lnSpc>
                <a:spcPts val="6549"/>
              </a:lnSpc>
              <a:spcBef>
                <a:spcPct val="0"/>
              </a:spcBef>
            </a:pPr>
            <a:r>
              <a:rPr lang="en-US" b="true" sz="4677">
                <a:solidFill>
                  <a:srgbClr val="28346D"/>
                </a:solidFill>
                <a:latin typeface="Poppins Bold"/>
                <a:ea typeface="Poppins Bold"/>
                <a:cs typeface="Poppins Bold"/>
                <a:sym typeface="Poppins Bold"/>
              </a:rPr>
              <a:t>MUCHAS GRACIAS POR SU ATENCIÓN</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rot="0">
            <a:off x="6675120" y="2674620"/>
            <a:ext cx="4937760" cy="4937760"/>
          </a:xfrm>
          <a:prstGeom prst="rect">
            <a:avLst/>
          </a:prstGeom>
        </p:spPr>
      </p:pic>
      <p:sp>
        <p:nvSpPr>
          <p:cNvPr name="TextBox 3" id="3"/>
          <p:cNvSpPr txBox="true"/>
          <p:nvPr/>
        </p:nvSpPr>
        <p:spPr>
          <a:xfrm rot="0">
            <a:off x="2033126" y="1883132"/>
            <a:ext cx="14221748" cy="843229"/>
          </a:xfrm>
          <a:prstGeom prst="rect">
            <a:avLst/>
          </a:prstGeom>
        </p:spPr>
        <p:txBody>
          <a:bodyPr anchor="t" rtlCol="false" tIns="0" lIns="0" bIns="0" rIns="0">
            <a:spAutoFit/>
          </a:bodyPr>
          <a:lstStyle/>
          <a:p>
            <a:pPr algn="ctr">
              <a:lnSpc>
                <a:spcPts val="6547"/>
              </a:lnSpc>
              <a:spcBef>
                <a:spcPct val="0"/>
              </a:spcBef>
            </a:pPr>
            <a:r>
              <a:rPr lang="en-US" b="true" sz="4677">
                <a:solidFill>
                  <a:srgbClr val="28346D"/>
                </a:solidFill>
                <a:latin typeface="Poppins Bold"/>
                <a:ea typeface="Poppins Bold"/>
                <a:cs typeface="Poppins Bold"/>
                <a:sym typeface="Poppins Bold"/>
              </a:rPr>
              <a:t>ENLACE A LA PLATAFORMA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DAG37vPMMtc</dc:identifier>
  <dcterms:modified xsi:type="dcterms:W3CDTF">2011-08-01T06:04:30Z</dcterms:modified>
  <cp:revision>1</cp:revision>
  <dc:title>Presentación Final del proyecto</dc:title>
</cp:coreProperties>
</file>